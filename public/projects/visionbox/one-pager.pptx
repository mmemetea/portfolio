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5" r:id="rId4"/>
    <p:sldMasterId id="2147483677" r:id="rId5"/>
  </p:sldMasterIdLst>
  <p:notesMasterIdLst>
    <p:notesMasterId r:id="rId9"/>
  </p:notesMasterIdLst>
  <p:sldIdLst>
    <p:sldId id="340" r:id="rId6"/>
    <p:sldId id="389" r:id="rId7"/>
    <p:sldId id="407" r:id="rId8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F7D015B0-01CB-4F41-BBF5-99FC81746BF9}">
          <p14:sldIdLst>
            <p14:sldId id="340"/>
            <p14:sldId id="389"/>
            <p14:sldId id="4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34"/>
    <a:srgbClr val="FF6A3D"/>
    <a:srgbClr val="EBEEEF"/>
    <a:srgbClr val="113135"/>
    <a:srgbClr val="CED7D8"/>
    <a:srgbClr val="A8B9BA"/>
    <a:srgbClr val="96AAAC"/>
    <a:srgbClr val="789598"/>
    <a:srgbClr val="5D7B7D"/>
    <a:srgbClr val="BEC9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 autoAdjust="0"/>
    <p:restoredTop sz="91127" autoAdjust="0"/>
  </p:normalViewPr>
  <p:slideViewPr>
    <p:cSldViewPr>
      <p:cViewPr varScale="1">
        <p:scale>
          <a:sx n="112" d="100"/>
          <a:sy n="112" d="100"/>
        </p:scale>
        <p:origin x="1136" y="184"/>
      </p:cViewPr>
      <p:guideLst>
        <p:guide orient="horz" pos="2880"/>
        <p:guide pos="21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B5618-2896-443C-9C7D-E738C5BFB337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88A4B1-8E23-4906-9096-D523B8425B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737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A4B1-8E23-4906-9096-D523B8425B2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451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A4B1-8E23-4906-9096-D523B8425B2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757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63BE-5F08-6C9A-C110-22F8C8002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8A0CE-C7D2-71F0-C400-B6929A520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FA78C-F5C6-DF37-F23D-72CE4534D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3EAB0-466F-DF64-B752-CE1ADD2CCF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88A4B1-8E23-4906-9096-D523B8425B2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341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22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95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696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608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652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1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82EBA9B-3E76-E610-FB45-AB0E18ED634B}"/>
              </a:ext>
            </a:extLst>
          </p:cNvPr>
          <p:cNvSpPr/>
          <p:nvPr/>
        </p:nvSpPr>
        <p:spPr>
          <a:xfrm rot="13382388">
            <a:off x="10564873" y="-695266"/>
            <a:ext cx="665703" cy="2968181"/>
          </a:xfrm>
          <a:prstGeom prst="roundRect">
            <a:avLst>
              <a:gd name="adj" fmla="val 31420"/>
            </a:avLst>
          </a:prstGeom>
          <a:noFill/>
          <a:ln>
            <a:solidFill>
              <a:srgbClr val="FF6A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F005508-BAFF-834A-D1FD-1494387B2829}"/>
              </a:ext>
            </a:extLst>
          </p:cNvPr>
          <p:cNvSpPr/>
          <p:nvPr/>
        </p:nvSpPr>
        <p:spPr>
          <a:xfrm rot="9776638">
            <a:off x="5907054" y="-762661"/>
            <a:ext cx="665703" cy="2968181"/>
          </a:xfrm>
          <a:prstGeom prst="roundRect">
            <a:avLst>
              <a:gd name="adj" fmla="val 31420"/>
            </a:avLst>
          </a:prstGeom>
          <a:noFill/>
          <a:ln>
            <a:solidFill>
              <a:srgbClr val="FF6A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ACC03C-1CE4-E0AF-8B5F-58023E3E2A61}"/>
              </a:ext>
            </a:extLst>
          </p:cNvPr>
          <p:cNvSpPr/>
          <p:nvPr/>
        </p:nvSpPr>
        <p:spPr>
          <a:xfrm rot="6678193">
            <a:off x="10030018" y="2876152"/>
            <a:ext cx="665703" cy="2968181"/>
          </a:xfrm>
          <a:prstGeom prst="roundRect">
            <a:avLst>
              <a:gd name="adj" fmla="val 31420"/>
            </a:avLst>
          </a:prstGeom>
          <a:noFill/>
          <a:ln>
            <a:solidFill>
              <a:srgbClr val="FF6A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7FD75E-48F7-C0C7-F66D-F805723CC3F4}"/>
              </a:ext>
            </a:extLst>
          </p:cNvPr>
          <p:cNvGrpSpPr/>
          <p:nvPr/>
        </p:nvGrpSpPr>
        <p:grpSpPr>
          <a:xfrm>
            <a:off x="431919" y="289172"/>
            <a:ext cx="4233984" cy="668476"/>
            <a:chOff x="764250" y="3032891"/>
            <a:chExt cx="5648390" cy="891786"/>
          </a:xfrm>
          <a:effectLst/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0FA01E3A-E962-A597-10F1-9E8F015A014E}"/>
                </a:ext>
              </a:extLst>
            </p:cNvPr>
            <p:cNvSpPr/>
            <p:nvPr/>
          </p:nvSpPr>
          <p:spPr>
            <a:xfrm>
              <a:off x="764250" y="3032891"/>
              <a:ext cx="5648390" cy="891786"/>
            </a:xfrm>
            <a:prstGeom prst="roundRect">
              <a:avLst>
                <a:gd name="adj" fmla="val 50000"/>
              </a:avLst>
            </a:prstGeom>
            <a:solidFill>
              <a:srgbClr val="002F34"/>
            </a:solidFill>
            <a:ln>
              <a:noFill/>
            </a:ln>
            <a:effectLst>
              <a:outerShdw blurRad="304800" dist="419100" dir="8100000" algn="tr" rotWithShape="0">
                <a:prstClr val="black">
                  <a:alpha val="4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770552D-C7A8-F956-751F-9C61A53DD600}"/>
                </a:ext>
              </a:extLst>
            </p:cNvPr>
            <p:cNvGrpSpPr/>
            <p:nvPr/>
          </p:nvGrpSpPr>
          <p:grpSpPr>
            <a:xfrm>
              <a:off x="1105415" y="3254756"/>
              <a:ext cx="4966060" cy="448057"/>
              <a:chOff x="3733800" y="3204971"/>
              <a:chExt cx="4966060" cy="44805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A8BA37E4-90A6-6103-9A2F-50E9C2A0E3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022"/>
              <a:stretch/>
            </p:blipFill>
            <p:spPr>
              <a:xfrm>
                <a:off x="3733800" y="3204971"/>
                <a:ext cx="4800600" cy="448057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34FD2CB-B1FC-7146-2195-CCFA944A51E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6692" b="54783"/>
              <a:stretch/>
            </p:blipFill>
            <p:spPr>
              <a:xfrm>
                <a:off x="8534400" y="3226403"/>
                <a:ext cx="165460" cy="202597"/>
              </a:xfrm>
              <a:prstGeom prst="rect">
                <a:avLst/>
              </a:prstGeom>
            </p:spPr>
          </p:pic>
        </p:grp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4436577-856C-939C-742D-5524610F15DF}"/>
              </a:ext>
            </a:extLst>
          </p:cNvPr>
          <p:cNvSpPr/>
          <p:nvPr/>
        </p:nvSpPr>
        <p:spPr>
          <a:xfrm rot="4767392">
            <a:off x="4692288" y="5130711"/>
            <a:ext cx="665703" cy="2968181"/>
          </a:xfrm>
          <a:prstGeom prst="roundRect">
            <a:avLst>
              <a:gd name="adj" fmla="val 31420"/>
            </a:avLst>
          </a:prstGeom>
          <a:noFill/>
          <a:ln>
            <a:solidFill>
              <a:srgbClr val="FF6A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4AFE7A-C652-6141-D9F7-4DB09053D93E}"/>
              </a:ext>
            </a:extLst>
          </p:cNvPr>
          <p:cNvSpPr/>
          <p:nvPr/>
        </p:nvSpPr>
        <p:spPr>
          <a:xfrm rot="5939760">
            <a:off x="4221595" y="909926"/>
            <a:ext cx="665703" cy="2968181"/>
          </a:xfrm>
          <a:prstGeom prst="roundRect">
            <a:avLst>
              <a:gd name="adj" fmla="val 31420"/>
            </a:avLst>
          </a:prstGeom>
          <a:noFill/>
          <a:ln>
            <a:solidFill>
              <a:srgbClr val="FF6A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0FFB83-4563-C815-AD61-94026E289423}"/>
              </a:ext>
            </a:extLst>
          </p:cNvPr>
          <p:cNvSpPr txBox="1"/>
          <p:nvPr/>
        </p:nvSpPr>
        <p:spPr>
          <a:xfrm>
            <a:off x="449548" y="4144330"/>
            <a:ext cx="8225890" cy="705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 pitchFamily="2" charset="0"/>
                <a:ea typeface="+mn-ea"/>
                <a:cs typeface="+mn-cs"/>
              </a:rPr>
              <a:t>Projects Portfolio</a:t>
            </a:r>
          </a:p>
        </p:txBody>
      </p:sp>
    </p:spTree>
    <p:extLst>
      <p:ext uri="{BB962C8B-B14F-4D97-AF65-F5344CB8AC3E}">
        <p14:creationId xmlns:p14="http://schemas.microsoft.com/office/powerpoint/2010/main" val="111630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9167E-6 1.85185E-6 L 0.18112 -0.32824 " pathEditMode="relative" rAng="0" ptsTypes="AA">
                                      <p:cBhvr>
                                        <p:cTn id="8" dur="1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49" y="-1641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5000" accel="50000" decel="50000" autoRev="1" fill="remove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4.79167E-6 1.85185E-6 L 0.02487 -0.05 " pathEditMode="relative" rAng="0" ptsTypes="AA">
                                      <p:cBhvr>
                                        <p:cTn id="10" dur="2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7" y="-25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25E-6 -1.48148E-6 L -0.03815 -0.20509 " pathEditMode="relative" rAng="0" ptsTypes="AA">
                                      <p:cBhvr>
                                        <p:cTn id="14" dur="1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4" y="-1025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5000" accel="50000" decel="50000" autoRev="1" fill="remove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1.25E-6 -1.48148E-6 L 0.01419 0.07199 " pathEditMode="relative" rAng="0" ptsTypes="AA">
                                      <p:cBhvr>
                                        <p:cTn id="16" dur="2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3" y="358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7 1.85185E-6 L -0.12956 -0.08472 " pathEditMode="relative" rAng="0" ptsTypes="AA">
                                      <p:cBhvr>
                                        <p:cTn id="20" dur="15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84" y="-423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5000" accel="50000" decel="50000" autoRev="1" fill="remove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2.08333E-7 1.85185E-6 L -0.06016 -0.04097 " pathEditMode="relative" rAng="0" ptsTypes="AA">
                                      <p:cBhvr>
                                        <p:cTn id="22" dur="2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8" y="-206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3" presetClass="path" presetSubtype="0" decel="10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.00092 -0.1037 L -4.375E-6 -7.40741E-7 " pathEditMode="relative" rAng="0" ptsTypes="AA">
                                      <p:cBhvr>
                                        <p:cTn id="2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5185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-3.33333E-6 L -0.15586 0.05764 " pathEditMode="relative" rAng="0" ptsTypes="AA">
                                      <p:cBhvr>
                                        <p:cTn id="31" dur="1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99" y="287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repeatCount="5000" accel="50000" decel="50000" autoRev="1" fill="remove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6.25E-7 -3.33333E-6 L 0.10664 -0.03541 " pathEditMode="relative" rAng="0" ptsTypes="AA">
                                      <p:cBhvr>
                                        <p:cTn id="33" dur="2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26" y="-1782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29167E-6 -4.07407E-6 L -0.12956 -0.08472 " pathEditMode="relative" rAng="0" ptsTypes="AA">
                                      <p:cBhvr>
                                        <p:cTn id="37" dur="15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84" y="-4236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repeatCount="5000" accel="50000" decel="50000" autoRev="1" fill="remove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2.29167E-6 -4.07407E-6 L -0.06016 -0.04097 " pathEditMode="relative" rAng="0" ptsTypes="AA">
                                      <p:cBhvr>
                                        <p:cTn id="39" dur="2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8" y="-206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10" fill="hold"/>
                                        <p:tgtEl>
                                          <p:spTgt spid="8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750" fill="hold"/>
                                        <p:tgtEl>
                                          <p:spTgt spid="8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" grpId="0" animBg="1"/>
      <p:bldP spid="2" grpId="1" animBg="1"/>
      <p:bldP spid="2" grpId="2" animBg="1"/>
      <p:bldP spid="3" grpId="0" animBg="1"/>
      <p:bldP spid="3" grpId="1" animBg="1"/>
      <p:bldP spid="3" grpId="2" animBg="1"/>
      <p:bldP spid="8" grpId="0"/>
      <p:bldP spid="8" grpId="1"/>
      <p:bldP spid="8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12E72BF6-BF0C-5C81-1BE5-FF66E25AE5BE}"/>
              </a:ext>
            </a:extLst>
          </p:cNvPr>
          <p:cNvGrpSpPr>
            <a:grpSpLocks noChangeAspect="1"/>
          </p:cNvGrpSpPr>
          <p:nvPr/>
        </p:nvGrpSpPr>
        <p:grpSpPr>
          <a:xfrm>
            <a:off x="601394" y="395234"/>
            <a:ext cx="11018219" cy="6067532"/>
            <a:chOff x="543947" y="243063"/>
            <a:chExt cx="11018219" cy="6067532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7E480850-99BC-C971-F69E-6FFAECEC8BA4}"/>
                </a:ext>
              </a:extLst>
            </p:cNvPr>
            <p:cNvSpPr/>
            <p:nvPr/>
          </p:nvSpPr>
          <p:spPr>
            <a:xfrm>
              <a:off x="8098345" y="432972"/>
              <a:ext cx="3463821" cy="5846493"/>
            </a:xfrm>
            <a:prstGeom prst="roundRect">
              <a:avLst>
                <a:gd name="adj" fmla="val 4479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/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E449B6D4-CCE7-BD04-D34B-6BB91B08057F}"/>
                </a:ext>
              </a:extLst>
            </p:cNvPr>
            <p:cNvSpPr/>
            <p:nvPr/>
          </p:nvSpPr>
          <p:spPr>
            <a:xfrm>
              <a:off x="4347992" y="444286"/>
              <a:ext cx="3463821" cy="5846493"/>
            </a:xfrm>
            <a:prstGeom prst="roundRect">
              <a:avLst>
                <a:gd name="adj" fmla="val 4479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5D41678F-C17A-0CFA-857B-05A1910F23B7}"/>
                </a:ext>
              </a:extLst>
            </p:cNvPr>
            <p:cNvSpPr/>
            <p:nvPr/>
          </p:nvSpPr>
          <p:spPr>
            <a:xfrm>
              <a:off x="543947" y="464102"/>
              <a:ext cx="3463821" cy="5846493"/>
            </a:xfrm>
            <a:prstGeom prst="roundRect">
              <a:avLst>
                <a:gd name="adj" fmla="val 4479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GB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D2AE92F5-D241-7FE0-359F-9086C1228BBA}"/>
                </a:ext>
              </a:extLst>
            </p:cNvPr>
            <p:cNvSpPr/>
            <p:nvPr/>
          </p:nvSpPr>
          <p:spPr>
            <a:xfrm>
              <a:off x="1449901" y="254376"/>
              <a:ext cx="1435888" cy="478054"/>
            </a:xfrm>
            <a:prstGeom prst="roundRect">
              <a:avLst>
                <a:gd name="adj" fmla="val 2163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2400" b="1" dirty="0">
                  <a:solidFill>
                    <a:srgbClr val="FF6A3D"/>
                  </a:solidFill>
                  <a:latin typeface="Helvetica" pitchFamily="2" charset="0"/>
                </a:rPr>
                <a:t>Context</a:t>
              </a:r>
              <a:endParaRPr lang="en-GB" sz="2400" b="1" dirty="0">
                <a:solidFill>
                  <a:srgbClr val="FF6A3D"/>
                </a:solidFill>
              </a:endParaRP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26200165-65F1-E588-43DE-D64DE1F035E8}"/>
                </a:ext>
              </a:extLst>
            </p:cNvPr>
            <p:cNvSpPr/>
            <p:nvPr/>
          </p:nvSpPr>
          <p:spPr>
            <a:xfrm>
              <a:off x="5129749" y="254376"/>
              <a:ext cx="1808304" cy="478054"/>
            </a:xfrm>
            <a:prstGeom prst="roundRect">
              <a:avLst>
                <a:gd name="adj" fmla="val 2163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2400" b="1" dirty="0">
                  <a:solidFill>
                    <a:srgbClr val="FF6A3D"/>
                  </a:solidFill>
                  <a:latin typeface="Helvetica" pitchFamily="2" charset="0"/>
                </a:rPr>
                <a:t>Approach</a:t>
              </a:r>
              <a:endParaRPr lang="en-GB" sz="2400" dirty="0">
                <a:solidFill>
                  <a:srgbClr val="FF6A3D"/>
                </a:solidFill>
              </a:endParaRPr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861A1E9B-0533-31C2-77D1-EC49D6A50436}"/>
                </a:ext>
              </a:extLst>
            </p:cNvPr>
            <p:cNvSpPr/>
            <p:nvPr/>
          </p:nvSpPr>
          <p:spPr>
            <a:xfrm>
              <a:off x="9217268" y="243063"/>
              <a:ext cx="1435888" cy="478054"/>
            </a:xfrm>
            <a:prstGeom prst="roundRect">
              <a:avLst>
                <a:gd name="adj" fmla="val 2163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GB" sz="2400" b="1" dirty="0">
                  <a:solidFill>
                    <a:srgbClr val="FF6A3D"/>
                  </a:solidFill>
                  <a:latin typeface="Helvetica" pitchFamily="2" charset="0"/>
                </a:rPr>
                <a:t>Results</a:t>
              </a:r>
              <a:endParaRPr lang="en-GB" sz="2400" dirty="0">
                <a:solidFill>
                  <a:srgbClr val="FF6A3D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173D068-CE8F-DA4B-6B67-D2A1BF250E00}"/>
              </a:ext>
            </a:extLst>
          </p:cNvPr>
          <p:cNvSpPr txBox="1"/>
          <p:nvPr/>
        </p:nvSpPr>
        <p:spPr>
          <a:xfrm>
            <a:off x="800986" y="1104738"/>
            <a:ext cx="303562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600" b="1" dirty="0">
                <a:latin typeface="Helvetica" pitchFamily="2" charset="0"/>
              </a:rPr>
              <a:t>Customer</a:t>
            </a:r>
            <a:endParaRPr lang="en-GB" sz="1000" b="1" dirty="0">
              <a:latin typeface="Helvetica" pitchFamily="2" charset="0"/>
            </a:endParaRPr>
          </a:p>
          <a:p>
            <a:pPr>
              <a:spcAft>
                <a:spcPts val="600"/>
              </a:spcAft>
            </a:pPr>
            <a:endParaRPr lang="en-GB" sz="1000" b="1" dirty="0">
              <a:latin typeface="Helvetica" pitchFamily="2" charset="0"/>
            </a:endParaRPr>
          </a:p>
          <a:p>
            <a:pPr>
              <a:spcAft>
                <a:spcPts val="600"/>
              </a:spcAft>
            </a:pPr>
            <a:r>
              <a:rPr lang="en-GB" sz="1000" b="1" dirty="0">
                <a:latin typeface="Helvetica" pitchFamily="2" charset="0"/>
              </a:rPr>
              <a:t>Automated Biometric Solutions for Passengers &amp; Border Management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30% of the Global Market Share in Automated Border Control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2 Billion users processed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15000 Touchpoints deployed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500 Employees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Recently acquired by a major player for 320 M€ </a:t>
            </a:r>
          </a:p>
          <a:p>
            <a:endParaRPr lang="en-GB" sz="1000" dirty="0">
              <a:latin typeface="Helvetica" pitchFamily="2" charset="0"/>
            </a:endParaRPr>
          </a:p>
          <a:p>
            <a:pPr>
              <a:spcAft>
                <a:spcPts val="600"/>
              </a:spcAft>
            </a:pPr>
            <a:r>
              <a:rPr lang="en-GB" sz="1000" b="1" dirty="0">
                <a:latin typeface="Helvetica" pitchFamily="2" charset="0"/>
              </a:rPr>
              <a:t>Challenges</a:t>
            </a:r>
          </a:p>
          <a:p>
            <a:r>
              <a:rPr lang="en-GB" sz="900" dirty="0">
                <a:latin typeface="Helvetica" pitchFamily="2" charset="0"/>
              </a:rPr>
              <a:t>Refactoring of the core middleware of the company after the departure of the main developer while also ensuring the migration from .NET Framework to .NET Core.</a:t>
            </a:r>
            <a:br>
              <a:rPr lang="en-GB" sz="900" dirty="0">
                <a:latin typeface="Helvetica" pitchFamily="2" charset="0"/>
              </a:rPr>
            </a:br>
            <a:endParaRPr lang="en-GB" sz="900" dirty="0">
              <a:latin typeface="Helvetica" pitchFamily="2" charset="0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Mission critical for Vision-Box to meet stakeholders expectation.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Poor API documentation and excessively complex data model.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Poor performance from the current implementation (Face Recognition must typically be made under 30 ms).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Need to be platform-agnostic (Windows &amp; Linux) and use C++ for critical components.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Challenging working environment as the team had to start the new development while still giving support to the existing solution.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Highly-regulated industry regarding privacy and security for Biometrics (ICAO, NIST).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E5928E6-EB3C-5127-6FF7-0C3C3B403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552" y="1052736"/>
            <a:ext cx="1435888" cy="40542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0737F81-3DB6-88C7-A4C1-963456BA1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158" y="3664242"/>
            <a:ext cx="3153442" cy="89343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E454A350-747F-9282-B125-040E9119AB82}"/>
              </a:ext>
            </a:extLst>
          </p:cNvPr>
          <p:cNvSpPr txBox="1"/>
          <p:nvPr/>
        </p:nvSpPr>
        <p:spPr>
          <a:xfrm>
            <a:off x="4525792" y="1118642"/>
            <a:ext cx="324779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 b="1" dirty="0">
                <a:latin typeface="Helvetica" pitchFamily="2" charset="0"/>
              </a:rPr>
              <a:t>Team &amp; Timeframe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1 Solutions Architect / Product Owner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5 C# Developers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30 Months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900" dirty="0">
              <a:latin typeface="Helvetica" pitchFamily="2" charset="0"/>
            </a:endParaRPr>
          </a:p>
          <a:p>
            <a:pPr>
              <a:spcAft>
                <a:spcPts val="600"/>
              </a:spcAft>
            </a:pPr>
            <a:r>
              <a:rPr lang="en-GB" sz="1000" b="1" dirty="0">
                <a:latin typeface="Helvetica" pitchFamily="2" charset="0"/>
              </a:rPr>
              <a:t>Tool Stack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.NET Core 7.0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Visual Studio 2022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OpenTelemetry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GitLab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SonarQube w/ Test Automation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JIRA &amp; Confluence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gRPC &amp; REST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sz="1000" dirty="0">
              <a:latin typeface="Helvetica" pitchFamily="2" charset="0"/>
            </a:endParaRPr>
          </a:p>
          <a:p>
            <a:pPr>
              <a:spcAft>
                <a:spcPts val="600"/>
              </a:spcAft>
            </a:pPr>
            <a:r>
              <a:rPr lang="en-GB" sz="1000" b="1" dirty="0">
                <a:latin typeface="Helvetica" pitchFamily="2" charset="0"/>
              </a:rPr>
              <a:t>Methodology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High-performance Squad in hybrid work regime fully integrated with customer’s workforce following Agile methodology with multiple checkpoints &amp; milestones along the projects.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Gradual hand-over in the last 6 months to gradually replace InnoTech’s developers by in-house developers.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Multi-mode biometrics device implementation starting with the most challenging to validate technical choices.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17B65-5AC3-C71F-EE99-05836E459FF2}"/>
              </a:ext>
            </a:extLst>
          </p:cNvPr>
          <p:cNvSpPr txBox="1"/>
          <p:nvPr/>
        </p:nvSpPr>
        <p:spPr>
          <a:xfrm>
            <a:off x="8263804" y="1118642"/>
            <a:ext cx="3247796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 b="1" dirty="0">
                <a:latin typeface="Helvetica" pitchFamily="2" charset="0"/>
              </a:rPr>
              <a:t>Achievements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Solution in production since October 2023.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Very significant performance improvement (up to 120% in some cases) enabling Vision-Box to achieve top-tier classification in several demanding tenders.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Start-up time reduced by an order of magnitude.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Implementation of an AI-driven fraudulent passage detection using sensor fusion.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Integration of several third-party biometric engines from the TOP5 NIST benchmarks (Paravision, ID R&amp;D).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Code coverage increased from 13% to 46%.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latin typeface="Helvetica" pitchFamily="2" charset="0"/>
              </a:rPr>
              <a:t>Documented and future-proof implementation able to conform to most of the use-cases without performance penalty.</a:t>
            </a:r>
            <a:endParaRPr lang="en-GB" sz="1000" dirty="0"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EA1691-D516-D3AD-C48E-96CBEA8CD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159" y="4747586"/>
            <a:ext cx="3153441" cy="120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2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48273-27F7-98F6-C087-2F0089DEE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F09160-E3A4-CE58-7578-0E2366963512}"/>
              </a:ext>
            </a:extLst>
          </p:cNvPr>
          <p:cNvSpPr txBox="1"/>
          <p:nvPr/>
        </p:nvSpPr>
        <p:spPr>
          <a:xfrm>
            <a:off x="407368" y="404664"/>
            <a:ext cx="1755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FF6A3D"/>
                </a:solidFill>
                <a:latin typeface="Helvetica" pitchFamily="2" charset="0"/>
              </a:rPr>
              <a:t>Structure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EAC50-1912-3E1D-BE77-63206EE42519}"/>
              </a:ext>
            </a:extLst>
          </p:cNvPr>
          <p:cNvSpPr txBox="1">
            <a:spLocks/>
          </p:cNvSpPr>
          <p:nvPr/>
        </p:nvSpPr>
        <p:spPr>
          <a:xfrm>
            <a:off x="551384" y="1124744"/>
            <a:ext cx="11089232" cy="5112568"/>
          </a:xfrm>
          <a:prstGeom prst="rect">
            <a:avLst/>
          </a:prstGeom>
          <a:noFill/>
        </p:spPr>
        <p:txBody>
          <a:bodyPr wrap="square" numCol="2">
            <a:noAutofit/>
          </a:bodyPr>
          <a:lstStyle/>
          <a:p>
            <a:r>
              <a:rPr lang="en-GB" sz="1050" b="1" dirty="0">
                <a:solidFill>
                  <a:srgbClr val="FF6A3D"/>
                </a:solidFill>
              </a:rPr>
              <a:t>1. Header Section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900" dirty="0">
                <a:solidFill>
                  <a:srgbClr val="FF6A3D"/>
                </a:solidFill>
              </a:rPr>
              <a:t>- Project Title: Name the project to grab attention.</a:t>
            </a:r>
          </a:p>
          <a:p>
            <a:r>
              <a:rPr lang="en-GB" sz="900" dirty="0">
                <a:solidFill>
                  <a:srgbClr val="FF6A3D"/>
                </a:solidFill>
              </a:rPr>
              <a:t>- Consultancy Firm Logo: Build brand recognition.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1050" b="1" dirty="0">
                <a:solidFill>
                  <a:srgbClr val="FF6A3D"/>
                </a:solidFill>
              </a:rPr>
              <a:t>2. Introduction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900" dirty="0">
                <a:solidFill>
                  <a:srgbClr val="FF6A3D"/>
                </a:solidFill>
              </a:rPr>
              <a:t>- Briefly introduce the consultancy firm and its expertise.</a:t>
            </a:r>
          </a:p>
          <a:p>
            <a:r>
              <a:rPr lang="en-GB" sz="900" dirty="0">
                <a:solidFill>
                  <a:srgbClr val="FF6A3D"/>
                </a:solidFill>
              </a:rPr>
              <a:t>- State the objective or purpose of the project.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1050" b="1" dirty="0">
                <a:solidFill>
                  <a:srgbClr val="FF6A3D"/>
                </a:solidFill>
              </a:rPr>
              <a:t>3. Client Overview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900" dirty="0">
                <a:solidFill>
                  <a:srgbClr val="FF6A3D"/>
                </a:solidFill>
              </a:rPr>
              <a:t>- Name and describe the client (if permissible).</a:t>
            </a:r>
          </a:p>
          <a:p>
            <a:r>
              <a:rPr lang="en-GB" sz="900" dirty="0">
                <a:solidFill>
                  <a:srgbClr val="FF6A3D"/>
                </a:solidFill>
              </a:rPr>
              <a:t>- Highlight the client's industry or sector.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1050" b="1" dirty="0">
                <a:solidFill>
                  <a:srgbClr val="FF6A3D"/>
                </a:solidFill>
              </a:rPr>
              <a:t>4. Problem Statement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900" dirty="0">
                <a:solidFill>
                  <a:srgbClr val="FF6A3D"/>
                </a:solidFill>
              </a:rPr>
              <a:t>- Clearly articulate the issue or challenge the client faced.</a:t>
            </a:r>
          </a:p>
          <a:p>
            <a:r>
              <a:rPr lang="en-GB" sz="900" dirty="0">
                <a:solidFill>
                  <a:srgbClr val="FF6A3D"/>
                </a:solidFill>
              </a:rPr>
              <a:t>- Emphasize the significance or impact of this challenge.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1050" b="1" dirty="0">
                <a:solidFill>
                  <a:srgbClr val="FF6A3D"/>
                </a:solidFill>
              </a:rPr>
              <a:t>5. Consultancy Approach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900" dirty="0">
                <a:solidFill>
                  <a:srgbClr val="FF6A3D"/>
                </a:solidFill>
              </a:rPr>
              <a:t>- Outline the methodologies, strategies, or tools used.</a:t>
            </a:r>
          </a:p>
          <a:p>
            <a:r>
              <a:rPr lang="en-GB" sz="900" dirty="0">
                <a:solidFill>
                  <a:srgbClr val="FF6A3D"/>
                </a:solidFill>
              </a:rPr>
              <a:t>- Highlight unique approaches or innovative solutions employed.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1050" b="1" dirty="0">
                <a:solidFill>
                  <a:srgbClr val="FF6A3D"/>
                </a:solidFill>
              </a:rPr>
              <a:t>6. Implementation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900" dirty="0">
                <a:solidFill>
                  <a:srgbClr val="FF6A3D"/>
                </a:solidFill>
              </a:rPr>
              <a:t>- Describe how the consultancy strategies were put into action.</a:t>
            </a:r>
          </a:p>
          <a:p>
            <a:r>
              <a:rPr lang="en-GB" sz="900" dirty="0">
                <a:solidFill>
                  <a:srgbClr val="FF6A3D"/>
                </a:solidFill>
              </a:rPr>
              <a:t>- Discuss any obstacles faced and how they were overcome.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1050" b="1" dirty="0">
                <a:solidFill>
                  <a:srgbClr val="FF6A3D"/>
                </a:solidFill>
              </a:rPr>
              <a:t>7. Key Deliverables and Results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900" dirty="0">
                <a:solidFill>
                  <a:srgbClr val="FF6A3D"/>
                </a:solidFill>
              </a:rPr>
              <a:t>- Enumerate the tangible outcomes achieved.</a:t>
            </a:r>
          </a:p>
          <a:p>
            <a:r>
              <a:rPr lang="en-GB" sz="900" dirty="0">
                <a:solidFill>
                  <a:srgbClr val="FF6A3D"/>
                </a:solidFill>
              </a:rPr>
              <a:t>- Quantify improvements (e.g., increased revenue by X%, cost reduction of </a:t>
            </a:r>
            <a:r>
              <a:rPr lang="en-GB" sz="900">
                <a:solidFill>
                  <a:srgbClr val="FF6A3D"/>
                </a:solidFill>
              </a:rPr>
              <a:t>Y%).</a:t>
            </a:r>
            <a:br>
              <a:rPr lang="en-GB" sz="900">
                <a:solidFill>
                  <a:srgbClr val="FF6A3D"/>
                </a:solidFill>
              </a:rPr>
            </a:br>
            <a:br>
              <a:rPr lang="en-GB" sz="900" dirty="0">
                <a:solidFill>
                  <a:srgbClr val="FF6A3D"/>
                </a:solidFill>
              </a:rPr>
            </a:br>
            <a:r>
              <a:rPr lang="en-GB" sz="1050" b="1" dirty="0">
                <a:solidFill>
                  <a:srgbClr val="FF6A3D"/>
                </a:solidFill>
              </a:rPr>
              <a:t>8. Testimonials or Case Study Highlights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900" dirty="0">
                <a:solidFill>
                  <a:srgbClr val="FF6A3D"/>
                </a:solidFill>
              </a:rPr>
              <a:t>- Incorporate quotes or testimonials from satisfied clients.</a:t>
            </a:r>
          </a:p>
          <a:p>
            <a:r>
              <a:rPr lang="en-GB" sz="900" dirty="0">
                <a:solidFill>
                  <a:srgbClr val="FF6A3D"/>
                </a:solidFill>
              </a:rPr>
              <a:t>- Showcase specific success stories or impactful moments.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1050" b="1" dirty="0">
                <a:solidFill>
                  <a:srgbClr val="FF6A3D"/>
                </a:solidFill>
              </a:rPr>
              <a:t>9. Visual Aids</a:t>
            </a:r>
          </a:p>
          <a:p>
            <a:endParaRPr lang="en-GB" sz="1050" b="1" dirty="0">
              <a:solidFill>
                <a:srgbClr val="FF6A3D"/>
              </a:solidFill>
            </a:endParaRPr>
          </a:p>
          <a:p>
            <a:r>
              <a:rPr lang="en-GB" sz="900" dirty="0">
                <a:solidFill>
                  <a:srgbClr val="FF6A3D"/>
                </a:solidFill>
              </a:rPr>
              <a:t>- Include graphs, charts, or infographics showcasing data and progress.</a:t>
            </a:r>
          </a:p>
          <a:p>
            <a:r>
              <a:rPr lang="en-GB" sz="900" dirty="0">
                <a:solidFill>
                  <a:srgbClr val="FF6A3D"/>
                </a:solidFill>
              </a:rPr>
              <a:t>- Use visuals to complement and reinforce key points.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1050" b="1" dirty="0">
                <a:solidFill>
                  <a:srgbClr val="FF6A3D"/>
                </a:solidFill>
              </a:rPr>
              <a:t>10. Conclusion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900" dirty="0">
                <a:solidFill>
                  <a:srgbClr val="FF6A3D"/>
                </a:solidFill>
              </a:rPr>
              <a:t>- Summarize the overall impact on the client's business.</a:t>
            </a:r>
          </a:p>
          <a:p>
            <a:r>
              <a:rPr lang="en-GB" sz="900" dirty="0">
                <a:solidFill>
                  <a:srgbClr val="FF6A3D"/>
                </a:solidFill>
              </a:rPr>
              <a:t>- Reiterate the value brought by the consultancy project.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1050" b="1" dirty="0">
                <a:solidFill>
                  <a:srgbClr val="FF6A3D"/>
                </a:solidFill>
              </a:rPr>
              <a:t>11. Call to Action (CTA)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900" dirty="0">
                <a:solidFill>
                  <a:srgbClr val="FF6A3D"/>
                </a:solidFill>
              </a:rPr>
              <a:t>- Encourage potential clients to take action (e.g., contact for consultation).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1050" b="1" dirty="0">
                <a:solidFill>
                  <a:srgbClr val="FF6A3D"/>
                </a:solidFill>
              </a:rPr>
              <a:t>12. Contact Information</a:t>
            </a:r>
          </a:p>
          <a:p>
            <a:endParaRPr lang="en-GB" sz="900" dirty="0">
              <a:solidFill>
                <a:srgbClr val="FF6A3D"/>
              </a:solidFill>
            </a:endParaRPr>
          </a:p>
          <a:p>
            <a:r>
              <a:rPr lang="en-GB" sz="900" dirty="0">
                <a:solidFill>
                  <a:srgbClr val="FF6A3D"/>
                </a:solidFill>
              </a:rPr>
              <a:t>- Provide clear and accessible contact details for inquiries.</a:t>
            </a:r>
          </a:p>
        </p:txBody>
      </p:sp>
    </p:spTree>
    <p:extLst>
      <p:ext uri="{BB962C8B-B14F-4D97-AF65-F5344CB8AC3E}">
        <p14:creationId xmlns:p14="http://schemas.microsoft.com/office/powerpoint/2010/main" val="1529699293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notech_CorporatePresentation2023" id="{6CA0D342-BDB4-4AB4-8898-F169C9C6D09A}" vid="{2DDAEE9C-22D7-4933-AA81-C659DCDF8CAB}"/>
    </a:ext>
  </a:extLst>
</a:theme>
</file>

<file path=ppt/theme/theme2.xml><?xml version="1.0" encoding="utf-8"?>
<a:theme xmlns:a="http://schemas.openxmlformats.org/drawingml/2006/main" name="4_Office Theme">
  <a:themeElements>
    <a:clrScheme name="InnoTech">
      <a:dk1>
        <a:srgbClr val="000000"/>
      </a:dk1>
      <a:lt1>
        <a:srgbClr val="FFFFFF"/>
      </a:lt1>
      <a:dk2>
        <a:srgbClr val="002F34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notech_CorporatePresentation2023" id="{6CA0D342-BDB4-4AB4-8898-F169C9C6D09A}" vid="{91E258DC-81F5-4C79-9815-23824F76BE9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2EFE45C61CDB44B658024222322F67" ma:contentTypeVersion="14" ma:contentTypeDescription="Create a new document." ma:contentTypeScope="" ma:versionID="390adf163cddb87a4caa8f3425a6d66c">
  <xsd:schema xmlns:xsd="http://www.w3.org/2001/XMLSchema" xmlns:xs="http://www.w3.org/2001/XMLSchema" xmlns:p="http://schemas.microsoft.com/office/2006/metadata/properties" xmlns:ns2="1ef882b0-9d82-4603-9ea7-9a373ea8da55" xmlns:ns3="bb15ffd4-3311-4b13-9560-41e8bcae266b" targetNamespace="http://schemas.microsoft.com/office/2006/metadata/properties" ma:root="true" ma:fieldsID="481ae040113d319490da4cca563a169c" ns2:_="" ns3:_="">
    <xsd:import namespace="1ef882b0-9d82-4603-9ea7-9a373ea8da55"/>
    <xsd:import namespace="bb15ffd4-3311-4b13-9560-41e8bcae26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Tags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f882b0-9d82-4603-9ea7-9a373ea8d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1" nillable="true" ma:displayName="Location" ma:internalName="MediaServiceLocatio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e2ea207-8475-4bdc-ab11-9a59234e5c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15ffd4-3311-4b13-9560-41e8bcae266b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fde4326-ce97-4ff6-8538-0af37a027eeb}" ma:internalName="TaxCatchAll" ma:showField="CatchAllData" ma:web="bb15ffd4-3311-4b13-9560-41e8bcae26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15ffd4-3311-4b13-9560-41e8bcae266b" xsi:nil="true"/>
    <lcf76f155ced4ddcb4097134ff3c332f xmlns="1ef882b0-9d82-4603-9ea7-9a373ea8da5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AAAFE22-FA78-4660-BF62-DCA68BBB78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f882b0-9d82-4603-9ea7-9a373ea8da55"/>
    <ds:schemaRef ds:uri="bb15ffd4-3311-4b13-9560-41e8bcae26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F2880F-5D2B-4AAF-BDF8-573F1DF323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6E26B7-1387-4676-AA23-6BD1A0A535A3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bb15ffd4-3311-4b13-9560-41e8bcae266b"/>
    <ds:schemaRef ds:uri="http://schemas.openxmlformats.org/package/2006/metadata/core-properties"/>
    <ds:schemaRef ds:uri="1ef882b0-9d82-4603-9ea7-9a373ea8da5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3_Office Theme</Template>
  <TotalTime>890</TotalTime>
  <Words>641</Words>
  <Application>Microsoft Macintosh PowerPoint</Application>
  <PresentationFormat>Widescreen</PresentationFormat>
  <Paragraphs>106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Helvetica</vt:lpstr>
      <vt:lpstr>3_Office Theme</vt:lpstr>
      <vt:lpstr>4_Office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Michaël Jean Christian Memeteau</dc:creator>
  <cp:keywords/>
  <dc:description/>
  <cp:lastModifiedBy>Michaël Jean Christian Memeteau</cp:lastModifiedBy>
  <cp:revision>41</cp:revision>
  <dcterms:created xsi:type="dcterms:W3CDTF">2023-07-19T12:33:23Z</dcterms:created>
  <dcterms:modified xsi:type="dcterms:W3CDTF">2024-10-04T11:23:00Z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2022-12-23T10:00:00Z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2022-12-23T10:00:00Z</vt:filetime>
  </property>
  <property fmtid="{D5CDD505-2E9C-101B-9397-08002B2CF9AE}" pid="5" name="MediaServiceImageTags">
    <vt:lpwstr/>
  </property>
  <property fmtid="{D5CDD505-2E9C-101B-9397-08002B2CF9AE}" pid="6" name="ContentTypeId">
    <vt:lpwstr>0x010100F42EFE45C61CDB44B658024222322F67</vt:lpwstr>
  </property>
</Properties>
</file>