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xlsx" ContentType="application/vnd.openxmlformats-officedocument.spreadsheetml.sheet"/>
  <Default Extension="tiff" ContentType="image/tiff"/>
  <Default Extension="rels" ContentType="application/vnd.openxmlformats-package.relationships+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325" r:id="rId3"/>
    <p:sldId id="322" r:id="rId4"/>
    <p:sldId id="329" r:id="rId5"/>
    <p:sldId id="330" r:id="rId6"/>
    <p:sldId id="305" r:id="rId7"/>
    <p:sldId id="278" r:id="rId8"/>
    <p:sldId id="335" r:id="rId9"/>
    <p:sldId id="343" r:id="rId10"/>
    <p:sldId id="283" r:id="rId11"/>
    <p:sldId id="266" r:id="rId12"/>
    <p:sldId id="334" r:id="rId13"/>
    <p:sldId id="326" r:id="rId14"/>
    <p:sldId id="339" r:id="rId15"/>
    <p:sldId id="342" r:id="rId16"/>
    <p:sldId id="323" r:id="rId17"/>
    <p:sldId id="332" r:id="rId18"/>
    <p:sldId id="331" r:id="rId19"/>
    <p:sldId id="333" r:id="rId20"/>
    <p:sldId id="337" r:id="rId21"/>
    <p:sldId id="341" r:id="rId22"/>
    <p:sldId id="274" r:id="rId23"/>
    <p:sldId id="321" r:id="rId24"/>
    <p:sldId id="336" r:id="rId25"/>
    <p:sldId id="328" r:id="rId26"/>
    <p:sldId id="299" r:id="rId27"/>
    <p:sldId id="317" r:id="rId28"/>
    <p:sldId id="315"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MU"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7CABF"/>
    <a:srgbClr val="4B382A"/>
    <a:srgbClr val="3F3E44"/>
    <a:srgbClr val="FF7D01"/>
    <a:srgbClr val="CF1C00"/>
    <a:srgbClr val="54C0E6"/>
    <a:srgbClr val="CCEBE7"/>
    <a:srgbClr val="7A81FF"/>
    <a:srgbClr val="172C4E"/>
    <a:srgbClr val="56C7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5"/>
    <p:restoredTop sz="78246"/>
  </p:normalViewPr>
  <p:slideViewPr>
    <p:cSldViewPr snapToGrid="0" snapToObjects="1">
      <p:cViewPr varScale="1">
        <p:scale>
          <a:sx n="97" d="100"/>
          <a:sy n="97" d="100"/>
        </p:scale>
        <p:origin x="1232" y="192"/>
      </p:cViewPr>
      <p:guideLst/>
    </p:cSldViewPr>
  </p:slideViewPr>
  <p:outlineViewPr>
    <p:cViewPr>
      <p:scale>
        <a:sx n="33" d="100"/>
        <a:sy n="33" d="100"/>
      </p:scale>
      <p:origin x="0" y="-10616"/>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5" d="100"/>
          <a:sy n="95" d="100"/>
        </p:scale>
        <p:origin x="3720" y="192"/>
      </p:cViewPr>
      <p:guideLst/>
    </p:cSldViewPr>
  </p:notes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notesMaster" Target="notesMasters/notesMaster1.xml"/><Relationship Id="rId31" Type="http://schemas.openxmlformats.org/officeDocument/2006/relationships/commentAuthors" Target="commentAuthors.xml"/><Relationship Id="rId32" Type="http://schemas.openxmlformats.org/officeDocument/2006/relationships/presProps" Target="pres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explosion val="2"/>
          <c:dPt>
            <c:idx val="0"/>
            <c:bubble3D val="0"/>
            <c:explosion val="0"/>
            <c:spPr>
              <a:solidFill>
                <a:schemeClr val="accent1"/>
              </a:solidFill>
              <a:ln>
                <a:noFill/>
              </a:ln>
              <a:effectLst>
                <a:outerShdw blurRad="254000" sx="102000" sy="102000" algn="ctr" rotWithShape="0">
                  <a:prstClr val="black">
                    <a:alpha val="20000"/>
                  </a:prstClr>
                </a:outerShdw>
              </a:effectLst>
            </c:spPr>
          </c:dPt>
          <c:dPt>
            <c:idx val="1"/>
            <c:bubble3D val="0"/>
            <c:explosion val="0"/>
            <c:spPr>
              <a:solidFill>
                <a:schemeClr val="accent2"/>
              </a:solidFill>
              <a:ln>
                <a:noFill/>
              </a:ln>
              <a:effectLst>
                <a:outerShdw blurRad="254000" sx="102000" sy="102000" algn="ctr" rotWithShape="0">
                  <a:prstClr val="black">
                    <a:alpha val="20000"/>
                  </a:prstClr>
                </a:outerShdw>
              </a:effectLst>
            </c:spPr>
          </c:dPt>
          <c:dPt>
            <c:idx val="2"/>
            <c:bubble3D val="0"/>
            <c:explosion val="0"/>
            <c:spPr>
              <a:solidFill>
                <a:schemeClr val="accent3"/>
              </a:solidFill>
              <a:ln>
                <a:noFill/>
              </a:ln>
              <a:effectLst>
                <a:outerShdw blurRad="254000" sx="102000" sy="102000" algn="ctr" rotWithShape="0">
                  <a:prstClr val="black">
                    <a:alpha val="20000"/>
                  </a:prstClr>
                </a:outerShdw>
              </a:effectLst>
            </c:spPr>
          </c:dPt>
          <c:dPt>
            <c:idx val="3"/>
            <c:bubble3D val="0"/>
            <c:explosion val="0"/>
            <c:spPr>
              <a:solidFill>
                <a:schemeClr val="accent4"/>
              </a:solidFill>
              <a:ln>
                <a:noFill/>
              </a:ln>
              <a:effectLst>
                <a:outerShdw blurRad="254000" sx="102000" sy="102000" algn="ctr" rotWithShape="0">
                  <a:prstClr val="black">
                    <a:alpha val="20000"/>
                  </a:prstClr>
                </a:outerShdw>
              </a:effectLst>
            </c:spPr>
          </c:dPt>
          <c:dPt>
            <c:idx val="4"/>
            <c:bubble3D val="0"/>
            <c:explosion val="0"/>
            <c:spPr>
              <a:solidFill>
                <a:schemeClr val="accent5"/>
              </a:solidFill>
              <a:ln>
                <a:noFill/>
              </a:ln>
              <a:effectLst>
                <a:outerShdw blurRad="254000" sx="102000" sy="102000" algn="ctr" rotWithShape="0">
                  <a:prstClr val="black">
                    <a:alpha val="20000"/>
                  </a:prstClr>
                </a:outerShdw>
              </a:effectLst>
            </c:spPr>
          </c:dPt>
          <c:dPt>
            <c:idx val="5"/>
            <c:bubble3D val="0"/>
            <c:explosion val="0"/>
            <c:spPr>
              <a:solidFill>
                <a:schemeClr val="accent6"/>
              </a:solidFill>
              <a:ln>
                <a:noFill/>
              </a:ln>
              <a:effectLst>
                <a:outerShdw blurRad="254000" sx="102000" sy="102000" algn="ctr" rotWithShape="0">
                  <a:prstClr val="black">
                    <a:alpha val="20000"/>
                  </a:prstClr>
                </a:outerShdw>
              </a:effectLst>
            </c:spPr>
          </c:dPt>
          <c:dLbls>
            <c:dLbl>
              <c:idx val="0"/>
              <c:layout>
                <c:manualLayout>
                  <c:x val="-0.0883095472440944"/>
                  <c:y val="-0.216184861217672"/>
                </c:manualLayout>
              </c:layout>
              <c:dLblPos val="bestFit"/>
              <c:showLegendKey val="0"/>
              <c:showVal val="0"/>
              <c:showCatName val="0"/>
              <c:showSerName val="0"/>
              <c:showPercent val="1"/>
              <c:showBubbleSize val="0"/>
              <c:extLst>
                <c:ext xmlns:c15="http://schemas.microsoft.com/office/drawing/2012/chart" uri="{CE6537A1-D6FC-4f65-9D91-7224C49458BB}"/>
              </c:extLst>
            </c:dLbl>
            <c:dLbl>
              <c:idx val="1"/>
              <c:layout>
                <c:manualLayout>
                  <c:x val="0.239422244094488"/>
                  <c:y val="0.147118994853755"/>
                </c:manualLayout>
              </c:layout>
              <c:dLblPos val="bestFit"/>
              <c:showLegendKey val="0"/>
              <c:showVal val="0"/>
              <c:showCatName val="0"/>
              <c:showSerName val="0"/>
              <c:showPercent val="1"/>
              <c:showBubbleSize val="0"/>
              <c:extLst>
                <c:ext xmlns:c15="http://schemas.microsoft.com/office/drawing/2012/chart" uri="{CE6537A1-D6FC-4f65-9D91-7224C49458BB}"/>
              </c:extLst>
            </c:dLbl>
            <c:dLbl>
              <c:idx val="2"/>
              <c:layout>
                <c:manualLayout>
                  <c:x val="-0.0120223097112861"/>
                  <c:y val="0.173165225091202"/>
                </c:manualLayout>
              </c:layout>
              <c:dLblPos val="bestFit"/>
              <c:showLegendKey val="0"/>
              <c:showVal val="0"/>
              <c:showCatName val="0"/>
              <c:showSerName val="0"/>
              <c:showPercent val="1"/>
              <c:showBubbleSize val="0"/>
              <c:extLst>
                <c:ext xmlns:c15="http://schemas.microsoft.com/office/drawing/2012/chart" uri="{CE6537A1-D6FC-4f65-9D91-7224C49458BB}"/>
              </c:extLst>
            </c:dLbl>
            <c:numFmt formatCode="0.0%" sourceLinked="0"/>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Raleway" charset="0"/>
                    <a:ea typeface="Raleway" charset="0"/>
                    <a:cs typeface="Raleway" charset="0"/>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Sheet1!$A$2:$A$7</c:f>
              <c:strCache>
                <c:ptCount val="6"/>
                <c:pt idx="0">
                  <c:v>Galp</c:v>
                </c:pt>
                <c:pt idx="1">
                  <c:v>Rubis Gás</c:v>
                </c:pt>
                <c:pt idx="2">
                  <c:v>Repsol</c:v>
                </c:pt>
                <c:pt idx="3">
                  <c:v>OZ</c:v>
                </c:pt>
                <c:pt idx="4">
                  <c:v>Prio</c:v>
                </c:pt>
                <c:pt idx="5">
                  <c:v>Others</c:v>
                </c:pt>
              </c:strCache>
            </c:strRef>
          </c:cat>
          <c:val>
            <c:numRef>
              <c:f>Sheet1!$B$2:$B$7</c:f>
              <c:numCache>
                <c:formatCode>General</c:formatCode>
                <c:ptCount val="6"/>
                <c:pt idx="0">
                  <c:v>40.0</c:v>
                </c:pt>
                <c:pt idx="1">
                  <c:v>29.0</c:v>
                </c:pt>
                <c:pt idx="2">
                  <c:v>13.5</c:v>
                </c:pt>
                <c:pt idx="3">
                  <c:v>7.5</c:v>
                </c:pt>
                <c:pt idx="4">
                  <c:v>2.5</c:v>
                </c:pt>
                <c:pt idx="5">
                  <c:v>7.5</c:v>
                </c:pt>
              </c:numCache>
            </c:numRef>
          </c:val>
        </c:ser>
        <c:dLbls>
          <c:dLblPos val="ctr"/>
          <c:showLegendKey val="0"/>
          <c:showVal val="0"/>
          <c:showCatName val="0"/>
          <c:showSerName val="0"/>
          <c:showPercent val="1"/>
          <c:showBubbleSize val="0"/>
          <c:showLeaderLines val="1"/>
        </c:dLbls>
        <c:firstSliceAng val="89"/>
      </c:pieChart>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2014</c:v>
                </c:pt>
              </c:strCache>
            </c:strRef>
          </c:tx>
          <c:spPr>
            <a:solidFill>
              <a:schemeClr val="accent1"/>
            </a:solidFill>
            <a:ln>
              <a:noFill/>
            </a:ln>
            <a:effectLst/>
          </c:spPr>
          <c:invertIfNegative val="0"/>
          <c:dLbls>
            <c:dLbl>
              <c:idx val="0"/>
              <c:delete val="1"/>
              <c:extLst>
                <c:ext xmlns:c15="http://schemas.microsoft.com/office/drawing/2012/chart" uri="{CE6537A1-D6FC-4f65-9D91-7224C49458BB}"/>
              </c:extLst>
            </c:dLbl>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Raleway" charset="0"/>
                    <a:ea typeface="Raleway" charset="0"/>
                    <a:cs typeface="Raleway"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United States</c:v>
                </c:pt>
                <c:pt idx="1">
                  <c:v>China</c:v>
                </c:pt>
                <c:pt idx="2">
                  <c:v>Saudi Arabia</c:v>
                </c:pt>
                <c:pt idx="3">
                  <c:v>Japan</c:v>
                </c:pt>
                <c:pt idx="4">
                  <c:v>India</c:v>
                </c:pt>
                <c:pt idx="5">
                  <c:v>Russia</c:v>
                </c:pt>
                <c:pt idx="6">
                  <c:v>México</c:v>
                </c:pt>
                <c:pt idx="7">
                  <c:v>South Korea</c:v>
                </c:pt>
                <c:pt idx="8">
                  <c:v>Brazil</c:v>
                </c:pt>
                <c:pt idx="9">
                  <c:v>Thailand</c:v>
                </c:pt>
                <c:pt idx="10">
                  <c:v>Portugal</c:v>
                </c:pt>
              </c:strCache>
            </c:strRef>
          </c:cat>
          <c:val>
            <c:numRef>
              <c:f>Sheet1!$B$2:$B$12</c:f>
              <c:numCache>
                <c:formatCode>General</c:formatCode>
                <c:ptCount val="11"/>
                <c:pt idx="0">
                  <c:v>56847.0</c:v>
                </c:pt>
                <c:pt idx="1">
                  <c:v>30282.0</c:v>
                </c:pt>
                <c:pt idx="2">
                  <c:v>18759.0</c:v>
                </c:pt>
                <c:pt idx="3">
                  <c:v>18289.0</c:v>
                </c:pt>
                <c:pt idx="4">
                  <c:v>18019.0</c:v>
                </c:pt>
                <c:pt idx="5">
                  <c:v>8997.0</c:v>
                </c:pt>
                <c:pt idx="6">
                  <c:v>8349.0</c:v>
                </c:pt>
                <c:pt idx="7">
                  <c:v>7844.0</c:v>
                </c:pt>
                <c:pt idx="8">
                  <c:v>7605.0</c:v>
                </c:pt>
                <c:pt idx="9">
                  <c:v>7515.0</c:v>
                </c:pt>
                <c:pt idx="10">
                  <c:v>557.0</c:v>
                </c:pt>
              </c:numCache>
            </c:numRef>
          </c:val>
        </c:ser>
        <c:dLbls>
          <c:showLegendKey val="0"/>
          <c:showVal val="0"/>
          <c:showCatName val="0"/>
          <c:showSerName val="0"/>
          <c:showPercent val="0"/>
          <c:showBubbleSize val="0"/>
        </c:dLbls>
        <c:gapWidth val="50"/>
        <c:axId val="190562160"/>
        <c:axId val="190564208"/>
      </c:barChart>
      <c:catAx>
        <c:axId val="190562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aleway" charset="0"/>
                <a:ea typeface="Raleway" charset="0"/>
                <a:cs typeface="Raleway" charset="0"/>
              </a:defRPr>
            </a:pPr>
            <a:endParaRPr lang="en-US"/>
          </a:p>
        </c:txPr>
        <c:crossAx val="190564208"/>
        <c:crosses val="autoZero"/>
        <c:auto val="1"/>
        <c:lblAlgn val="ctr"/>
        <c:lblOffset val="100"/>
        <c:noMultiLvlLbl val="0"/>
      </c:catAx>
      <c:valAx>
        <c:axId val="190564208"/>
        <c:scaling>
          <c:orientation val="minMax"/>
        </c:scaling>
        <c:delete val="0"/>
        <c:axPos val="l"/>
        <c:majorGridlines>
          <c:spPr>
            <a:ln w="9525" cap="flat" cmpd="sng" algn="ctr">
              <a:solidFill>
                <a:schemeClr val="tx1">
                  <a:alpha val="50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Raleway" charset="0"/>
                    <a:ea typeface="Raleway" charset="0"/>
                    <a:cs typeface="Raleway" charset="0"/>
                  </a:defRPr>
                </a:pPr>
                <a:r>
                  <a:rPr lang="en-GB" dirty="0" smtClean="0">
                    <a:latin typeface="Raleway" charset="0"/>
                    <a:ea typeface="Raleway" charset="0"/>
                    <a:cs typeface="Raleway" charset="0"/>
                  </a:rPr>
                  <a:t>Consumption 000’s</a:t>
                </a:r>
                <a:r>
                  <a:rPr lang="en-GB" baseline="0" dirty="0" smtClean="0">
                    <a:latin typeface="Raleway" charset="0"/>
                    <a:ea typeface="Raleway" charset="0"/>
                    <a:cs typeface="Raleway" charset="0"/>
                  </a:rPr>
                  <a:t> tons</a:t>
                </a:r>
                <a:endParaRPr lang="en-GB" dirty="0">
                  <a:latin typeface="Raleway" charset="0"/>
                  <a:ea typeface="Raleway" charset="0"/>
                  <a:cs typeface="Raleway" charset="0"/>
                </a:endParaRP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Raleway" charset="0"/>
                  <a:ea typeface="Raleway" charset="0"/>
                  <a:cs typeface="Raleway" charset="0"/>
                </a:defRPr>
              </a:pPr>
              <a:endParaRPr lang="en-US"/>
            </a:p>
          </c:txPr>
        </c:title>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aleway" charset="0"/>
                <a:ea typeface="Raleway" charset="0"/>
                <a:cs typeface="Raleway" charset="0"/>
              </a:defRPr>
            </a:pPr>
            <a:endParaRPr lang="en-US"/>
          </a:p>
        </c:txPr>
        <c:crossAx val="1905621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barChart>
        <c:barDir val="bar"/>
        <c:grouping val="stacked"/>
        <c:varyColors val="0"/>
        <c:ser>
          <c:idx val="0"/>
          <c:order val="0"/>
          <c:tx>
            <c:strRef>
              <c:f>Sheet1!$C$1</c:f>
              <c:strCache>
                <c:ptCount val="1"/>
                <c:pt idx="0">
                  <c:v>2007-2009</c:v>
                </c:pt>
              </c:strCache>
            </c:strRef>
          </c:tx>
          <c:spPr>
            <a:solidFill>
              <a:schemeClr val="accent1"/>
            </a:solidFill>
            <a:ln>
              <a:noFill/>
            </a:ln>
            <a:effectLst/>
          </c:spPr>
          <c:invertIfNegative val="0"/>
          <c:dPt>
            <c:idx val="0"/>
            <c:invertIfNegative val="0"/>
            <c:bubble3D val="0"/>
          </c:dPt>
          <c:dPt>
            <c:idx val="1"/>
            <c:invertIfNegative val="0"/>
            <c:bubble3D val="0"/>
          </c:dPt>
          <c:dPt>
            <c:idx val="2"/>
            <c:invertIfNegative val="0"/>
            <c:bubble3D val="0"/>
          </c:dPt>
          <c:dPt>
            <c:idx val="3"/>
            <c:invertIfNegative val="0"/>
            <c:bubble3D val="0"/>
          </c:dPt>
          <c:dPt>
            <c:idx val="4"/>
            <c:invertIfNegative val="0"/>
            <c:bubble3D val="0"/>
          </c:dPt>
          <c:cat>
            <c:strRef>
              <c:f>Sheet1!$B$2:$B$5</c:f>
              <c:strCache>
                <c:ptCount val="4"/>
                <c:pt idx="0">
                  <c:v>First Line Distributor</c:v>
                </c:pt>
                <c:pt idx="1">
                  <c:v>Second Line Distributor</c:v>
                </c:pt>
                <c:pt idx="2">
                  <c:v>Customer</c:v>
                </c:pt>
                <c:pt idx="3">
                  <c:v>Home</c:v>
                </c:pt>
              </c:strCache>
            </c:strRef>
          </c:cat>
          <c:val>
            <c:numRef>
              <c:f>Sheet1!$C$2:$C$5</c:f>
              <c:numCache>
                <c:formatCode>_("$"* #,##0.00_);_("$"* \(#,##0.00\);_("$"* "-"??_);_(@_)</c:formatCode>
                <c:ptCount val="4"/>
                <c:pt idx="0">
                  <c:v>14.02</c:v>
                </c:pt>
                <c:pt idx="1">
                  <c:v>17.34</c:v>
                </c:pt>
                <c:pt idx="2">
                  <c:v>19.53</c:v>
                </c:pt>
                <c:pt idx="3">
                  <c:v>20.48</c:v>
                </c:pt>
              </c:numCache>
            </c:numRef>
          </c:val>
        </c:ser>
        <c:dLbls>
          <c:showLegendKey val="0"/>
          <c:showVal val="0"/>
          <c:showCatName val="0"/>
          <c:showSerName val="0"/>
          <c:showPercent val="0"/>
          <c:showBubbleSize val="0"/>
        </c:dLbls>
        <c:gapWidth val="247"/>
        <c:overlap val="100"/>
        <c:axId val="230347776"/>
        <c:axId val="230345456"/>
      </c:barChart>
      <c:valAx>
        <c:axId val="230345456"/>
        <c:scaling>
          <c:orientation val="minMax"/>
        </c:scaling>
        <c:delete val="0"/>
        <c:axPos val="b"/>
        <c:majorGridlines>
          <c:spPr>
            <a:ln w="9525" cap="flat" cmpd="sng" algn="ctr">
              <a:solidFill>
                <a:schemeClr val="dk1">
                  <a:lumMod val="15000"/>
                  <a:lumOff val="85000"/>
                </a:schemeClr>
              </a:solidFill>
              <a:round/>
            </a:ln>
            <a:effectLst/>
          </c:spPr>
        </c:majorGridlines>
        <c:numFmt formatCode="_(&quot;$&quot;* #,##0.00_);_(&quot;$&quot;* \(#,##0.00\);_(&quot;$&quot;* &quot;-&quot;??_);_(@_)"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230347776"/>
        <c:crosses val="autoZero"/>
        <c:crossBetween val="between"/>
      </c:valAx>
      <c:catAx>
        <c:axId val="230347776"/>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230345456"/>
        <c:crosses val="autoZero"/>
        <c:auto val="1"/>
        <c:lblAlgn val="ctr"/>
        <c:lblOffset val="100"/>
        <c:noMultiLvlLbl val="0"/>
      </c:catAx>
      <c:spPr>
        <a:pattFill prst="ltDnDiag">
          <a:fgClr>
            <a:schemeClr val="dk1">
              <a:lumMod val="15000"/>
              <a:lumOff val="85000"/>
            </a:schemeClr>
          </a:fgClr>
          <a:bgClr>
            <a:schemeClr val="lt1"/>
          </a:bgClr>
        </a:pattFill>
        <a:ln>
          <a:noFill/>
        </a:ln>
        <a:effectLst/>
      </c:spPr>
    </c:plotArea>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1">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7A983A-B01F-B049-AF8B-90585FDA582C}" type="datetimeFigureOut">
              <a:rPr lang="en-GB" smtClean="0"/>
              <a:t>13/01/2017</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D3B65-C00C-BF43-8F7A-9C8E67DE6347}" type="slidenum">
              <a:rPr lang="en-GB" smtClean="0"/>
              <a:t>‹#›</a:t>
            </a:fld>
            <a:endParaRPr lang="en-GB"/>
          </a:p>
        </p:txBody>
      </p:sp>
    </p:spTree>
    <p:extLst>
      <p:ext uri="{BB962C8B-B14F-4D97-AF65-F5344CB8AC3E}">
        <p14:creationId xmlns:p14="http://schemas.microsoft.com/office/powerpoint/2010/main" val="314823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    </a:t>
            </a: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a:t>
            </a:fld>
            <a:endParaRPr lang="en-GB" dirty="0"/>
          </a:p>
        </p:txBody>
      </p:sp>
    </p:spTree>
    <p:extLst>
      <p:ext uri="{BB962C8B-B14F-4D97-AF65-F5344CB8AC3E}">
        <p14:creationId xmlns:p14="http://schemas.microsoft.com/office/powerpoint/2010/main" val="1980946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Neither</a:t>
            </a:r>
            <a:r>
              <a:rPr lang="en-GB" baseline="0" dirty="0" smtClean="0"/>
              <a:t> do we</a:t>
            </a:r>
            <a:r>
              <a:rPr lang="is-IS" baseline="0" smtClean="0"/>
              <a:t>… </a:t>
            </a:r>
          </a:p>
          <a:p>
            <a:r>
              <a:rPr lang="is-IS" baseline="0" smtClean="0"/>
              <a:t>(</a:t>
            </a:r>
            <a:r>
              <a:rPr lang="en-GB" dirty="0" smtClean="0"/>
              <a:t>One is</a:t>
            </a:r>
            <a:r>
              <a:rPr lang="en-GB" baseline="0" dirty="0" smtClean="0"/>
              <a:t> full, the other is empty)</a:t>
            </a:r>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a:t>
            </a:fld>
            <a:endParaRPr lang="en-GB" dirty="0"/>
          </a:p>
        </p:txBody>
      </p:sp>
    </p:spTree>
    <p:extLst>
      <p:ext uri="{BB962C8B-B14F-4D97-AF65-F5344CB8AC3E}">
        <p14:creationId xmlns:p14="http://schemas.microsoft.com/office/powerpoint/2010/main" val="336988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3</a:t>
            </a:fld>
            <a:endParaRPr lang="en-GB" dirty="0"/>
          </a:p>
        </p:txBody>
      </p:sp>
    </p:spTree>
    <p:extLst>
      <p:ext uri="{BB962C8B-B14F-4D97-AF65-F5344CB8AC3E}">
        <p14:creationId xmlns:p14="http://schemas.microsoft.com/office/powerpoint/2010/main" val="1893654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4</a:t>
            </a:fld>
            <a:endParaRPr lang="en-GB" dirty="0"/>
          </a:p>
        </p:txBody>
      </p:sp>
    </p:spTree>
    <p:extLst>
      <p:ext uri="{BB962C8B-B14F-4D97-AF65-F5344CB8AC3E}">
        <p14:creationId xmlns:p14="http://schemas.microsoft.com/office/powerpoint/2010/main" val="1875632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5</a:t>
            </a:fld>
            <a:endParaRPr lang="en-GB" dirty="0"/>
          </a:p>
        </p:txBody>
      </p:sp>
    </p:spTree>
    <p:extLst>
      <p:ext uri="{BB962C8B-B14F-4D97-AF65-F5344CB8AC3E}">
        <p14:creationId xmlns:p14="http://schemas.microsoft.com/office/powerpoint/2010/main" val="811953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Large autonomy;</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Not depending on existing connection (no need for Internet);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Independent</a:t>
            </a:r>
            <a:r>
              <a:rPr lang="en-US" sz="1200" baseline="0" dirty="0" smtClean="0"/>
              <a:t> from the LPG bottle;</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initial setup allows to set the tare of the cylinder placed on the balance. It</a:t>
            </a:r>
            <a:r>
              <a:rPr lang="en-US" sz="1200" baseline="0" dirty="0" smtClean="0"/>
              <a:t> </a:t>
            </a:r>
            <a:r>
              <a:rPr lang="en-US" sz="1200" dirty="0" smtClean="0"/>
              <a:t>may be possible to try to “guess” which brand/bottle it is automatically</a:t>
            </a:r>
            <a:r>
              <a:rPr lang="en-US" sz="1200" baseline="0" dirty="0" smtClean="0"/>
              <a:t> since the different values are discrete and quite apart from one another but would still requires a UI to deliver the info and ask for confirmation.</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system is also self-calibrating over time</a:t>
            </a:r>
            <a:r>
              <a:rPr lang="en-US" sz="1200" baseline="0" dirty="0" smtClean="0"/>
              <a:t> </a:t>
            </a:r>
            <a:r>
              <a:rPr lang="en-US" sz="1200" dirty="0" smtClean="0"/>
              <a:t>(to minimize fluctuation on measurement over time and conditions like ambient temperature, vibrations, pressure difference, moisture, EMF and dirt).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A few euros in hardware and communication fees/year) with expected battery life up to 5 years.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system is able to send weight + date + battery level twice a day and can deliver the information back to the customer.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Through</a:t>
            </a:r>
            <a:r>
              <a:rPr lang="en-US" sz="1200" baseline="0" dirty="0" smtClean="0"/>
              <a:t> a local algorithm, it would be possible to typify the consumer and the kind of equipment he possess (hot water heater, central heating system or just recreational).</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This information is quite valuable and is paramount to the business model. I’m not sure this currently captured by any solution on the market yet (it will come for sure, especially with the smart connected bottles like “Genie” from LINDE or equivalent.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Estimation of consumption based on past behavior and machine learning could help to manage and program the deliveries, especially in more remote location.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One could even think of offering a better price if the customer agrees to get delivered at a specific date/time, in a such way that minimize the overall cost of the delivery for the distributor.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A smart algorithm to maintain or unbalance the market according to paying customers (distributors/LPG brands) of NESTO is key to business, especially in urban area where the competition is more fierce.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The largest GPL bottle manufacturer has a factory in Portugal AMTROL-ALPHA and is developing such products.</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6</a:t>
            </a:fld>
            <a:endParaRPr lang="en-GB" dirty="0"/>
          </a:p>
        </p:txBody>
      </p:sp>
    </p:spTree>
    <p:extLst>
      <p:ext uri="{BB962C8B-B14F-4D97-AF65-F5344CB8AC3E}">
        <p14:creationId xmlns:p14="http://schemas.microsoft.com/office/powerpoint/2010/main" val="1571079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Add</a:t>
            </a:r>
            <a:r>
              <a:rPr lang="en-GB" baseline="0" dirty="0" smtClean="0"/>
              <a:t> estimated date for new bottle request on the third screen</a:t>
            </a:r>
          </a:p>
          <a:p>
            <a:endParaRPr lang="en-GB" baseline="0" dirty="0" smtClean="0"/>
          </a:p>
          <a:p>
            <a:r>
              <a:rPr lang="en-GB" dirty="0" smtClean="0"/>
              <a:t>Fuel Level Window: </a:t>
            </a:r>
            <a:r>
              <a:rPr lang="en-GB" b="1" dirty="0" smtClean="0"/>
              <a:t>A total of 88 percent of respondents identified “Can’t tell fuel level” </a:t>
            </a:r>
            <a:r>
              <a:rPr lang="en-GB" dirty="0" smtClean="0"/>
              <a:t>as a complaint or concern about their steel propane cylinders. Asked later in the survey to rate the importance of various possible features of composite cylinders, this group awarded “View window for fuel level” a full 94 percent of the total possible points. </a:t>
            </a:r>
            <a:endParaRPr lang="en-GB" baseline="0" dirty="0" smtClean="0"/>
          </a:p>
          <a:p>
            <a:endParaRPr lang="en-GB" baseline="0" dirty="0" smtClean="0"/>
          </a:p>
          <a:p>
            <a:r>
              <a:rPr lang="en-GB" baseline="0" dirty="0" smtClean="0"/>
              <a:t>(Source: http://</a:t>
            </a:r>
            <a:r>
              <a:rPr lang="en-GB" baseline="0" dirty="0" err="1" smtClean="0"/>
              <a:t>www.propanecouncil.org</a:t>
            </a:r>
            <a:r>
              <a:rPr lang="en-GB" baseline="0" smtClean="0"/>
              <a:t>/</a:t>
            </a:r>
            <a:r>
              <a:rPr lang="en-GB" baseline="0" err="1" smtClean="0"/>
              <a:t>uploadedFiles</a:t>
            </a:r>
            <a:r>
              <a:rPr lang="en-GB" baseline="0" smtClean="0"/>
              <a:t>/Council/</a:t>
            </a:r>
            <a:r>
              <a:rPr lang="en-GB" baseline="0" err="1" smtClean="0"/>
              <a:t>Research_and_Development</a:t>
            </a:r>
            <a:r>
              <a:rPr lang="en-GB" baseline="0" smtClean="0"/>
              <a:t>/REP_10662%20Composite%20Cylinder%20Market%20Study.pdf)</a:t>
            </a:r>
          </a:p>
          <a:p>
            <a:endParaRPr lang="en-GB"/>
          </a:p>
        </p:txBody>
      </p:sp>
      <p:sp>
        <p:nvSpPr>
          <p:cNvPr id="4" name="Slide Number Placeholder 3"/>
          <p:cNvSpPr>
            <a:spLocks noGrp="1"/>
          </p:cNvSpPr>
          <p:nvPr>
            <p:ph type="sldNum" sz="quarter" idx="10"/>
          </p:nvPr>
        </p:nvSpPr>
        <p:spPr/>
        <p:txBody>
          <a:bodyPr/>
          <a:lstStyle/>
          <a:p>
            <a:fld id="{21CD3B65-C00C-BF43-8F7A-9C8E67DE6347}" type="slidenum">
              <a:rPr lang="en-GB" smtClean="0"/>
              <a:t>7</a:t>
            </a:fld>
            <a:endParaRPr lang="en-GB"/>
          </a:p>
        </p:txBody>
      </p:sp>
    </p:spTree>
    <p:extLst>
      <p:ext uri="{BB962C8B-B14F-4D97-AF65-F5344CB8AC3E}">
        <p14:creationId xmlns:p14="http://schemas.microsoft.com/office/powerpoint/2010/main" val="1865100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initial setup allows to set the tare of the cylinder placed on the balance. It</a:t>
            </a:r>
            <a:r>
              <a:rPr lang="en-US" sz="1200" baseline="0" dirty="0" smtClean="0"/>
              <a:t> </a:t>
            </a:r>
            <a:r>
              <a:rPr lang="en-US" sz="1200" dirty="0" smtClean="0"/>
              <a:t>may be possible to try to “guess” which brand/bottle it is automatically</a:t>
            </a:r>
            <a:r>
              <a:rPr lang="en-US" sz="1200" baseline="0" dirty="0" smtClean="0"/>
              <a:t> since the different values are discrete and quite apart from one another but would still requires a UI to deliver the info and ask for confirmation.</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system is also self-calibrating over time</a:t>
            </a:r>
            <a:r>
              <a:rPr lang="en-US" sz="1200" baseline="0" dirty="0" smtClean="0"/>
              <a:t> </a:t>
            </a:r>
            <a:r>
              <a:rPr lang="en-US" sz="1200" dirty="0" smtClean="0"/>
              <a:t>(to minimize fluctuation on measurement over time and conditions like ambient temperature, vibrations, pressure difference, moisture, EMF and dirt).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A few euros in hardware and communication fees/year) with expected battery life up to 5 years.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system is able to send weight + date + battery level twice a day and can deliver the information back to the customer.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Through</a:t>
            </a:r>
            <a:r>
              <a:rPr lang="en-US" sz="1200" baseline="0" dirty="0" smtClean="0"/>
              <a:t> a local algorithm, it would be possible to typify the consumer and the kind of equipment he possess (hot water heater, central heating system or just recreational).</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This information is quite valuable and is paramount to the business model. I’m not sure this currently captured by any solution on the market yet (it will come for sure, especially with the smart connected bottles like “Genie” from LINDE or equivalent.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Estimation of consumption based on past behavior and machine learning could help to manage and program the deliveries, especially in more remote location.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One could even think of offering a better price if the customer agrees to get delivered at a specific date/time, in a such way that minimize the overall cost of the delivery for the distributor.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A smart algorithm to maintain or unbalance the market according to paying customers (distributors/LPG brands) of NESTO is key to business, especially in urban area where the competition is more fierce.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The largest GPL bottle manufacturer has a factory in Portugal AMTROL-ALPHA and is developing such products.</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8</a:t>
            </a:fld>
            <a:endParaRPr lang="en-GB" dirty="0"/>
          </a:p>
        </p:txBody>
      </p:sp>
    </p:spTree>
    <p:extLst>
      <p:ext uri="{BB962C8B-B14F-4D97-AF65-F5344CB8AC3E}">
        <p14:creationId xmlns:p14="http://schemas.microsoft.com/office/powerpoint/2010/main" val="1451102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1" dirty="0" smtClean="0">
                <a:solidFill>
                  <a:srgbClr val="57CABF"/>
                </a:solidFill>
              </a:rPr>
              <a:t>88% of end use</a:t>
            </a:r>
            <a:r>
              <a:rPr lang="en-US" sz="1200" dirty="0" smtClean="0">
                <a:solidFill>
                  <a:srgbClr val="57CABF"/>
                </a:solidFill>
              </a:rPr>
              <a:t>r</a:t>
            </a:r>
            <a:r>
              <a:rPr lang="en-US" sz="1200" dirty="0" smtClean="0"/>
              <a:t> is actually ready to pay for a device that tells them how much gas</a:t>
            </a:r>
            <a:r>
              <a:rPr lang="en-US" sz="1200" baseline="0" dirty="0" smtClean="0"/>
              <a:t> is left in the bottle </a:t>
            </a:r>
            <a:r>
              <a:rPr lang="en-US" sz="1200" dirty="0" smtClean="0"/>
              <a:t>(* survey result).</a:t>
            </a:r>
            <a:r>
              <a:rPr lang="is-IS" sz="1200" b="0" i="0" u="none" strike="noStrike" kern="1200" dirty="0" smtClean="0">
                <a:solidFill>
                  <a:schemeClr val="tx1"/>
                </a:solidFill>
                <a:effectLst/>
                <a:latin typeface="+mn-lt"/>
                <a:ea typeface="+mn-ea"/>
                <a:cs typeface="+mn-cs"/>
              </a:rPr>
              <a:t>  </a:t>
            </a:r>
            <a:r>
              <a:rPr lang="is-IS" dirty="0" smtClean="0"/>
              <a:t> </a:t>
            </a:r>
            <a:endParaRPr lang="en-US" sz="1200" dirty="0" smtClean="0"/>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endParaRPr lang="en-US" sz="1200" dirty="0" smtClean="0"/>
          </a:p>
          <a:p>
            <a:pPr marL="171450" indent="-171450">
              <a:buFont typeface="Arial" charset="0"/>
              <a:buChar char="•"/>
            </a:pP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9</a:t>
            </a:fld>
            <a:endParaRPr lang="en-GB"/>
          </a:p>
        </p:txBody>
      </p:sp>
    </p:spTree>
    <p:extLst>
      <p:ext uri="{BB962C8B-B14F-4D97-AF65-F5344CB8AC3E}">
        <p14:creationId xmlns:p14="http://schemas.microsoft.com/office/powerpoint/2010/main" val="126535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GB" dirty="0" smtClean="0"/>
              <a:t>659 M€ in 2010</a:t>
            </a:r>
          </a:p>
          <a:p>
            <a:pPr marL="171450" indent="-171450">
              <a:buFont typeface="Arial" charset="0"/>
              <a:buChar char="•"/>
            </a:pPr>
            <a:endParaRPr lang="en-GB" dirty="0" smtClean="0"/>
          </a:p>
          <a:p>
            <a:pPr marL="171450" indent="-171450">
              <a:buFont typeface="Arial" charset="0"/>
              <a:buChar char="•"/>
            </a:pPr>
            <a:endParaRPr lang="en-GB" dirty="0" smtClean="0"/>
          </a:p>
          <a:p>
            <a:pPr marL="171450" indent="-171450">
              <a:buFont typeface="Arial" charset="0"/>
              <a:buChar char="•"/>
            </a:pPr>
            <a:r>
              <a:rPr lang="en-GB" dirty="0" smtClean="0"/>
              <a:t>http://</a:t>
            </a:r>
            <a:r>
              <a:rPr lang="en-GB" dirty="0" err="1" smtClean="0"/>
              <a:t>www.poupenabotija.pt</a:t>
            </a:r>
            <a:r>
              <a:rPr lang="en-GB" dirty="0" smtClean="0"/>
              <a:t>/</a:t>
            </a:r>
            <a:r>
              <a:rPr lang="en-GB" dirty="0" err="1" smtClean="0"/>
              <a:t>poupenabotija</a:t>
            </a:r>
            <a:r>
              <a:rPr lang="en-GB" dirty="0" smtClean="0"/>
              <a:t>/</a:t>
            </a:r>
            <a:r>
              <a:rPr lang="en-GB" dirty="0" err="1" smtClean="0"/>
              <a:t>precos</a:t>
            </a:r>
            <a:r>
              <a:rPr lang="en-GB" dirty="0" smtClean="0"/>
              <a:t>;</a:t>
            </a:r>
          </a:p>
          <a:p>
            <a:pPr marL="171450" indent="-171450">
              <a:buFont typeface="Arial" charset="0"/>
              <a:buChar char="•"/>
            </a:pPr>
            <a:r>
              <a:rPr lang="en-GB" dirty="0" smtClean="0"/>
              <a:t>http://</a:t>
            </a:r>
            <a:r>
              <a:rPr lang="en-GB" dirty="0" err="1" smtClean="0"/>
              <a:t>www.enmc.pt</a:t>
            </a:r>
            <a:r>
              <a:rPr lang="en-GB" dirty="0" smtClean="0"/>
              <a:t>/</a:t>
            </a:r>
            <a:r>
              <a:rPr lang="en-GB" dirty="0" err="1" smtClean="0"/>
              <a:t>pt</a:t>
            </a:r>
            <a:r>
              <a:rPr lang="en-GB" dirty="0" smtClean="0"/>
              <a:t>-PT/</a:t>
            </a:r>
            <a:r>
              <a:rPr lang="en-GB" dirty="0" err="1" smtClean="0"/>
              <a:t>noticias</a:t>
            </a:r>
            <a:r>
              <a:rPr lang="en-GB" dirty="0" smtClean="0"/>
              <a:t>/</a:t>
            </a:r>
            <a:r>
              <a:rPr lang="en-GB" dirty="0" err="1" smtClean="0"/>
              <a:t>arquivo</a:t>
            </a:r>
            <a:r>
              <a:rPr lang="en-GB" dirty="0" smtClean="0"/>
              <a:t>-de-</a:t>
            </a:r>
            <a:r>
              <a:rPr lang="en-GB" dirty="0" err="1" smtClean="0"/>
              <a:t>noticias</a:t>
            </a:r>
            <a:r>
              <a:rPr lang="en-GB" dirty="0" smtClean="0"/>
              <a:t>/o-</a:t>
            </a:r>
            <a:r>
              <a:rPr lang="en-GB" dirty="0" err="1" smtClean="0"/>
              <a:t>mercado</a:t>
            </a:r>
            <a:r>
              <a:rPr lang="en-GB" dirty="0" smtClean="0"/>
              <a:t>-do-</a:t>
            </a:r>
            <a:r>
              <a:rPr lang="en-GB" dirty="0" err="1" smtClean="0"/>
              <a:t>gpl</a:t>
            </a:r>
            <a:r>
              <a:rPr lang="en-GB" dirty="0" smtClean="0"/>
              <a:t>-</a:t>
            </a:r>
            <a:r>
              <a:rPr lang="en-GB" dirty="0" err="1" smtClean="0"/>
              <a:t>em-portugal</a:t>
            </a:r>
            <a:r>
              <a:rPr lang="en-GB" dirty="0" smtClean="0"/>
              <a:t>/</a:t>
            </a:r>
          </a:p>
          <a:p>
            <a:pPr marL="171450" indent="-171450">
              <a:buFont typeface="Arial" charset="0"/>
              <a:buChar char="•"/>
            </a:pPr>
            <a:r>
              <a:rPr lang="en-GB" dirty="0" smtClean="0"/>
              <a:t>http://</a:t>
            </a:r>
            <a:r>
              <a:rPr lang="en-GB" dirty="0" err="1" smtClean="0"/>
              <a:t>cpa.idea-factory.pt</a:t>
            </a:r>
            <a:r>
              <a:rPr lang="en-GB" dirty="0" smtClean="0"/>
              <a:t>/</a:t>
            </a:r>
            <a:r>
              <a:rPr lang="en-GB" dirty="0" err="1" smtClean="0"/>
              <a:t>UserFiles</a:t>
            </a:r>
            <a:r>
              <a:rPr lang="en-GB" dirty="0" smtClean="0"/>
              <a:t>/</a:t>
            </a:r>
            <a:r>
              <a:rPr lang="en-GB" dirty="0" err="1" smtClean="0"/>
              <a:t>rita-alves-prio.pdf</a:t>
            </a:r>
            <a:r>
              <a:rPr lang="en-GB" dirty="0" smtClean="0"/>
              <a:t/>
            </a:r>
            <a:br>
              <a:rPr lang="en-GB" dirty="0" smtClean="0"/>
            </a:br>
            <a:endParaRPr lang="en-GB" dirty="0" smtClean="0"/>
          </a:p>
          <a:p>
            <a:pPr marL="171450" indent="-171450">
              <a:buFont typeface="Arial" charset="0"/>
              <a:buChar char="•"/>
            </a:pPr>
            <a:r>
              <a:rPr lang="en-GB" dirty="0" err="1" smtClean="0"/>
              <a:t>Repsol</a:t>
            </a:r>
            <a:r>
              <a:rPr lang="en-GB" dirty="0" smtClean="0"/>
              <a:t> =&gt; Shell</a:t>
            </a:r>
            <a:r>
              <a:rPr lang="en-GB" baseline="0" dirty="0" smtClean="0"/>
              <a:t> sold in 2004;</a:t>
            </a:r>
            <a:endParaRPr lang="en-GB" dirty="0" smtClean="0"/>
          </a:p>
          <a:p>
            <a:pPr marL="171450" indent="-171450">
              <a:buFont typeface="Arial" charset="0"/>
              <a:buChar char="•"/>
            </a:pPr>
            <a:r>
              <a:rPr lang="en-GB" dirty="0" smtClean="0"/>
              <a:t>OZ =&gt; From </a:t>
            </a:r>
            <a:r>
              <a:rPr lang="en-GB" dirty="0" err="1" smtClean="0"/>
              <a:t>Champalimaud</a:t>
            </a:r>
            <a:r>
              <a:rPr lang="en-GB" dirty="0" smtClean="0"/>
              <a:t> since 2009 after buying from Galp </a:t>
            </a:r>
            <a:r>
              <a:rPr lang="en-GB" dirty="0" err="1" smtClean="0"/>
              <a:t>Energia</a:t>
            </a:r>
            <a:r>
              <a:rPr lang="en-GB" dirty="0" smtClean="0"/>
              <a:t> And Esso;</a:t>
            </a:r>
          </a:p>
          <a:p>
            <a:pPr marL="171450" indent="-171450">
              <a:buFont typeface="Arial" charset="0"/>
              <a:buChar char="•"/>
            </a:pPr>
            <a:r>
              <a:rPr lang="en-GB" dirty="0" err="1" smtClean="0"/>
              <a:t>Rubis</a:t>
            </a:r>
            <a:r>
              <a:rPr lang="en-GB" dirty="0" smtClean="0"/>
              <a:t> =&gt; French 2014, bought what was left from BP Portugal;</a:t>
            </a:r>
          </a:p>
          <a:p>
            <a:pPr marL="171450" indent="-171450">
              <a:buFont typeface="Arial" charset="0"/>
              <a:buChar char="•"/>
            </a:pPr>
            <a:r>
              <a:rPr lang="en-GB" dirty="0" err="1" smtClean="0"/>
              <a:t>Prio</a:t>
            </a:r>
            <a:r>
              <a:rPr lang="en-GB" dirty="0" smtClean="0"/>
              <a:t> =&gt; 95% </a:t>
            </a:r>
            <a:r>
              <a:rPr lang="en-GB" dirty="0" err="1" smtClean="0"/>
              <a:t>OxyCapital</a:t>
            </a:r>
            <a:r>
              <a:rPr lang="en-GB" dirty="0" smtClean="0"/>
              <a:t> / 5% </a:t>
            </a:r>
            <a:r>
              <a:rPr lang="en-GB" dirty="0" err="1" smtClean="0"/>
              <a:t>Martifer</a:t>
            </a:r>
            <a:r>
              <a:rPr lang="en-GB" dirty="0" smtClean="0"/>
              <a:t/>
            </a:r>
            <a:br>
              <a:rPr lang="en-GB" dirty="0" smtClean="0"/>
            </a:br>
            <a:r>
              <a:rPr lang="en-GB" dirty="0" smtClean="0"/>
              <a:t/>
            </a:r>
            <a:br>
              <a:rPr lang="en-GB" dirty="0" smtClean="0"/>
            </a:br>
            <a:r>
              <a:rPr lang="en-GB" sz="1200" b="0" i="0" kern="1200" dirty="0" smtClean="0">
                <a:solidFill>
                  <a:schemeClr val="tx1"/>
                </a:solidFill>
                <a:effectLst/>
                <a:latin typeface="+mn-lt"/>
                <a:ea typeface="+mn-ea"/>
                <a:cs typeface="+mn-cs"/>
              </a:rPr>
              <a:t>O novo diploma </a:t>
            </a:r>
            <a:r>
              <a:rPr lang="en-GB" sz="1200" b="0" i="0" kern="1200" dirty="0" err="1" smtClean="0">
                <a:solidFill>
                  <a:schemeClr val="tx1"/>
                </a:solidFill>
                <a:effectLst/>
                <a:latin typeface="+mn-lt"/>
                <a:ea typeface="+mn-ea"/>
                <a:cs typeface="+mn-cs"/>
              </a:rPr>
              <a:t>vai</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obrigar</a:t>
            </a:r>
            <a:r>
              <a:rPr lang="en-GB" sz="1200" b="0" i="0" kern="1200" dirty="0" smtClean="0">
                <a:solidFill>
                  <a:schemeClr val="tx1"/>
                </a:solidFill>
                <a:effectLst/>
                <a:latin typeface="+mn-lt"/>
                <a:ea typeface="+mn-ea"/>
                <a:cs typeface="+mn-cs"/>
              </a:rPr>
              <a:t> a CLC, </a:t>
            </a:r>
            <a:r>
              <a:rPr lang="en-GB" sz="1200" b="0" i="0" kern="1200" dirty="0" err="1" smtClean="0">
                <a:solidFill>
                  <a:schemeClr val="tx1"/>
                </a:solidFill>
                <a:effectLst/>
                <a:latin typeface="+mn-lt"/>
                <a:ea typeface="+mn-ea"/>
                <a:cs typeface="+mn-cs"/>
              </a:rPr>
              <a:t>companhia</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logística</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detida</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maioritariamente</a:t>
            </a:r>
            <a:r>
              <a:rPr lang="en-GB" sz="1200" b="0" i="0" kern="1200" dirty="0" smtClean="0">
                <a:solidFill>
                  <a:schemeClr val="tx1"/>
                </a:solidFill>
                <a:effectLst/>
                <a:latin typeface="+mn-lt"/>
                <a:ea typeface="+mn-ea"/>
                <a:cs typeface="+mn-cs"/>
              </a:rPr>
              <a:t> pela Galp, a </a:t>
            </a:r>
            <a:r>
              <a:rPr lang="en-GB" sz="1200" b="0" i="0" kern="1200" dirty="0" err="1" smtClean="0">
                <a:solidFill>
                  <a:schemeClr val="tx1"/>
                </a:solidFill>
                <a:effectLst/>
                <a:latin typeface="+mn-lt"/>
                <a:ea typeface="+mn-ea"/>
                <a:cs typeface="+mn-cs"/>
              </a:rPr>
              <a:t>garantir</a:t>
            </a:r>
            <a:r>
              <a:rPr lang="en-GB" sz="1200" b="0" i="0" kern="1200" dirty="0" smtClean="0">
                <a:solidFill>
                  <a:schemeClr val="tx1"/>
                </a:solidFill>
                <a:effectLst/>
                <a:latin typeface="+mn-lt"/>
                <a:ea typeface="+mn-ea"/>
                <a:cs typeface="+mn-cs"/>
              </a:rPr>
              <a:t> o </a:t>
            </a:r>
            <a:r>
              <a:rPr lang="en-GB" sz="1200" b="0" i="0" kern="1200" dirty="0" err="1" smtClean="0">
                <a:solidFill>
                  <a:schemeClr val="tx1"/>
                </a:solidFill>
                <a:effectLst/>
                <a:latin typeface="+mn-lt"/>
                <a:ea typeface="+mn-ea"/>
                <a:cs typeface="+mn-cs"/>
              </a:rPr>
              <a:t>acesso</a:t>
            </a:r>
            <a:r>
              <a:rPr lang="en-GB" sz="1200" b="0" i="0" kern="1200" dirty="0" smtClean="0">
                <a:solidFill>
                  <a:schemeClr val="tx1"/>
                </a:solidFill>
                <a:effectLst/>
                <a:latin typeface="+mn-lt"/>
                <a:ea typeface="+mn-ea"/>
                <a:cs typeface="+mn-cs"/>
              </a:rPr>
              <a:t> de </a:t>
            </a:r>
            <a:r>
              <a:rPr lang="en-GB" sz="1200" b="0" i="0" kern="1200" dirty="0" err="1" smtClean="0">
                <a:solidFill>
                  <a:schemeClr val="tx1"/>
                </a:solidFill>
                <a:effectLst/>
                <a:latin typeface="+mn-lt"/>
                <a:ea typeface="+mn-ea"/>
                <a:cs typeface="+mn-cs"/>
              </a:rPr>
              <a:t>outras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empresas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ao</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oleoduto</a:t>
            </a:r>
            <a:r>
              <a:rPr lang="en-GB" sz="1200" b="0" i="0" kern="1200" dirty="0" smtClean="0">
                <a:solidFill>
                  <a:schemeClr val="tx1"/>
                </a:solidFill>
                <a:effectLst/>
                <a:latin typeface="+mn-lt"/>
                <a:ea typeface="+mn-ea"/>
                <a:cs typeface="+mn-cs"/>
              </a:rPr>
              <a:t> entre Sines e </a:t>
            </a:r>
            <a:r>
              <a:rPr lang="en-GB" sz="1200" b="0" i="0" kern="1200" dirty="0" err="1" smtClean="0">
                <a:solidFill>
                  <a:schemeClr val="tx1"/>
                </a:solidFill>
                <a:effectLst/>
                <a:latin typeface="+mn-lt"/>
                <a:ea typeface="+mn-ea"/>
                <a:cs typeface="+mn-cs"/>
              </a:rPr>
              <a:t>Aveiras</a:t>
            </a:r>
            <a:r>
              <a:rPr lang="en-GB" sz="1200" b="0" i="0" kern="1200" dirty="0" smtClean="0">
                <a:solidFill>
                  <a:schemeClr val="tx1"/>
                </a:solidFill>
                <a:effectLst/>
                <a:latin typeface="+mn-lt"/>
                <a:ea typeface="+mn-ea"/>
                <a:cs typeface="+mn-cs"/>
              </a:rPr>
              <a:t>. A Galp tem 65% da CLC, a BP e a </a:t>
            </a:r>
            <a:r>
              <a:rPr lang="en-GB" sz="1200" b="0" i="0" kern="1200" dirty="0" err="1" smtClean="0">
                <a:solidFill>
                  <a:schemeClr val="tx1"/>
                </a:solidFill>
                <a:effectLst/>
                <a:latin typeface="+mn-lt"/>
                <a:ea typeface="+mn-ea"/>
                <a:cs typeface="+mn-cs"/>
              </a:rPr>
              <a:t>Repsol</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têm</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ambas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participações</a:t>
            </a:r>
            <a:r>
              <a:rPr lang="en-GB" sz="1200" b="0" i="0" kern="1200" dirty="0" smtClean="0">
                <a:solidFill>
                  <a:schemeClr val="tx1"/>
                </a:solidFill>
                <a:effectLst/>
                <a:latin typeface="+mn-lt"/>
                <a:ea typeface="+mn-ea"/>
                <a:cs typeface="+mn-cs"/>
              </a:rPr>
              <a:t> de 15% e a </a:t>
            </a:r>
            <a:r>
              <a:rPr lang="en-GB" sz="1200" b="0" i="0" kern="1200" dirty="0" err="1" smtClean="0">
                <a:solidFill>
                  <a:schemeClr val="tx1"/>
                </a:solidFill>
                <a:effectLst/>
                <a:latin typeface="+mn-lt"/>
                <a:ea typeface="+mn-ea"/>
                <a:cs typeface="+mn-cs"/>
              </a:rPr>
              <a:t>Rubis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tem 5% do capital.</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(Source: https://</a:t>
            </a:r>
            <a:r>
              <a:rPr lang="en-GB" sz="1200" b="0" i="0" kern="1200" dirty="0" err="1" smtClean="0">
                <a:solidFill>
                  <a:schemeClr val="tx1"/>
                </a:solidFill>
                <a:effectLst/>
                <a:latin typeface="+mn-lt"/>
                <a:ea typeface="+mn-ea"/>
                <a:cs typeface="+mn-cs"/>
              </a:rPr>
              <a:t>www.publico.pt</a:t>
            </a:r>
            <a:r>
              <a:rPr lang="en-GB" sz="1200" b="0" i="0" kern="1200" dirty="0" smtClean="0">
                <a:solidFill>
                  <a:schemeClr val="tx1"/>
                </a:solidFill>
                <a:effectLst/>
                <a:latin typeface="+mn-lt"/>
                <a:ea typeface="+mn-ea"/>
                <a:cs typeface="+mn-cs"/>
              </a:rPr>
              <a:t>/</a:t>
            </a:r>
            <a:r>
              <a:rPr lang="en-GB" sz="1200" b="0" i="0" kern="1200" dirty="0" err="1" smtClean="0">
                <a:solidFill>
                  <a:schemeClr val="tx1"/>
                </a:solidFill>
                <a:effectLst/>
                <a:latin typeface="+mn-lt"/>
                <a:ea typeface="+mn-ea"/>
                <a:cs typeface="+mn-cs"/>
              </a:rPr>
              <a:t>economia</a:t>
            </a:r>
            <a:r>
              <a:rPr lang="en-GB" sz="1200" b="0" i="0" kern="1200" dirty="0" smtClean="0">
                <a:solidFill>
                  <a:schemeClr val="tx1"/>
                </a:solidFill>
                <a:effectLst/>
                <a:latin typeface="+mn-lt"/>
                <a:ea typeface="+mn-ea"/>
                <a:cs typeface="+mn-cs"/>
              </a:rPr>
              <a:t>/</a:t>
            </a:r>
            <a:r>
              <a:rPr lang="en-GB" sz="1200" b="0" i="0" kern="1200" dirty="0" err="1" smtClean="0">
                <a:solidFill>
                  <a:schemeClr val="tx1"/>
                </a:solidFill>
                <a:effectLst/>
                <a:latin typeface="+mn-lt"/>
                <a:ea typeface="+mn-ea"/>
                <a:cs typeface="+mn-cs"/>
              </a:rPr>
              <a:t>noticia</a:t>
            </a:r>
            <a:r>
              <a:rPr lang="en-GB" sz="1200" b="0" i="0" kern="1200" dirty="0" smtClean="0">
                <a:solidFill>
                  <a:schemeClr val="tx1"/>
                </a:solidFill>
                <a:effectLst/>
                <a:latin typeface="+mn-lt"/>
                <a:ea typeface="+mn-ea"/>
                <a:cs typeface="+mn-cs"/>
              </a:rPr>
              <a:t>/lei-do-petroleo-obriga-galp-a-abrir-o-oleoduto-entre-sines-e-aveiras-1704872)</a:t>
            </a:r>
            <a:endParaRPr lang="en-GB" dirty="0" smtClean="0"/>
          </a:p>
          <a:p>
            <a:endParaRPr lang="en-GB" dirty="0" smtClean="0"/>
          </a:p>
          <a:p>
            <a:endParaRPr lang="en-GB" dirty="0" smtClean="0"/>
          </a:p>
          <a:p>
            <a:r>
              <a:rPr lang="en-GB" dirty="0" smtClean="0"/>
              <a:t>Source:</a:t>
            </a:r>
          </a:p>
          <a:p>
            <a:pPr marL="171450" indent="-171450">
              <a:buFont typeface="Arial" charset="0"/>
              <a:buChar char="•"/>
            </a:pPr>
            <a:r>
              <a:rPr lang="en-GB" dirty="0" smtClean="0"/>
              <a:t>https://</a:t>
            </a:r>
            <a:r>
              <a:rPr lang="en-GB" dirty="0" err="1" smtClean="0"/>
              <a:t>www.iseg.ulisboa.pt</a:t>
            </a:r>
            <a:r>
              <a:rPr lang="en-GB" dirty="0" smtClean="0"/>
              <a:t>/</a:t>
            </a:r>
            <a:r>
              <a:rPr lang="en-GB" dirty="0" err="1" smtClean="0"/>
              <a:t>aquila</a:t>
            </a:r>
            <a:r>
              <a:rPr lang="en-GB" dirty="0" smtClean="0"/>
              <a:t>/</a:t>
            </a:r>
            <a:r>
              <a:rPr lang="en-GB" dirty="0" err="1" smtClean="0"/>
              <a:t>getFile.do?fileId</a:t>
            </a:r>
            <a:r>
              <a:rPr lang="en-GB" dirty="0" smtClean="0"/>
              <a:t>=530960&amp;method=</a:t>
            </a:r>
            <a:r>
              <a:rPr lang="en-GB" dirty="0" err="1" smtClean="0"/>
              <a:t>getFile</a:t>
            </a:r>
            <a:endParaRPr lang="en-GB" dirty="0" smtClean="0"/>
          </a:p>
          <a:p>
            <a:pPr marL="171450" indent="-171450">
              <a:buFont typeface="Arial" charset="0"/>
              <a:buChar char="•"/>
            </a:pPr>
            <a:r>
              <a:rPr lang="en-GB" dirty="0" smtClean="0"/>
              <a:t>http://</a:t>
            </a:r>
            <a:r>
              <a:rPr lang="en-GB" dirty="0" err="1" smtClean="0"/>
              <a:t>www.portugalglobal.pt</a:t>
            </a:r>
            <a:r>
              <a:rPr lang="en-GB" dirty="0" smtClean="0"/>
              <a:t>/PT/</a:t>
            </a:r>
            <a:r>
              <a:rPr lang="en-GB" dirty="0" err="1" smtClean="0"/>
              <a:t>PortugalNews</a:t>
            </a:r>
            <a:r>
              <a:rPr lang="en-GB" dirty="0" smtClean="0"/>
              <a:t>/</a:t>
            </a:r>
            <a:r>
              <a:rPr lang="en-GB" dirty="0" err="1" smtClean="0"/>
              <a:t>RevistaImprensaNacional</a:t>
            </a:r>
            <a:r>
              <a:rPr lang="en-GB" dirty="0" smtClean="0"/>
              <a:t>/</a:t>
            </a:r>
            <a:r>
              <a:rPr lang="en-GB" dirty="0" err="1" smtClean="0"/>
              <a:t>Investimento</a:t>
            </a:r>
            <a:r>
              <a:rPr lang="en-GB" dirty="0" smtClean="0"/>
              <a:t>/Documents/Prio_DE170315.pdf</a:t>
            </a:r>
          </a:p>
          <a:p>
            <a:pPr marL="171450" indent="-171450">
              <a:buFont typeface="Arial" charset="0"/>
              <a:buChar char="•"/>
            </a:pPr>
            <a:r>
              <a:rPr lang="en-GB" dirty="0" smtClean="0"/>
              <a:t>http://</a:t>
            </a:r>
            <a:r>
              <a:rPr lang="en-GB" dirty="0" err="1" smtClean="0"/>
              <a:t>economico.sapo.pt</a:t>
            </a:r>
            <a:r>
              <a:rPr lang="en-GB" dirty="0" smtClean="0"/>
              <a:t>/</a:t>
            </a:r>
            <a:r>
              <a:rPr lang="en-GB" dirty="0" err="1" smtClean="0"/>
              <a:t>noticias</a:t>
            </a:r>
            <a:r>
              <a:rPr lang="en-GB" dirty="0" smtClean="0"/>
              <a:t>/prio-controla-7-do-mercado-e-ja-faz-sombra-as-grandes-petroliferas_214075.html</a:t>
            </a:r>
          </a:p>
          <a:p>
            <a:pPr marL="171450" indent="-171450">
              <a:buFont typeface="Arial" charset="0"/>
              <a:buChar char="•"/>
            </a:pPr>
            <a:endParaRPr lang="en-GB" dirty="0" smtClean="0"/>
          </a:p>
          <a:p>
            <a:pPr marL="0" indent="0">
              <a:buFont typeface="Arial" charset="0"/>
              <a:buNone/>
            </a:pPr>
            <a:r>
              <a:rPr lang="en-GB" dirty="0" smtClean="0"/>
              <a:t>Was Galp,</a:t>
            </a:r>
            <a:r>
              <a:rPr lang="en-GB" baseline="0" dirty="0" smtClean="0"/>
              <a:t> BP, </a:t>
            </a:r>
            <a:r>
              <a:rPr lang="en-GB" baseline="0" dirty="0" err="1" smtClean="0"/>
              <a:t>Repsol</a:t>
            </a:r>
            <a:r>
              <a:rPr lang="en-GB" baseline="0" dirty="0" smtClean="0"/>
              <a:t> &amp; </a:t>
            </a:r>
            <a:r>
              <a:rPr lang="en-GB" baseline="0" dirty="0" err="1" smtClean="0"/>
              <a:t>Cepsa</a:t>
            </a:r>
            <a:r>
              <a:rPr lang="en-GB" baseline="0" dirty="0" smtClean="0"/>
              <a:t>.</a:t>
            </a:r>
          </a:p>
          <a:p>
            <a:pPr marL="0" indent="0">
              <a:buFont typeface="Arial" charset="0"/>
              <a:buNone/>
            </a:pPr>
            <a:r>
              <a:rPr lang="en-GB" baseline="0" dirty="0" smtClean="0"/>
              <a:t>Market doesn’t move since 50 years!</a:t>
            </a:r>
            <a:endParaRPr lang="en-GB" dirty="0" smtClean="0"/>
          </a:p>
          <a:p>
            <a:pPr marL="171450" indent="-171450">
              <a:buFont typeface="Arial" charset="0"/>
              <a:buChar char="•"/>
            </a:pPr>
            <a:endParaRPr lang="en-GB" dirty="0" smtClean="0"/>
          </a:p>
          <a:p>
            <a:pPr marL="171450" indent="-171450">
              <a:buFont typeface="Arial" charset="0"/>
              <a:buChar char="•"/>
            </a:pPr>
            <a:r>
              <a:rPr lang="en-GB" dirty="0" err="1" smtClean="0"/>
              <a:t>Repsol</a:t>
            </a:r>
            <a:r>
              <a:rPr lang="en-GB" baseline="0" dirty="0" smtClean="0"/>
              <a:t> is in re-structuration, they shouldn’t be able to move quickly.</a:t>
            </a:r>
          </a:p>
          <a:p>
            <a:pPr marL="171450" indent="-171450">
              <a:buFont typeface="Arial" charset="0"/>
              <a:buChar char="•"/>
            </a:pPr>
            <a:r>
              <a:rPr lang="en-GB" baseline="0" dirty="0" smtClean="0"/>
              <a:t>Galp wants to maintain the status-quo.</a:t>
            </a:r>
            <a:endParaRPr lang="en-GB" dirty="0" smtClean="0"/>
          </a:p>
          <a:p>
            <a:endParaRPr lang="en-GB" dirty="0" smtClean="0"/>
          </a:p>
          <a:p>
            <a:r>
              <a:rPr lang="en-GB" sz="1200" b="0" i="0" kern="1200" dirty="0" smtClean="0">
                <a:solidFill>
                  <a:schemeClr val="tx1"/>
                </a:solidFill>
                <a:effectLst/>
                <a:latin typeface="+mn-lt"/>
                <a:ea typeface="+mn-ea"/>
                <a:cs typeface="+mn-cs"/>
              </a:rPr>
              <a:t>Our most important storage unit is located at </a:t>
            </a:r>
            <a:r>
              <a:rPr lang="en-GB" sz="1200" b="0" i="0" kern="1200" dirty="0" err="1" smtClean="0">
                <a:solidFill>
                  <a:schemeClr val="tx1"/>
                </a:solidFill>
                <a:effectLst/>
                <a:latin typeface="+mn-lt"/>
                <a:ea typeface="+mn-ea"/>
                <a:cs typeface="+mn-cs"/>
              </a:rPr>
              <a:t>Sigás</a:t>
            </a:r>
            <a:r>
              <a:rPr lang="en-GB" sz="1200" b="0" i="0" kern="1200" dirty="0" smtClean="0">
                <a:solidFill>
                  <a:schemeClr val="tx1"/>
                </a:solidFill>
                <a:effectLst/>
                <a:latin typeface="+mn-lt"/>
                <a:ea typeface="+mn-ea"/>
                <a:cs typeface="+mn-cs"/>
              </a:rPr>
              <a:t>, where Galp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has a 60% stake in partnership with </a:t>
            </a:r>
            <a:r>
              <a:rPr lang="en-GB" sz="1200" b="0" i="0" kern="1200" dirty="0" err="1" smtClean="0">
                <a:solidFill>
                  <a:schemeClr val="tx1"/>
                </a:solidFill>
                <a:effectLst/>
                <a:latin typeface="+mn-lt"/>
                <a:ea typeface="+mn-ea"/>
                <a:cs typeface="+mn-cs"/>
              </a:rPr>
              <a:t>Rubis</a:t>
            </a:r>
            <a:r>
              <a:rPr lang="en-GB" sz="1200" b="0" i="0" kern="1200" dirty="0" smtClean="0">
                <a:solidFill>
                  <a:schemeClr val="tx1"/>
                </a:solidFill>
                <a:effectLst/>
                <a:latin typeface="+mn-lt"/>
                <a:ea typeface="+mn-ea"/>
                <a:cs typeface="+mn-cs"/>
              </a:rPr>
              <a:t> (35%) and </a:t>
            </a:r>
            <a:r>
              <a:rPr lang="en-GB" sz="1200" b="0" i="0" kern="1200" dirty="0" err="1" smtClean="0">
                <a:solidFill>
                  <a:schemeClr val="tx1"/>
                </a:solidFill>
                <a:effectLst/>
                <a:latin typeface="+mn-lt"/>
                <a:ea typeface="+mn-ea"/>
                <a:cs typeface="+mn-cs"/>
              </a:rPr>
              <a:t>Repsol</a:t>
            </a:r>
            <a:r>
              <a:rPr lang="en-GB" sz="1200" b="0" i="0" kern="1200" dirty="0" smtClean="0">
                <a:solidFill>
                  <a:schemeClr val="tx1"/>
                </a:solidFill>
                <a:effectLst/>
                <a:latin typeface="+mn-lt"/>
                <a:ea typeface="+mn-ea"/>
                <a:cs typeface="+mn-cs"/>
              </a:rPr>
              <a:t> (5%). Galp </a:t>
            </a:r>
            <a:r>
              <a:rPr lang="en-GB" sz="1200" b="0" i="0" kern="1200" dirty="0" err="1" smtClean="0">
                <a:solidFill>
                  <a:schemeClr val="tx1"/>
                </a:solidFill>
                <a:effectLst/>
                <a:latin typeface="+mn-lt"/>
                <a:ea typeface="+mn-ea"/>
                <a:cs typeface="+mn-cs"/>
              </a:rPr>
              <a:t>Energia's</a:t>
            </a:r>
            <a:r>
              <a:rPr lang="en-GB" sz="1200" b="0" i="0" kern="1200" dirty="0" smtClean="0">
                <a:solidFill>
                  <a:schemeClr val="tx1"/>
                </a:solidFill>
                <a:effectLst/>
                <a:latin typeface="+mn-lt"/>
                <a:ea typeface="+mn-ea"/>
                <a:cs typeface="+mn-cs"/>
              </a:rPr>
              <a:t> share in the infrastructures of </a:t>
            </a:r>
            <a:r>
              <a:rPr lang="en-GB" sz="1200" b="0" i="0" kern="1200" dirty="0" err="1" smtClean="0">
                <a:solidFill>
                  <a:schemeClr val="tx1"/>
                </a:solidFill>
                <a:effectLst/>
                <a:latin typeface="+mn-lt"/>
                <a:ea typeface="+mn-ea"/>
                <a:cs typeface="+mn-cs"/>
              </a:rPr>
              <a:t>Sigás</a:t>
            </a:r>
            <a:r>
              <a:rPr lang="en-GB" sz="1200" b="0" i="0" kern="1200" dirty="0" smtClean="0">
                <a:solidFill>
                  <a:schemeClr val="tx1"/>
                </a:solidFill>
                <a:effectLst/>
                <a:latin typeface="+mn-lt"/>
                <a:ea typeface="+mn-ea"/>
                <a:cs typeface="+mn-cs"/>
              </a:rPr>
              <a:t> guarantees a total storage capacity of 34,800 tonnes.</a:t>
            </a:r>
            <a:r>
              <a:rPr lang="en-GB" dirty="0" smtClean="0"/>
              <a:t/>
            </a:r>
            <a:br>
              <a:rPr lang="en-GB" dirty="0" smtClean="0"/>
            </a:br>
            <a:r>
              <a:rPr lang="en-GB" sz="1200" b="0" i="0" kern="1200" dirty="0" smtClean="0">
                <a:solidFill>
                  <a:schemeClr val="tx1"/>
                </a:solidFill>
                <a:effectLst/>
                <a:latin typeface="+mn-lt"/>
                <a:ea typeface="+mn-ea"/>
                <a:cs typeface="+mn-cs"/>
              </a:rPr>
              <a:t> </a:t>
            </a:r>
            <a:r>
              <a:rPr lang="en-GB" dirty="0" smtClean="0"/>
              <a:t/>
            </a:r>
            <a:br>
              <a:rPr lang="en-GB" dirty="0" smtClean="0"/>
            </a:br>
            <a:r>
              <a:rPr lang="en-GB" sz="1200" b="0" i="0" kern="1200" dirty="0" smtClean="0">
                <a:solidFill>
                  <a:schemeClr val="tx1"/>
                </a:solidFill>
                <a:effectLst/>
                <a:latin typeface="+mn-lt"/>
                <a:ea typeface="+mn-ea"/>
                <a:cs typeface="+mn-cs"/>
              </a:rPr>
              <a:t>Galp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has its own LPG-filling infrastructure in Sines and at the </a:t>
            </a:r>
            <a:r>
              <a:rPr lang="en-GB" sz="1200" b="0" i="0" kern="1200" dirty="0" err="1" smtClean="0">
                <a:solidFill>
                  <a:schemeClr val="tx1"/>
                </a:solidFill>
                <a:effectLst/>
                <a:latin typeface="+mn-lt"/>
                <a:ea typeface="+mn-ea"/>
                <a:cs typeface="+mn-cs"/>
              </a:rPr>
              <a:t>Perafita</a:t>
            </a:r>
            <a:r>
              <a:rPr lang="en-GB" sz="1200" b="0" i="0" kern="1200" dirty="0" smtClean="0">
                <a:solidFill>
                  <a:schemeClr val="tx1"/>
                </a:solidFill>
                <a:effectLst/>
                <a:latin typeface="+mn-lt"/>
                <a:ea typeface="+mn-ea"/>
                <a:cs typeface="+mn-cs"/>
              </a:rPr>
              <a:t> park. CLC, in which Galp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has a 65 per cent stake, also has filling infrastructure. This plays an essential role in the logistics of the LPG bottles sub-segment.</a:t>
            </a:r>
            <a:r>
              <a:rPr lang="en-GB" dirty="0" smtClean="0"/>
              <a:t/>
            </a:r>
            <a:br>
              <a:rPr lang="en-GB" dirty="0" smtClean="0"/>
            </a:br>
            <a:r>
              <a:rPr lang="en-GB" sz="1200" b="0" i="0" kern="1200" dirty="0" smtClean="0">
                <a:solidFill>
                  <a:schemeClr val="tx1"/>
                </a:solidFill>
                <a:effectLst/>
                <a:latin typeface="+mn-lt"/>
                <a:ea typeface="+mn-ea"/>
                <a:cs typeface="+mn-cs"/>
              </a:rPr>
              <a:t> </a:t>
            </a:r>
            <a:r>
              <a:rPr lang="en-GB" dirty="0" smtClean="0"/>
              <a:t/>
            </a:r>
            <a:br>
              <a:rPr lang="en-GB" dirty="0" smtClean="0"/>
            </a:br>
            <a:r>
              <a:rPr lang="en-GB" sz="1200" b="0" i="0" kern="1200" dirty="0" smtClean="0">
                <a:solidFill>
                  <a:schemeClr val="tx1"/>
                </a:solidFill>
                <a:effectLst/>
                <a:latin typeface="+mn-lt"/>
                <a:ea typeface="+mn-ea"/>
                <a:cs typeface="+mn-cs"/>
              </a:rPr>
              <a:t>From these three facilities, we deliver LPG in bulk to customers by tank trucks, and LPG bottles by pick-up trucks.</a:t>
            </a:r>
            <a:r>
              <a:rPr lang="en-GB" dirty="0" smtClean="0"/>
              <a:t/>
            </a:r>
            <a:br>
              <a:rPr lang="en-GB" dirty="0" smtClean="0"/>
            </a:br>
            <a:r>
              <a:rPr lang="en-GB" sz="1200" b="0" i="0" kern="1200" dirty="0" smtClean="0">
                <a:solidFill>
                  <a:schemeClr val="tx1"/>
                </a:solidFill>
                <a:effectLst/>
                <a:latin typeface="+mn-lt"/>
                <a:ea typeface="+mn-ea"/>
                <a:cs typeface="+mn-cs"/>
              </a:rPr>
              <a:t>We deliver LPG bottles to 300 resellers across Portugal. These resellers then distribute the bottles to second-line resellers, almost 700 service stations and more than 20,000 points of sale.</a:t>
            </a:r>
          </a:p>
          <a:p>
            <a:endParaRPr lang="en-GB" sz="1200" b="0" i="0" kern="1200" dirty="0" smtClean="0">
              <a:solidFill>
                <a:schemeClr val="tx1"/>
              </a:solidFill>
              <a:effectLst/>
              <a:latin typeface="+mn-lt"/>
              <a:ea typeface="+mn-ea"/>
              <a:cs typeface="+mn-cs"/>
            </a:endParaRPr>
          </a:p>
          <a:p>
            <a:pPr marL="0" indent="0">
              <a:buFont typeface="Arial" charset="0"/>
              <a:buNone/>
            </a:pPr>
            <a:r>
              <a:rPr lang="en-GB" dirty="0" smtClean="0"/>
              <a:t>Some of the companies that supply transport services are:</a:t>
            </a:r>
          </a:p>
          <a:p>
            <a:pPr marL="171450" indent="-171450">
              <a:buFont typeface="Arial" charset="0"/>
              <a:buChar char="•"/>
            </a:pPr>
            <a:r>
              <a:rPr lang="en-GB" dirty="0" err="1" smtClean="0"/>
              <a:t>Transporte</a:t>
            </a:r>
            <a:r>
              <a:rPr lang="en-GB" dirty="0" smtClean="0"/>
              <a:t> </a:t>
            </a:r>
            <a:r>
              <a:rPr lang="en-GB" dirty="0" err="1" smtClean="0"/>
              <a:t>Amaral</a:t>
            </a:r>
            <a:r>
              <a:rPr lang="en-GB" dirty="0" smtClean="0"/>
              <a:t> &amp; Frias, </a:t>
            </a:r>
            <a:r>
              <a:rPr lang="en-GB" dirty="0" err="1" smtClean="0"/>
              <a:t>Lda</a:t>
            </a:r>
            <a:r>
              <a:rPr lang="en-GB" dirty="0" smtClean="0"/>
              <a:t>,</a:t>
            </a:r>
          </a:p>
          <a:p>
            <a:pPr marL="171450" indent="-171450">
              <a:buFont typeface="Arial" charset="0"/>
              <a:buChar char="•"/>
            </a:pPr>
            <a:r>
              <a:rPr lang="en-GB" dirty="0" err="1" smtClean="0"/>
              <a:t>Transportes</a:t>
            </a:r>
            <a:r>
              <a:rPr lang="en-GB" dirty="0" smtClean="0"/>
              <a:t> </a:t>
            </a:r>
            <a:r>
              <a:rPr lang="en-GB" dirty="0" err="1" smtClean="0"/>
              <a:t>Rodoviários</a:t>
            </a:r>
            <a:r>
              <a:rPr lang="en-GB" dirty="0" smtClean="0"/>
              <a:t> J. Barroso, </a:t>
            </a:r>
            <a:r>
              <a:rPr lang="en-GB" dirty="0" err="1" smtClean="0"/>
              <a:t>Lda</a:t>
            </a:r>
            <a:r>
              <a:rPr lang="en-GB" dirty="0" smtClean="0"/>
              <a:t>,</a:t>
            </a:r>
          </a:p>
          <a:p>
            <a:pPr marL="171450" indent="-171450">
              <a:buFont typeface="Arial" charset="0"/>
              <a:buChar char="•"/>
            </a:pPr>
            <a:r>
              <a:rPr lang="en-GB" dirty="0" err="1" smtClean="0"/>
              <a:t>Esporgás</a:t>
            </a:r>
            <a:r>
              <a:rPr lang="en-GB" dirty="0" smtClean="0"/>
              <a:t>, </a:t>
            </a:r>
            <a:r>
              <a:rPr lang="en-GB" dirty="0" err="1" smtClean="0"/>
              <a:t>Lda</a:t>
            </a:r>
            <a:r>
              <a:rPr lang="en-GB" dirty="0" smtClean="0"/>
              <a:t>, </a:t>
            </a:r>
            <a:r>
              <a:rPr lang="en-GB" dirty="0" err="1" smtClean="0"/>
              <a:t>Camionagem</a:t>
            </a:r>
            <a:r>
              <a:rPr lang="en-GB" dirty="0" smtClean="0"/>
              <a:t> Central de </a:t>
            </a:r>
            <a:r>
              <a:rPr lang="en-GB" dirty="0" err="1" smtClean="0"/>
              <a:t>Cheleiros</a:t>
            </a:r>
            <a:r>
              <a:rPr lang="en-GB" dirty="0" smtClean="0"/>
              <a:t>, </a:t>
            </a:r>
            <a:r>
              <a:rPr lang="en-GB" dirty="0" err="1" smtClean="0"/>
              <a:t>Lda</a:t>
            </a:r>
            <a:r>
              <a:rPr lang="en-GB" dirty="0" smtClean="0"/>
              <a:t>,</a:t>
            </a:r>
          </a:p>
          <a:p>
            <a:pPr marL="171450" indent="-171450">
              <a:buFont typeface="Arial" charset="0"/>
              <a:buChar char="•"/>
            </a:pPr>
            <a:r>
              <a:rPr lang="en-GB" dirty="0" err="1" smtClean="0"/>
              <a:t>Transportes</a:t>
            </a:r>
            <a:r>
              <a:rPr lang="en-GB" dirty="0" smtClean="0"/>
              <a:t> </a:t>
            </a:r>
            <a:r>
              <a:rPr lang="en-GB" dirty="0" err="1" smtClean="0"/>
              <a:t>Rodoviários</a:t>
            </a:r>
            <a:r>
              <a:rPr lang="en-GB" dirty="0" smtClean="0"/>
              <a:t> Monte da </a:t>
            </a:r>
            <a:r>
              <a:rPr lang="en-GB" dirty="0" err="1" smtClean="0"/>
              <a:t>Caparica</a:t>
            </a:r>
            <a:r>
              <a:rPr lang="en-GB" dirty="0" smtClean="0"/>
              <a:t>, </a:t>
            </a:r>
            <a:r>
              <a:rPr lang="en-GB" dirty="0" err="1" smtClean="0"/>
              <a:t>Lda</a:t>
            </a:r>
            <a:r>
              <a:rPr lang="en-GB" dirty="0" smtClean="0"/>
              <a:t>,</a:t>
            </a:r>
          </a:p>
          <a:p>
            <a:pPr marL="171450" indent="-171450">
              <a:buFont typeface="Arial" charset="0"/>
              <a:buChar char="•"/>
            </a:pPr>
            <a:r>
              <a:rPr lang="en-GB" dirty="0" err="1" smtClean="0"/>
              <a:t>Transportes</a:t>
            </a:r>
            <a:r>
              <a:rPr lang="en-GB" dirty="0" smtClean="0"/>
              <a:t> Paulo Duarte, </a:t>
            </a:r>
            <a:r>
              <a:rPr lang="en-GB" dirty="0" err="1" smtClean="0"/>
              <a:t>Lda</a:t>
            </a:r>
            <a:endParaRPr lang="en-GB" dirty="0" smtClean="0"/>
          </a:p>
          <a:p>
            <a:pPr marL="171450" indent="-171450">
              <a:buFont typeface="Arial" charset="0"/>
              <a:buChar char="•"/>
            </a:pPr>
            <a:r>
              <a:rPr lang="en-GB" dirty="0" err="1" smtClean="0"/>
              <a:t>Transportes</a:t>
            </a:r>
            <a:r>
              <a:rPr lang="en-GB" dirty="0" smtClean="0"/>
              <a:t> </a:t>
            </a:r>
            <a:r>
              <a:rPr lang="en-GB" dirty="0" err="1" smtClean="0"/>
              <a:t>Rodoviários</a:t>
            </a:r>
            <a:r>
              <a:rPr lang="en-GB" dirty="0" smtClean="0"/>
              <a:t> de </a:t>
            </a:r>
            <a:r>
              <a:rPr lang="en-GB" dirty="0" err="1" smtClean="0"/>
              <a:t>Mercadorias</a:t>
            </a:r>
            <a:r>
              <a:rPr lang="en-GB" dirty="0" smtClean="0"/>
              <a:t> da </a:t>
            </a:r>
            <a:r>
              <a:rPr lang="en-GB" dirty="0" err="1" smtClean="0"/>
              <a:t>Agueira</a:t>
            </a:r>
            <a:r>
              <a:rPr lang="en-GB" dirty="0" smtClean="0"/>
              <a:t>, </a:t>
            </a:r>
            <a:r>
              <a:rPr lang="en-GB" dirty="0" err="1" smtClean="0"/>
              <a:t>Lda</a:t>
            </a:r>
            <a:r>
              <a:rPr lang="en-GB" dirty="0" smtClean="0"/>
              <a:t>.</a:t>
            </a:r>
          </a:p>
          <a:p>
            <a:pPr marL="171450" indent="-171450">
              <a:buFont typeface="Arial" charset="0"/>
              <a:buChar char="•"/>
            </a:pPr>
            <a:endParaRPr lang="en-GB" dirty="0" smtClean="0"/>
          </a:p>
          <a:p>
            <a:pPr marL="0" indent="0">
              <a:buFont typeface="Arial" charset="0"/>
              <a:buNone/>
            </a:pPr>
            <a:r>
              <a:rPr lang="en-GB" dirty="0" smtClean="0"/>
              <a:t>Normally the cost of secondary transport between the supply point and the distributor’s storage units is covered by the suppliers and downstream the cost is factored into the price charged to the customer.</a:t>
            </a:r>
          </a:p>
          <a:p>
            <a:pPr marL="0" indent="0">
              <a:buFont typeface="Arial" charset="0"/>
              <a:buNone/>
            </a:pPr>
            <a:endParaRPr lang="en-GB" dirty="0" smtClean="0"/>
          </a:p>
          <a:p>
            <a:pPr marL="0" indent="0">
              <a:buFont typeface="Arial" charset="0"/>
              <a:buNone/>
            </a:pPr>
            <a:r>
              <a:rPr lang="en-GB" dirty="0" smtClean="0"/>
              <a:t>Butane and propane in bottle is sold through a network of first line distributors, who set the prices of the product on the basis of purchase prices and the specific situations in the area where they sell. The wholesalers are supplied by the oil companies as per the orders they put in and are bound by contracts that provide for technical and commercial support, equipment on a no-charge basis (especially the bottles themselves), measuring and illustrational equipment (for example display units for their point of sale, connectors, rubber tubing and clips). The contract also in many cases includes management software that is specific for sales of bottled LPG. In terms of the four companies - Galp, Esso, </a:t>
            </a:r>
            <a:r>
              <a:rPr lang="en-GB" dirty="0" err="1" smtClean="0"/>
              <a:t>Repsol</a:t>
            </a:r>
            <a:r>
              <a:rPr lang="en-GB" dirty="0" smtClean="0"/>
              <a:t> and BP – they have around 1,000 first line distributors in Portugal.</a:t>
            </a:r>
            <a:br>
              <a:rPr lang="en-GB" dirty="0" smtClean="0"/>
            </a:br>
            <a:r>
              <a:rPr lang="en-GB" dirty="0" smtClean="0"/>
              <a:t/>
            </a:r>
            <a:br>
              <a:rPr lang="en-GB" dirty="0" smtClean="0"/>
            </a:br>
            <a:r>
              <a:rPr lang="en-GB" dirty="0" smtClean="0"/>
              <a:t>The contractual relationships between the suppliers and the first line distributors are governed by supply contracts. In general, these contracts contain the following terms:</a:t>
            </a:r>
            <a:br>
              <a:rPr lang="en-GB" dirty="0" smtClean="0"/>
            </a:br>
            <a:r>
              <a:rPr lang="en-GB" dirty="0" smtClean="0"/>
              <a:t>(</a:t>
            </a:r>
            <a:r>
              <a:rPr lang="en-GB" dirty="0" err="1" smtClean="0"/>
              <a:t>i</a:t>
            </a:r>
            <a:r>
              <a:rPr lang="en-GB" dirty="0" smtClean="0"/>
              <a:t>) they are exclusive, with demarcation of specific geographical areas;</a:t>
            </a:r>
            <a:br>
              <a:rPr lang="en-GB" dirty="0" smtClean="0"/>
            </a:br>
            <a:r>
              <a:rPr lang="en-GB" dirty="0" smtClean="0"/>
              <a:t>(ii) the first line distributors can use their own network of second line distributors;</a:t>
            </a:r>
            <a:br>
              <a:rPr lang="en-GB" dirty="0" smtClean="0"/>
            </a:br>
            <a:r>
              <a:rPr lang="en-GB" dirty="0" smtClean="0"/>
              <a:t>(iii) the bottles of LPG, the pallets for transport and display and advertising material belong to the supplier;</a:t>
            </a:r>
            <a:br>
              <a:rPr lang="en-GB" dirty="0" smtClean="0"/>
            </a:br>
            <a:r>
              <a:rPr lang="en-GB" dirty="0" smtClean="0"/>
              <a:t>(iv) the products are normally delivered to the warehouse of the first line distributors, and these must have licenced premises in accordance with the standards in force and</a:t>
            </a:r>
            <a:br>
              <a:rPr lang="en-GB" dirty="0" smtClean="0"/>
            </a:br>
            <a:r>
              <a:rPr lang="en-GB" dirty="0" smtClean="0"/>
              <a:t>(v) the offloading of the bottles of butane and propane is to the account and at the responsibility of the first line distributors. </a:t>
            </a:r>
          </a:p>
          <a:p>
            <a:pPr marL="0" indent="0">
              <a:buFont typeface="Arial" charset="0"/>
              <a:buNone/>
            </a:pPr>
            <a:endParaRPr lang="en-GB" dirty="0" smtClean="0"/>
          </a:p>
          <a:p>
            <a:pPr marL="0" indent="0">
              <a:buFont typeface="Arial" charset="0"/>
              <a:buNone/>
            </a:pPr>
            <a:r>
              <a:rPr lang="en-GB" dirty="0" smtClean="0"/>
              <a:t>(Source: http://</a:t>
            </a:r>
            <a:r>
              <a:rPr lang="en-GB" dirty="0" err="1" smtClean="0"/>
              <a:t>www.concorrencia.pt</a:t>
            </a:r>
            <a:r>
              <a:rPr lang="en-GB" dirty="0" smtClean="0"/>
              <a:t>/</a:t>
            </a:r>
            <a:r>
              <a:rPr lang="en-GB" dirty="0" err="1" smtClean="0"/>
              <a:t>vEN</a:t>
            </a:r>
            <a:r>
              <a:rPr lang="en-GB" dirty="0" smtClean="0"/>
              <a:t>/</a:t>
            </a:r>
            <a:r>
              <a:rPr lang="en-GB" dirty="0" err="1" smtClean="0"/>
              <a:t>Estudos_e_Publicacoes</a:t>
            </a:r>
            <a:r>
              <a:rPr lang="en-GB" dirty="0" smtClean="0"/>
              <a:t>/</a:t>
            </a:r>
            <a:r>
              <a:rPr lang="en-GB" dirty="0" err="1" smtClean="0"/>
              <a:t>Estudos_Economicos</a:t>
            </a:r>
            <a:r>
              <a:rPr lang="en-GB" dirty="0" smtClean="0"/>
              <a:t>/</a:t>
            </a:r>
            <a:r>
              <a:rPr lang="en-GB" dirty="0" err="1" smtClean="0"/>
              <a:t>Energia_e_Combustiveis</a:t>
            </a:r>
            <a:r>
              <a:rPr lang="en-GB" dirty="0" smtClean="0"/>
              <a:t>/Documents/Final_Report_on_Liquid_and_Gas_Fuels_March_2009_English_version.pdf)</a:t>
            </a:r>
          </a:p>
          <a:p>
            <a:pPr marL="0" indent="0">
              <a:buFont typeface="Arial" charset="0"/>
              <a:buNone/>
            </a:pPr>
            <a:endParaRPr lang="en-GB" dirty="0" smtClean="0"/>
          </a:p>
          <a:p>
            <a:pPr marL="0" indent="0">
              <a:buFont typeface="Arial" charset="0"/>
              <a:buNone/>
            </a:pP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10</a:t>
            </a:fld>
            <a:endParaRPr lang="en-GB"/>
          </a:p>
        </p:txBody>
      </p:sp>
    </p:spTree>
    <p:extLst>
      <p:ext uri="{BB962C8B-B14F-4D97-AF65-F5344CB8AC3E}">
        <p14:creationId xmlns:p14="http://schemas.microsoft.com/office/powerpoint/2010/main" val="1874662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mtClean="0"/>
              <a:t>Additional value could eventually be captured</a:t>
            </a:r>
            <a:r>
              <a:rPr lang="en-GB" baseline="0" smtClean="0"/>
              <a:t> by serving as a buffer between customer and distributers by insuring that final customer is getting the value equivalent to the gas left in the cylinder back and negotiating with distributers.</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sz="1200" smtClean="0"/>
              <a:t>Average of 300 gr per cylinder is unconsumed which amount to </a:t>
            </a:r>
            <a:r>
              <a:rPr lang="en-GB" sz="1200" b="1" smtClean="0">
                <a:solidFill>
                  <a:srgbClr val="FFFF00"/>
                </a:solidFill>
              </a:rPr>
              <a:t>72 € </a:t>
            </a:r>
            <a:r>
              <a:rPr lang="en-GB" sz="1200" smtClean="0"/>
              <a:t>year</a:t>
            </a:r>
          </a:p>
          <a:p>
            <a:endParaRPr lang="en-GB"/>
          </a:p>
        </p:txBody>
      </p:sp>
      <p:sp>
        <p:nvSpPr>
          <p:cNvPr id="4" name="Slide Number Placeholder 3"/>
          <p:cNvSpPr>
            <a:spLocks noGrp="1"/>
          </p:cNvSpPr>
          <p:nvPr>
            <p:ph type="sldNum" sz="quarter" idx="10"/>
          </p:nvPr>
        </p:nvSpPr>
        <p:spPr/>
        <p:txBody>
          <a:bodyPr/>
          <a:lstStyle/>
          <a:p>
            <a:fld id="{21CD3B65-C00C-BF43-8F7A-9C8E67DE6347}" type="slidenum">
              <a:rPr lang="en-GB" smtClean="0"/>
              <a:t>11</a:t>
            </a:fld>
            <a:endParaRPr lang="en-GB"/>
          </a:p>
        </p:txBody>
      </p:sp>
    </p:spTree>
    <p:extLst>
      <p:ext uri="{BB962C8B-B14F-4D97-AF65-F5344CB8AC3E}">
        <p14:creationId xmlns:p14="http://schemas.microsoft.com/office/powerpoint/2010/main" val="1947614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0"/>
              </a:spcBef>
              <a:spcAft>
                <a:spcPts val="2400"/>
              </a:spcAft>
              <a:buFont typeface="Arial" charset="0"/>
              <a:buNone/>
            </a:pPr>
            <a:r>
              <a:rPr lang="en-GB" sz="1200" dirty="0" smtClean="0">
                <a:solidFill>
                  <a:schemeClr val="bg1"/>
                </a:solidFill>
                <a:effectLst>
                  <a:outerShdw blurRad="50800" dist="76200" dir="2700000" algn="tl" rotWithShape="0">
                    <a:prstClr val="black">
                      <a:alpha val="40000"/>
                    </a:prstClr>
                  </a:outerShdw>
                </a:effectLst>
              </a:rPr>
              <a:t>Beside</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LPG </a:t>
            </a:r>
            <a:r>
              <a:rPr lang="en-GB" sz="1200" b="1" dirty="0" smtClean="0">
                <a:solidFill>
                  <a:srgbClr val="57CABF"/>
                </a:solidFill>
                <a:effectLst>
                  <a:outerShdw blurRad="50800" dist="76200" dir="2700000" algn="tl" rotWithShape="0">
                    <a:prstClr val="black">
                      <a:alpha val="40000"/>
                    </a:prstClr>
                  </a:outerShdw>
                </a:effectLst>
              </a:rPr>
              <a:t>brands</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Gas cylinders</a:t>
            </a:r>
            <a:r>
              <a:rPr lang="en-GB" sz="1200" dirty="0" smtClean="0">
                <a:effectLst>
                  <a:outerShdw blurRad="50800" dist="76200" dir="2700000" algn="tl" rotWithShape="0">
                    <a:prstClr val="black">
                      <a:alpha val="40000"/>
                    </a:prstClr>
                  </a:outerShdw>
                </a:effectLst>
              </a:rPr>
              <a:t> </a:t>
            </a:r>
            <a:r>
              <a:rPr lang="en-GB" sz="1200" b="1" dirty="0" smtClean="0">
                <a:solidFill>
                  <a:srgbClr val="57CABF"/>
                </a:solidFill>
                <a:effectLst>
                  <a:outerShdw blurRad="50800" dist="76200" dir="2700000" algn="tl" rotWithShape="0">
                    <a:prstClr val="black">
                      <a:alpha val="40000"/>
                    </a:prstClr>
                  </a:outerShdw>
                </a:effectLst>
              </a:rPr>
              <a:t>manufacturers</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M2M / </a:t>
            </a:r>
            <a:r>
              <a:rPr lang="en-GB" sz="1200" b="1" dirty="0" smtClean="0">
                <a:solidFill>
                  <a:srgbClr val="57CABF"/>
                </a:solidFill>
                <a:effectLst>
                  <a:outerShdw blurRad="50800" dist="76200" dir="2700000" algn="tl" rotWithShape="0">
                    <a:prstClr val="black">
                      <a:alpha val="40000"/>
                    </a:prstClr>
                  </a:outerShdw>
                </a:effectLst>
              </a:rPr>
              <a:t>Telemetry</a:t>
            </a:r>
            <a:r>
              <a:rPr lang="en-GB" sz="1200" dirty="0" smtClean="0">
                <a:effectLst>
                  <a:outerShdw blurRad="50800" dist="76200" dir="2700000" algn="tl" rotWithShape="0">
                    <a:prstClr val="black">
                      <a:alpha val="40000"/>
                    </a:prstClr>
                  </a:outerShdw>
                </a:effectLst>
              </a:rPr>
              <a:t> </a:t>
            </a:r>
            <a:r>
              <a:rPr lang="en-GB" sz="1200" dirty="0" smtClean="0">
                <a:solidFill>
                  <a:schemeClr val="bg1"/>
                </a:solidFill>
                <a:effectLst>
                  <a:outerShdw blurRad="50800" dist="76200" dir="2700000" algn="tl" rotWithShape="0">
                    <a:prstClr val="black">
                      <a:alpha val="40000"/>
                    </a:prstClr>
                  </a:outerShdw>
                </a:effectLst>
              </a:rPr>
              <a:t>specialist</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Other</a:t>
            </a:r>
            <a:r>
              <a:rPr lang="en-GB" sz="1200" dirty="0" smtClean="0">
                <a:effectLst>
                  <a:outerShdw blurRad="50800" dist="76200" dir="2700000" algn="tl" rotWithShape="0">
                    <a:prstClr val="black">
                      <a:alpha val="40000"/>
                    </a:prstClr>
                  </a:outerShdw>
                </a:effectLst>
              </a:rPr>
              <a:t> </a:t>
            </a:r>
            <a:r>
              <a:rPr lang="en-GB" sz="1200" b="1" dirty="0" err="1" smtClean="0">
                <a:solidFill>
                  <a:srgbClr val="57CABF"/>
                </a:solidFill>
                <a:effectLst>
                  <a:outerShdw blurRad="50800" dist="76200" dir="2700000" algn="tl" rotWithShape="0">
                    <a:prstClr val="black">
                      <a:alpha val="40000"/>
                    </a:prstClr>
                  </a:outerShdw>
                </a:effectLst>
              </a:rPr>
              <a:t>Nesto’s</a:t>
            </a:r>
            <a:r>
              <a:rPr lang="en-GB" sz="1200" b="1" dirty="0" smtClean="0">
                <a:solidFill>
                  <a:schemeClr val="bg1"/>
                </a:solidFill>
                <a:effectLst>
                  <a:outerShdw blurRad="50800" dist="76200" dir="2700000" algn="tl" rotWithShape="0">
                    <a:prstClr val="black">
                      <a:alpha val="40000"/>
                    </a:prstClr>
                  </a:outerShdw>
                </a:effectLst>
              </a:rPr>
              <a:t>?</a:t>
            </a:r>
          </a:p>
          <a:p>
            <a:r>
              <a:rPr lang="en-GB" sz="1200" b="0" i="0" kern="1200" dirty="0" smtClean="0">
                <a:solidFill>
                  <a:schemeClr val="tx1"/>
                </a:solidFill>
                <a:effectLst/>
                <a:latin typeface="+mn-lt"/>
                <a:ea typeface="+mn-ea"/>
                <a:cs typeface="+mn-cs"/>
              </a:rPr>
              <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About transparent cylinders:</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COMET cylinder is not transparent, avoiding the impression caused on end customers when ob­serv­ing the liquid gas vaporization (boiling) and noticing the gas residue when the cylinder is “empty”.</a:t>
            </a:r>
            <a:endParaRPr lang="en-GB" b="1" dirty="0"/>
          </a:p>
        </p:txBody>
      </p:sp>
      <p:sp>
        <p:nvSpPr>
          <p:cNvPr id="4" name="Slide Number Placeholder 3"/>
          <p:cNvSpPr>
            <a:spLocks noGrp="1"/>
          </p:cNvSpPr>
          <p:nvPr>
            <p:ph type="sldNum" sz="quarter" idx="10"/>
          </p:nvPr>
        </p:nvSpPr>
        <p:spPr/>
        <p:txBody>
          <a:bodyPr/>
          <a:lstStyle/>
          <a:p>
            <a:fld id="{21CD3B65-C00C-BF43-8F7A-9C8E67DE6347}" type="slidenum">
              <a:rPr lang="en-GB" smtClean="0"/>
              <a:t>12</a:t>
            </a:fld>
            <a:endParaRPr lang="en-GB"/>
          </a:p>
        </p:txBody>
      </p:sp>
    </p:spTree>
    <p:extLst>
      <p:ext uri="{BB962C8B-B14F-4D97-AF65-F5344CB8AC3E}">
        <p14:creationId xmlns:p14="http://schemas.microsoft.com/office/powerpoint/2010/main" val="1921490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mtClean="0"/>
              <a:t>Unoccupied space, but for how long?</a:t>
            </a:r>
            <a:endParaRPr lang="en-GB"/>
          </a:p>
        </p:txBody>
      </p:sp>
      <p:sp>
        <p:nvSpPr>
          <p:cNvPr id="4" name="Slide Number Placeholder 3"/>
          <p:cNvSpPr>
            <a:spLocks noGrp="1"/>
          </p:cNvSpPr>
          <p:nvPr>
            <p:ph type="sldNum" sz="quarter" idx="10"/>
          </p:nvPr>
        </p:nvSpPr>
        <p:spPr/>
        <p:txBody>
          <a:bodyPr/>
          <a:lstStyle/>
          <a:p>
            <a:fld id="{21CD3B65-C00C-BF43-8F7A-9C8E67DE6347}" type="slidenum">
              <a:rPr lang="en-GB" smtClean="0"/>
              <a:t>13</a:t>
            </a:fld>
            <a:endParaRPr lang="en-GB"/>
          </a:p>
        </p:txBody>
      </p:sp>
    </p:spTree>
    <p:extLst>
      <p:ext uri="{BB962C8B-B14F-4D97-AF65-F5344CB8AC3E}">
        <p14:creationId xmlns:p14="http://schemas.microsoft.com/office/powerpoint/2010/main" val="916751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smtClean="0"/>
              <a:t>Mention Nanotech</a:t>
            </a:r>
          </a:p>
          <a:p>
            <a:pPr marL="228600" indent="-228600">
              <a:buAutoNum type="arabicPeriod"/>
            </a:pPr>
            <a:r>
              <a:rPr lang="en-GB" dirty="0" smtClean="0"/>
              <a:t>Speak of complete view of the logistics system</a:t>
            </a:r>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14</a:t>
            </a:fld>
            <a:endParaRPr lang="en-GB"/>
          </a:p>
        </p:txBody>
      </p:sp>
    </p:spTree>
    <p:extLst>
      <p:ext uri="{BB962C8B-B14F-4D97-AF65-F5344CB8AC3E}">
        <p14:creationId xmlns:p14="http://schemas.microsoft.com/office/powerpoint/2010/main" val="692379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15</a:t>
            </a:fld>
            <a:endParaRPr lang="en-GB"/>
          </a:p>
        </p:txBody>
      </p:sp>
    </p:spTree>
    <p:extLst>
      <p:ext uri="{BB962C8B-B14F-4D97-AF65-F5344CB8AC3E}">
        <p14:creationId xmlns:p14="http://schemas.microsoft.com/office/powerpoint/2010/main" val="1356714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smtClean="0"/>
              <a:t>Accepted</a:t>
            </a:r>
            <a:r>
              <a:rPr lang="en-GB" baseline="0" dirty="0" smtClean="0"/>
              <a:t> by </a:t>
            </a:r>
            <a:r>
              <a:rPr lang="en-GB" baseline="0" dirty="0" err="1" smtClean="0"/>
              <a:t>BrightPixel</a:t>
            </a:r>
            <a:endParaRPr lang="en-GB" baseline="0" dirty="0" smtClean="0"/>
          </a:p>
          <a:p>
            <a:pPr marL="171450" indent="-171450">
              <a:buFontTx/>
              <a:buChar char="-"/>
            </a:pPr>
            <a:r>
              <a:rPr lang="en-GB" baseline="0" dirty="0" smtClean="0"/>
              <a:t>Accepted by Vodafone </a:t>
            </a:r>
            <a:r>
              <a:rPr lang="en-GB" baseline="0" dirty="0" err="1" smtClean="0"/>
              <a:t>PowerLab</a:t>
            </a:r>
            <a:endParaRPr lang="en-GB" baseline="0" dirty="0" smtClean="0"/>
          </a:p>
          <a:p>
            <a:pPr marL="171450" indent="-171450">
              <a:buFontTx/>
              <a:buChar char="-"/>
            </a:pPr>
            <a:r>
              <a:rPr lang="en-GB" baseline="0" dirty="0" smtClean="0"/>
              <a:t>EDP is watching us</a:t>
            </a:r>
          </a:p>
          <a:p>
            <a:pPr marL="171450" indent="-171450">
              <a:buFontTx/>
              <a:buChar char="-"/>
            </a:pPr>
            <a:r>
              <a:rPr lang="en-GB" baseline="0" dirty="0" smtClean="0"/>
              <a:t>Alpha Pass Summit from MEO</a:t>
            </a:r>
          </a:p>
          <a:p>
            <a:pPr marL="171450" indent="-171450">
              <a:buFontTx/>
              <a:buChar char="-"/>
            </a:pPr>
            <a:r>
              <a:rPr lang="en-GB" dirty="0" smtClean="0"/>
              <a:t>Founder Institute in October</a:t>
            </a:r>
          </a:p>
          <a:p>
            <a:pPr marL="171450" indent="-171450">
              <a:buFontTx/>
              <a:buChar char="-"/>
            </a:pPr>
            <a:r>
              <a:rPr lang="en-GB" dirty="0" smtClean="0"/>
              <a:t>Invited</a:t>
            </a:r>
            <a:r>
              <a:rPr lang="en-GB" baseline="0" dirty="0" smtClean="0"/>
              <a:t> by </a:t>
            </a:r>
            <a:r>
              <a:rPr lang="en-GB" baseline="0" dirty="0" err="1" smtClean="0"/>
              <a:t>HWTrek</a:t>
            </a:r>
            <a:r>
              <a:rPr lang="en-GB" baseline="0" dirty="0" smtClean="0"/>
              <a:t> to Asian Tour</a:t>
            </a:r>
          </a:p>
          <a:p>
            <a:pPr marL="171450" indent="-171450">
              <a:buFontTx/>
              <a:buChar char="-"/>
            </a:pP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16</a:t>
            </a:fld>
            <a:endParaRPr lang="en-GB"/>
          </a:p>
        </p:txBody>
      </p:sp>
    </p:spTree>
    <p:extLst>
      <p:ext uri="{BB962C8B-B14F-4D97-AF65-F5344CB8AC3E}">
        <p14:creationId xmlns:p14="http://schemas.microsoft.com/office/powerpoint/2010/main" val="1571090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smtClean="0"/>
              <a:t>Will organize a working weekend</a:t>
            </a:r>
            <a:r>
              <a:rPr lang="en-GB" baseline="0" dirty="0" smtClean="0"/>
              <a:t> to gather all CEO’s partners.</a:t>
            </a:r>
            <a:endParaRPr lang="en-GB" dirty="0" smtClean="0"/>
          </a:p>
          <a:p>
            <a:pPr marL="228600" indent="-228600">
              <a:buAutoNum type="arabicPeriod"/>
            </a:pPr>
            <a:r>
              <a:rPr lang="en-GB" dirty="0" smtClean="0"/>
              <a:t>Smart</a:t>
            </a:r>
            <a:r>
              <a:rPr lang="en-GB" baseline="0" dirty="0" smtClean="0"/>
              <a:t> algorithm to propose delivery time where the user is likely to be at home.</a:t>
            </a:r>
            <a:endParaRPr lang="en-GB" dirty="0" smtClean="0"/>
          </a:p>
          <a:p>
            <a:pPr marL="228600" indent="-228600">
              <a:buFont typeface="+mj-lt"/>
              <a:buAutoNum type="arabicPeriod"/>
            </a:pPr>
            <a:r>
              <a:rPr lang="en-GB" dirty="0" smtClean="0"/>
              <a:t>Other partnership.</a:t>
            </a:r>
            <a:br>
              <a:rPr lang="en-GB" dirty="0" smtClean="0"/>
            </a:br>
            <a:r>
              <a:rPr lang="en-GB" dirty="0" smtClean="0"/>
              <a:t>- </a:t>
            </a:r>
            <a:r>
              <a:rPr lang="en-GB" baseline="0" dirty="0" err="1" smtClean="0"/>
              <a:t>Nanolike</a:t>
            </a:r>
            <a:r>
              <a:rPr lang="en-GB" baseline="0" dirty="0" smtClean="0"/>
              <a:t/>
            </a:r>
            <a:br>
              <a:rPr lang="en-GB" baseline="0" dirty="0" smtClean="0"/>
            </a:br>
            <a:r>
              <a:rPr lang="en-GB" baseline="0" dirty="0" smtClean="0"/>
              <a:t>- </a:t>
            </a:r>
            <a:r>
              <a:rPr lang="en-GB" baseline="0" dirty="0" err="1" smtClean="0"/>
              <a:t>Connit</a:t>
            </a:r>
            <a:r>
              <a:rPr lang="en-GB" baseline="0" dirty="0" smtClean="0"/>
              <a:t> &amp; </a:t>
            </a:r>
            <a:r>
              <a:rPr lang="en-GB" baseline="0" dirty="0" err="1" smtClean="0"/>
              <a:t>Gazbox</a:t>
            </a:r>
            <a:r>
              <a:rPr lang="en-GB" baseline="0" dirty="0" smtClean="0"/>
              <a:t/>
            </a:r>
            <a:br>
              <a:rPr lang="en-GB" baseline="0" dirty="0" smtClean="0"/>
            </a:br>
            <a:r>
              <a:rPr lang="en-GB" baseline="0" dirty="0" smtClean="0"/>
              <a:t>- </a:t>
            </a:r>
            <a:r>
              <a:rPr lang="en-GB" dirty="0" smtClean="0"/>
              <a:t>NTU</a:t>
            </a:r>
            <a:r>
              <a:rPr lang="en-GB" baseline="0" dirty="0" smtClean="0"/>
              <a:t> </a:t>
            </a:r>
            <a:r>
              <a:rPr lang="pt-PT" baseline="0" dirty="0" smtClean="0"/>
              <a:t>(</a:t>
            </a:r>
            <a:r>
              <a:rPr lang="en-GB" baseline="0" dirty="0" smtClean="0"/>
              <a:t>Singapore)</a:t>
            </a:r>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17</a:t>
            </a:fld>
            <a:endParaRPr lang="en-GB" dirty="0"/>
          </a:p>
        </p:txBody>
      </p:sp>
    </p:spTree>
    <p:extLst>
      <p:ext uri="{BB962C8B-B14F-4D97-AF65-F5344CB8AC3E}">
        <p14:creationId xmlns:p14="http://schemas.microsoft.com/office/powerpoint/2010/main" val="1088218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Explain that Pedro is a</a:t>
            </a:r>
            <a:r>
              <a:rPr lang="en-GB" baseline="0" dirty="0" smtClean="0"/>
              <a:t> temporary member.</a:t>
            </a:r>
          </a:p>
          <a:p>
            <a:r>
              <a:rPr lang="en-GB" baseline="0" dirty="0" smtClean="0"/>
              <a:t>Plan to find a suitable CFO is to follow the Founder Institute session that will start in October 2016 and end in Jan 2017.</a:t>
            </a: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18</a:t>
            </a:fld>
            <a:endParaRPr lang="en-GB"/>
          </a:p>
        </p:txBody>
      </p:sp>
    </p:spTree>
    <p:extLst>
      <p:ext uri="{BB962C8B-B14F-4D97-AF65-F5344CB8AC3E}">
        <p14:creationId xmlns:p14="http://schemas.microsoft.com/office/powerpoint/2010/main" val="1438539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Will organize a working weekend</a:t>
            </a:r>
            <a:r>
              <a:rPr lang="en-GB" baseline="0" dirty="0" smtClean="0"/>
              <a:t> to gather all CEO’s partners </a:t>
            </a:r>
            <a:r>
              <a:rPr lang="en-GB" dirty="0" smtClean="0"/>
              <a:t/>
            </a:r>
            <a:br>
              <a:rPr lang="en-GB" dirty="0" smtClean="0"/>
            </a:br>
            <a:r>
              <a:rPr lang="en-GB" dirty="0" smtClean="0"/>
              <a:t>NTU</a:t>
            </a:r>
            <a:r>
              <a:rPr lang="en-GB" baseline="0" dirty="0" smtClean="0"/>
              <a:t> </a:t>
            </a:r>
            <a:r>
              <a:rPr lang="mr-IN" baseline="0" dirty="0" smtClean="0"/>
              <a:t>–</a:t>
            </a:r>
            <a:r>
              <a:rPr lang="en-GB" baseline="0" dirty="0" smtClean="0"/>
              <a:t> Singapore</a:t>
            </a:r>
          </a:p>
          <a:p>
            <a:r>
              <a:rPr lang="en-GB" baseline="0" dirty="0" err="1" smtClean="0"/>
              <a:t>Nanolike</a:t>
            </a:r>
            <a:endParaRPr lang="en-GB" baseline="0" dirty="0" smtClean="0"/>
          </a:p>
          <a:p>
            <a:r>
              <a:rPr lang="en-GB" baseline="0" dirty="0" smtClean="0"/>
              <a:t>CONNIT &amp; </a:t>
            </a:r>
            <a:r>
              <a:rPr lang="en-GB" baseline="0" dirty="0" err="1" smtClean="0"/>
              <a:t>Gazbox</a:t>
            </a:r>
            <a:endParaRPr lang="en-GB" baseline="0" dirty="0" smtClean="0"/>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19</a:t>
            </a:fld>
            <a:endParaRPr lang="en-GB" dirty="0"/>
          </a:p>
        </p:txBody>
      </p:sp>
    </p:spTree>
    <p:extLst>
      <p:ext uri="{BB962C8B-B14F-4D97-AF65-F5344CB8AC3E}">
        <p14:creationId xmlns:p14="http://schemas.microsoft.com/office/powerpoint/2010/main" val="1131330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Will organize a working weekend</a:t>
            </a:r>
            <a:r>
              <a:rPr lang="en-GB" baseline="0" dirty="0" smtClean="0"/>
              <a:t> to gather all CEO’s partners </a:t>
            </a:r>
            <a:r>
              <a:rPr lang="en-GB" dirty="0" smtClean="0"/>
              <a:t/>
            </a:r>
            <a:br>
              <a:rPr lang="en-GB" dirty="0" smtClean="0"/>
            </a:br>
            <a:r>
              <a:rPr lang="en-GB" dirty="0" smtClean="0"/>
              <a:t>NTU</a:t>
            </a:r>
            <a:r>
              <a:rPr lang="en-GB" baseline="0" dirty="0" smtClean="0"/>
              <a:t> </a:t>
            </a:r>
            <a:r>
              <a:rPr lang="mr-IN" baseline="0" dirty="0" smtClean="0"/>
              <a:t>–</a:t>
            </a:r>
            <a:r>
              <a:rPr lang="en-GB" baseline="0" dirty="0" smtClean="0"/>
              <a:t> Singapore</a:t>
            </a:r>
          </a:p>
          <a:p>
            <a:r>
              <a:rPr lang="en-GB" baseline="0" dirty="0" err="1" smtClean="0"/>
              <a:t>Nanolike</a:t>
            </a:r>
            <a:endParaRPr lang="en-GB" baseline="0" dirty="0" smtClean="0"/>
          </a:p>
          <a:p>
            <a:r>
              <a:rPr lang="en-GB" baseline="0" dirty="0" smtClean="0"/>
              <a:t>CONNIT &amp; </a:t>
            </a:r>
            <a:r>
              <a:rPr lang="en-GB" baseline="0" dirty="0" err="1" smtClean="0"/>
              <a:t>Gazbox</a:t>
            </a:r>
            <a:endParaRPr lang="en-GB" baseline="0" dirty="0" smtClean="0"/>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20</a:t>
            </a:fld>
            <a:endParaRPr lang="en-GB" dirty="0"/>
          </a:p>
        </p:txBody>
      </p:sp>
    </p:spTree>
    <p:extLst>
      <p:ext uri="{BB962C8B-B14F-4D97-AF65-F5344CB8AC3E}">
        <p14:creationId xmlns:p14="http://schemas.microsoft.com/office/powerpoint/2010/main" val="2130035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21</a:t>
            </a:fld>
            <a:endParaRPr lang="en-GB"/>
          </a:p>
        </p:txBody>
      </p:sp>
    </p:spTree>
    <p:extLst>
      <p:ext uri="{BB962C8B-B14F-4D97-AF65-F5344CB8AC3E}">
        <p14:creationId xmlns:p14="http://schemas.microsoft.com/office/powerpoint/2010/main" val="10012089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22</a:t>
            </a:fld>
            <a:endParaRPr lang="en-GB"/>
          </a:p>
        </p:txBody>
      </p:sp>
    </p:spTree>
    <p:extLst>
      <p:ext uri="{BB962C8B-B14F-4D97-AF65-F5344CB8AC3E}">
        <p14:creationId xmlns:p14="http://schemas.microsoft.com/office/powerpoint/2010/main" val="1092676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23</a:t>
            </a:fld>
            <a:endParaRPr lang="en-GB" dirty="0"/>
          </a:p>
        </p:txBody>
      </p:sp>
    </p:spTree>
    <p:extLst>
      <p:ext uri="{BB962C8B-B14F-4D97-AF65-F5344CB8AC3E}">
        <p14:creationId xmlns:p14="http://schemas.microsoft.com/office/powerpoint/2010/main" val="11862631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24</a:t>
            </a:fld>
            <a:endParaRPr lang="en-GB" dirty="0"/>
          </a:p>
        </p:txBody>
      </p:sp>
    </p:spTree>
    <p:extLst>
      <p:ext uri="{BB962C8B-B14F-4D97-AF65-F5344CB8AC3E}">
        <p14:creationId xmlns:p14="http://schemas.microsoft.com/office/powerpoint/2010/main" val="78967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25</a:t>
            </a:fld>
            <a:endParaRPr lang="en-GB" dirty="0"/>
          </a:p>
        </p:txBody>
      </p:sp>
    </p:spTree>
    <p:extLst>
      <p:ext uri="{BB962C8B-B14F-4D97-AF65-F5344CB8AC3E}">
        <p14:creationId xmlns:p14="http://schemas.microsoft.com/office/powerpoint/2010/main" val="3640887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26</a:t>
            </a:fld>
            <a:endParaRPr lang="en-GB" dirty="0"/>
          </a:p>
        </p:txBody>
      </p:sp>
    </p:spTree>
    <p:extLst>
      <p:ext uri="{BB962C8B-B14F-4D97-AF65-F5344CB8AC3E}">
        <p14:creationId xmlns:p14="http://schemas.microsoft.com/office/powerpoint/2010/main" val="1059345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mtClean="0"/>
              <a:t>Source: Detailed</a:t>
            </a:r>
            <a:r>
              <a:rPr lang="en-GB" baseline="0" smtClean="0"/>
              <a:t> analysis of the liquid fuel and bottled gas sectors in Portugal (2007-2009)</a:t>
            </a:r>
            <a:r>
              <a:rPr lang="en-GB" baseline="0"/>
              <a:t> </a:t>
            </a:r>
            <a:r>
              <a:rPr lang="en-GB" baseline="0" smtClean="0"/>
              <a:t>- Final Report - </a:t>
            </a:r>
            <a:r>
              <a:rPr lang="en-GB" baseline="0" err="1" smtClean="0"/>
              <a:t>Autoridade</a:t>
            </a:r>
            <a:r>
              <a:rPr lang="en-GB" baseline="0" smtClean="0"/>
              <a:t> da </a:t>
            </a:r>
            <a:r>
              <a:rPr lang="en-GB" baseline="0" err="1" smtClean="0"/>
              <a:t>Concorr</a:t>
            </a:r>
            <a:r>
              <a:rPr lang="pt-PT" baseline="0" err="1" smtClean="0"/>
              <a:t>ê</a:t>
            </a:r>
            <a:r>
              <a:rPr lang="en-GB" baseline="0" err="1" smtClean="0"/>
              <a:t>ncia</a:t>
            </a:r>
            <a:endParaRPr lang="en-GB" baseline="0" smtClean="0"/>
          </a:p>
          <a:p>
            <a:endParaRPr lang="en-GB" baseline="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mtClean="0"/>
              <a:t>Table 76 – Average margins for butane (13 kg bottle) along the value chain, from February 2007 to February 2009 </a:t>
            </a:r>
            <a:r>
              <a:rPr lang="en-US" err="1" smtClean="0"/>
              <a:t>Variabale</a:t>
            </a:r>
            <a:r>
              <a:rPr lang="en-US" smtClean="0"/>
              <a:t> Stage in the chain Average Standard deviation Confidence interval (95%) Maximum Minimum Prices (€) First line distributor (a) €14.02 €1.15 [€13.54;€14.49] €15.52 €12.34 Second line distributor (b) €17,34 €1.15 [€16.86;€17,82] €18.74 €15.54 Customer (c) €19.53 €1.29 [€18.99;€20.06] €21.39 €17,67 Home (d) €20.48 €1.35 [€19.93;€21.04] €22.38 €18.52 Margins (€) (e)=(b)- (a) €3.32 €0.21 [€3.24;€3.41] €3.93 €3.10 (f)=(c)- (b) €2.19 €0.41 [€2.02;€2.36] €3.01 €1.20 (g)=(c)- (a) €5.51 €0.48 [€5.31;€5.71] €6.28 €4.54 (h)=(d)- (a) €0.95 €0.12 [€0.90;€1.01] €1.21 €0.70 Margins (%) (e)/(a) 24% 3% [€0.23;€0.25] 30% 20% (f)/(b) 13% 2% [€0.12;€0.14] 17% 7% (f)/(a) 40% 5% [€0.37;€0.41] 49% 31% (h)/(c) 5% 1% [€0.046;€0.051] 6% 3% Source: Analysis of the Competition Authority based on data from LPG wholesalers</a:t>
            </a:r>
          </a:p>
          <a:p>
            <a:endParaRPr lang="en-GB" baseline="0" smtClean="0"/>
          </a:p>
        </p:txBody>
      </p:sp>
      <p:sp>
        <p:nvSpPr>
          <p:cNvPr id="4" name="Slide Number Placeholder 3"/>
          <p:cNvSpPr>
            <a:spLocks noGrp="1"/>
          </p:cNvSpPr>
          <p:nvPr>
            <p:ph type="sldNum" sz="quarter" idx="10"/>
          </p:nvPr>
        </p:nvSpPr>
        <p:spPr/>
        <p:txBody>
          <a:bodyPr/>
          <a:lstStyle/>
          <a:p>
            <a:fld id="{21CD3B65-C00C-BF43-8F7A-9C8E67DE6347}" type="slidenum">
              <a:rPr lang="en-GB" smtClean="0"/>
              <a:t>27</a:t>
            </a:fld>
            <a:endParaRPr lang="en-GB"/>
          </a:p>
        </p:txBody>
      </p:sp>
    </p:spTree>
    <p:extLst>
      <p:ext uri="{BB962C8B-B14F-4D97-AF65-F5344CB8AC3E}">
        <p14:creationId xmlns:p14="http://schemas.microsoft.com/office/powerpoint/2010/main" val="19782957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GB" sz="3200" baseline="0" smtClean="0"/>
              <a:t>Brand </a:t>
            </a:r>
            <a:r>
              <a:rPr lang="en-GB" sz="3200" b="1" baseline="0" smtClean="0"/>
              <a:t>agnostic</a:t>
            </a:r>
            <a:endParaRPr lang="en-GB" sz="3200" baseline="0" smtClean="0"/>
          </a:p>
          <a:p>
            <a:pPr marL="171450" indent="-171450">
              <a:buFont typeface="Arial" charset="0"/>
              <a:buChar char="•"/>
            </a:pPr>
            <a:r>
              <a:rPr lang="en-GB" sz="3200" baseline="0" smtClean="0"/>
              <a:t>Accommodate </a:t>
            </a:r>
            <a:r>
              <a:rPr lang="en-GB" sz="3200" b="1" baseline="0" smtClean="0"/>
              <a:t>manual</a:t>
            </a:r>
            <a:r>
              <a:rPr lang="en-GB" sz="3200" baseline="0" smtClean="0"/>
              <a:t> delivery</a:t>
            </a:r>
          </a:p>
          <a:p>
            <a:pPr marL="171450" indent="-171450">
              <a:buFont typeface="Arial" charset="0"/>
              <a:buChar char="•"/>
            </a:pPr>
            <a:r>
              <a:rPr lang="en-GB" sz="3200" baseline="0" smtClean="0"/>
              <a:t>Customer </a:t>
            </a:r>
            <a:r>
              <a:rPr lang="en-GB" sz="3200" b="1" baseline="0" smtClean="0"/>
              <a:t>metrics</a:t>
            </a:r>
          </a:p>
          <a:p>
            <a:pPr marL="171450" indent="-171450">
              <a:buFont typeface="Arial" charset="0"/>
              <a:buChar char="•"/>
            </a:pPr>
            <a:r>
              <a:rPr lang="en-GB" sz="3200" b="1" baseline="0" smtClean="0"/>
              <a:t>Leverage gas left </a:t>
            </a:r>
            <a:r>
              <a:rPr lang="en-GB" sz="3200" baseline="0" smtClean="0"/>
              <a:t>in canister</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3200" smtClean="0"/>
              <a:t>Leverage </a:t>
            </a:r>
            <a:r>
              <a:rPr lang="en-US" sz="3200" b="1" smtClean="0"/>
              <a:t>open channel </a:t>
            </a:r>
            <a:r>
              <a:rPr lang="en-US" sz="3200" smtClean="0"/>
              <a:t>to end customer</a:t>
            </a:r>
            <a:r>
              <a:rPr lang="en-US" sz="3200" baseline="0" smtClean="0"/>
              <a:t> for advertising</a:t>
            </a:r>
            <a:endParaRPr lang="en-GB" sz="3200" baseline="0" smtClean="0"/>
          </a:p>
          <a:p>
            <a:pPr marL="171450" indent="-171450">
              <a:buFont typeface="Arial" charset="0"/>
              <a:buChar char="•"/>
            </a:pPr>
            <a:endParaRPr lang="en-GB" sz="3200" baseline="0" smtClean="0"/>
          </a:p>
        </p:txBody>
      </p:sp>
      <p:sp>
        <p:nvSpPr>
          <p:cNvPr id="4" name="Slide Number Placeholder 3"/>
          <p:cNvSpPr>
            <a:spLocks noGrp="1"/>
          </p:cNvSpPr>
          <p:nvPr>
            <p:ph type="sldNum" sz="quarter" idx="10"/>
          </p:nvPr>
        </p:nvSpPr>
        <p:spPr/>
        <p:txBody>
          <a:bodyPr/>
          <a:lstStyle/>
          <a:p>
            <a:fld id="{21CD3B65-C00C-BF43-8F7A-9C8E67DE6347}" type="slidenum">
              <a:rPr lang="en-GB" smtClean="0"/>
              <a:t>28</a:t>
            </a:fld>
            <a:endParaRPr lang="en-GB"/>
          </a:p>
        </p:txBody>
      </p:sp>
    </p:spTree>
    <p:extLst>
      <p:ext uri="{BB962C8B-B14F-4D97-AF65-F5344CB8AC3E}">
        <p14:creationId xmlns:p14="http://schemas.microsoft.com/office/powerpoint/2010/main" val="504116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0001" y="1449147"/>
            <a:ext cx="10572000" cy="2971051"/>
          </a:xfrm>
        </p:spPr>
        <p:txBody>
          <a:bodyPr/>
          <a:lstStyle>
            <a:lvl1pPr>
              <a:defRPr sz="5400" baseline="0">
                <a:latin typeface="Comfortaa Thin"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baseline="0">
                <a:solidFill>
                  <a:schemeClr val="tx1"/>
                </a:solidFill>
                <a:latin typeface="raleway"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a:pPr/>
              <a:t>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0000" y="447188"/>
            <a:ext cx="10571998" cy="97045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lvl1pPr>
              <a:defRPr baseline="0">
                <a:latin typeface="Raleway Light" charset="0"/>
              </a:defRPr>
            </a:lvl1pPr>
            <a:lvl2pPr>
              <a:defRPr baseline="0">
                <a:latin typeface="Raleway Light" charset="0"/>
              </a:defRPr>
            </a:lvl2pPr>
            <a:lvl3pPr>
              <a:defRPr baseline="0">
                <a:latin typeface="Raleway Light" charset="0"/>
              </a:defRPr>
            </a:lvl3pPr>
            <a:lvl4pPr>
              <a:defRPr baseline="0">
                <a:latin typeface="Raleway Light" charset="0"/>
              </a:defRPr>
            </a:lvl4pPr>
            <a:lvl5pPr>
              <a:defRPr baseline="0">
                <a:latin typeface="Raleway Light"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a:pPr/>
              <a:t>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a:pPr/>
              <a:t>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a:pPr/>
              <a:t>1/13/17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a:pPr/>
              <a:t>1/13/17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a:pPr/>
              <a:t>1/13/17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a:pPr/>
              <a:t>1/13/17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a:pPr/>
              <a:t>1/13/17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smtClean="0"/>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smtClean="0"/>
              <a:t>Drag picture to placeholder or click icon to add</a:t>
            </a:r>
            <a:endParaRPr lang="en-US"/>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a:pPr/>
              <a:t>1/13/17</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smtClean="0"/>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smtClean="0"/>
              <a:t>Drag picture to placeholder or click icon to add</a:t>
            </a:r>
            <a:endParaRPr lang="en-US"/>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a:pPr/>
              <a:t>1/13/17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smtClean="0"/>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a:pPr/>
              <a:t>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smtClean="0"/>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smtClean="0"/>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a:pPr/>
              <a:t>1/13/17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a:pPr/>
              <a:t>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a:pPr/>
              <a:t>1/13/17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a:pPr/>
              <a:t>1/13/17</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150000"/>
        <a:buFontTx/>
        <a:buBlip>
          <a:blip r:embed="rId16"/>
        </a:buBlip>
        <a:defRPr sz="1800" kern="1200" baseline="0">
          <a:solidFill>
            <a:schemeClr val="tx1"/>
          </a:solidFill>
          <a:latin typeface="Comfortaa Thin"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16"/>
        </a:buBlip>
        <a:defRPr sz="1600" kern="1200" baseline="0">
          <a:solidFill>
            <a:schemeClr val="tx1"/>
          </a:solidFill>
          <a:latin typeface="Comfortaa Thin"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16"/>
        </a:buBlip>
        <a:defRPr sz="1400" kern="1200" baseline="0">
          <a:solidFill>
            <a:schemeClr val="tx1"/>
          </a:solidFill>
          <a:latin typeface="Comfortaa Thin"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16"/>
        </a:buBlip>
        <a:defRPr sz="1200" kern="1200" baseline="0">
          <a:solidFill>
            <a:schemeClr val="tx1"/>
          </a:solidFill>
          <a:latin typeface="Comfortaa Thin"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16"/>
        </a:buBlip>
        <a:defRPr sz="1200" kern="1200" baseline="0">
          <a:solidFill>
            <a:schemeClr val="tx1"/>
          </a:solidFill>
          <a:latin typeface="Comfortaa Thin"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chart" Target="../charts/chart2.xml"/><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tiff"/><Relationship Id="rId5" Type="http://schemas.openxmlformats.org/officeDocument/2006/relationships/image" Target="../media/image22.png"/><Relationship Id="rId6" Type="http://schemas.openxmlformats.org/officeDocument/2006/relationships/image" Target="../media/image10.png"/><Relationship Id="rId7"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emf"/></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jp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g"/><Relationship Id="rId4" Type="http://schemas.openxmlformats.org/officeDocument/2006/relationships/image" Target="../media/image33.png"/><Relationship Id="rId5" Type="http://schemas.openxmlformats.org/officeDocument/2006/relationships/image" Target="../media/image34.tiff"/><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hyperlink" Target="https://www.google.pt/maps/place/Ningbo,+Zhejiang,+China/@31.1886038,106.7044438,5.02z/data=!4m5!3m4!1s0x344d6354630858f7:0x948723f846ccf173!8m2!3d29.868336!4d121.54399" TargetMode="External"/><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2.jpeg"/><Relationship Id="rId4"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chart" Target="../charts/chart3.xml"/><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465227" y="3429000"/>
            <a:ext cx="10706496" cy="2971051"/>
          </a:xfrm>
          <a:noFill/>
          <a:ln>
            <a:noFill/>
          </a:ln>
          <a:effectLst>
            <a:outerShdw blurRad="50800" dist="76200" dir="2700000" algn="tl" rotWithShape="0">
              <a:prstClr val="black">
                <a:alpha val="40000"/>
              </a:prstClr>
            </a:outerShdw>
          </a:effectLst>
        </p:spPr>
        <p:txBody>
          <a:bodyPr/>
          <a:lstStyle/>
          <a:p>
            <a:r>
              <a:rPr lang="en-US" sz="6600" dirty="0" smtClean="0">
                <a:solidFill>
                  <a:schemeClr val="accent1">
                    <a:lumMod val="20000"/>
                    <a:lumOff val="80000"/>
                  </a:schemeClr>
                </a:solidFill>
                <a:latin typeface="Comfortaa" charset="0"/>
                <a:ea typeface="Comfortaa" charset="0"/>
                <a:cs typeface="Comfortaa" charset="0"/>
              </a:rPr>
              <a:t>NESTO Gas</a:t>
            </a:r>
            <a:r>
              <a:rPr lang="en-US" sz="7200" dirty="0" smtClean="0">
                <a:solidFill>
                  <a:schemeClr val="accent1">
                    <a:lumMod val="20000"/>
                    <a:lumOff val="80000"/>
                  </a:schemeClr>
                </a:solidFill>
              </a:rPr>
              <a:t/>
            </a:r>
            <a:br>
              <a:rPr lang="en-US" sz="7200" dirty="0" smtClean="0">
                <a:solidFill>
                  <a:schemeClr val="accent1">
                    <a:lumMod val="20000"/>
                    <a:lumOff val="80000"/>
                  </a:schemeClr>
                </a:solidFill>
              </a:rPr>
            </a:br>
            <a:r>
              <a:rPr lang="en-US" sz="3600" b="0" dirty="0" smtClean="0">
                <a:solidFill>
                  <a:schemeClr val="accent1">
                    <a:lumMod val="20000"/>
                    <a:lumOff val="80000"/>
                  </a:schemeClr>
                </a:solidFill>
                <a:latin typeface="Raleway Light" charset="0"/>
                <a:ea typeface="Raleway Light" charset="0"/>
                <a:cs typeface="Raleway Light" charset="0"/>
              </a:rPr>
              <a:t>Digitalization of the bottled LPG value chain</a:t>
            </a:r>
            <a:endParaRPr lang="en-US" sz="3600" b="0" dirty="0">
              <a:solidFill>
                <a:schemeClr val="accent1">
                  <a:lumMod val="20000"/>
                  <a:lumOff val="80000"/>
                </a:schemeClr>
              </a:solidFill>
              <a:latin typeface="Raleway Light" charset="0"/>
              <a:ea typeface="Raleway Light" charset="0"/>
              <a:cs typeface="Raleway Light" charset="0"/>
            </a:endParaRPr>
          </a:p>
        </p:txBody>
      </p:sp>
    </p:spTree>
    <p:extLst>
      <p:ext uri="{BB962C8B-B14F-4D97-AF65-F5344CB8AC3E}">
        <p14:creationId xmlns:p14="http://schemas.microsoft.com/office/powerpoint/2010/main" val="12873736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690" y="1576078"/>
            <a:ext cx="14723110" cy="6788990"/>
          </a:xfrm>
          <a:prstGeom prst="rect">
            <a:avLst/>
          </a:prstGeom>
        </p:spPr>
      </p:pic>
      <p:sp>
        <p:nvSpPr>
          <p:cNvPr id="2" name="Title 1"/>
          <p:cNvSpPr>
            <a:spLocks noGrp="1"/>
          </p:cNvSpPr>
          <p:nvPr>
            <p:ph type="title"/>
          </p:nvPr>
        </p:nvSpPr>
        <p:spPr>
          <a:effectLst/>
        </p:spPr>
        <p:txBody>
          <a:bodyPr/>
          <a:lstStyle/>
          <a:p>
            <a:r>
              <a:rPr lang="en-GB" dirty="0" smtClean="0">
                <a:solidFill>
                  <a:schemeClr val="bg1"/>
                </a:solidFill>
                <a:effectLst>
                  <a:outerShdw blurRad="50800" dist="76200" dir="2700000" algn="tl" rotWithShape="0">
                    <a:prstClr val="black">
                      <a:alpha val="40000"/>
                    </a:prstClr>
                  </a:outerShdw>
                </a:effectLst>
              </a:rPr>
              <a:t>Can you tell the </a:t>
            </a:r>
            <a:r>
              <a:rPr lang="en-GB" dirty="0" smtClean="0">
                <a:solidFill>
                  <a:srgbClr val="CF1C00"/>
                </a:solidFill>
                <a:effectLst>
                  <a:outerShdw blurRad="50800" dist="76200" dir="2700000" algn="tl" rotWithShape="0">
                    <a:prstClr val="black">
                      <a:alpha val="40000"/>
                    </a:prstClr>
                  </a:outerShdw>
                </a:effectLst>
              </a:rPr>
              <a:t>difference?</a:t>
            </a:r>
            <a:endParaRPr lang="en-GB" dirty="0">
              <a:solidFill>
                <a:srgbClr val="CF1C00"/>
              </a:solidFill>
              <a:effectLst>
                <a:outerShdw blurRad="50800" dist="76200" dir="2700000" algn="tl" rotWithShape="0">
                  <a:prstClr val="black">
                    <a:alpha val="40000"/>
                  </a:prstClr>
                </a:outerShdw>
              </a:effectLst>
            </a:endParaRPr>
          </a:p>
        </p:txBody>
      </p:sp>
    </p:spTree>
    <p:extLst>
      <p:ext uri="{BB962C8B-B14F-4D97-AF65-F5344CB8AC3E}">
        <p14:creationId xmlns:p14="http://schemas.microsoft.com/office/powerpoint/2010/main" val="20544344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20" y="0"/>
            <a:ext cx="12212320" cy="7327392"/>
          </a:xfrm>
          <a:prstGeom prst="rect">
            <a:avLst/>
          </a:prstGeom>
        </p:spPr>
      </p:pic>
      <p:sp>
        <p:nvSpPr>
          <p:cNvPr id="7" name="Title 1"/>
          <p:cNvSpPr txBox="1">
            <a:spLocks noGrp="1"/>
          </p:cNvSpPr>
          <p:nvPr>
            <p:ph type="title"/>
          </p:nvPr>
        </p:nvSpPr>
        <p:spPr>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600"/>
              </a:spcBef>
            </a:pPr>
            <a:r>
              <a:rPr lang="en-GB" dirty="0" smtClean="0"/>
              <a:t>Neither does she</a:t>
            </a:r>
            <a:r>
              <a:rPr lang="is-IS" dirty="0" smtClean="0"/>
              <a:t>… </a:t>
            </a:r>
            <a:r>
              <a:rPr lang="en-GB" dirty="0" smtClean="0">
                <a:solidFill>
                  <a:srgbClr val="FF0000"/>
                </a:solidFill>
              </a:rPr>
              <a:t>Cold shower </a:t>
            </a:r>
            <a:r>
              <a:rPr lang="en-GB" dirty="0" smtClean="0"/>
              <a:t>syndrome</a:t>
            </a:r>
            <a:endParaRPr lang="en-GB" dirty="0"/>
          </a:p>
        </p:txBody>
      </p:sp>
    </p:spTree>
    <p:extLst>
      <p:ext uri="{BB962C8B-B14F-4D97-AF65-F5344CB8AC3E}">
        <p14:creationId xmlns:p14="http://schemas.microsoft.com/office/powerpoint/2010/main" val="8878806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143500" cy="6858000"/>
          </a:xfrm>
          <a:prstGeom prst="rect">
            <a:avLst/>
          </a:prstGeom>
        </p:spPr>
      </p:pic>
      <p:sp>
        <p:nvSpPr>
          <p:cNvPr id="3" name="Title 2"/>
          <p:cNvSpPr>
            <a:spLocks noGrp="1"/>
          </p:cNvSpPr>
          <p:nvPr>
            <p:ph type="title"/>
          </p:nvPr>
        </p:nvSpPr>
        <p:spPr>
          <a:xfrm>
            <a:off x="5143500" y="1931670"/>
            <a:ext cx="7048500" cy="2366328"/>
          </a:xfrm>
          <a:effectLst/>
        </p:spPr>
        <p:txBody>
          <a:bodyPr anchor="ctr"/>
          <a:lstStyle/>
          <a:p>
            <a:pPr algn="ctr"/>
            <a:r>
              <a:rPr lang="en-GB" sz="4400" b="0" dirty="0" smtClean="0">
                <a:solidFill>
                  <a:schemeClr val="bg1"/>
                </a:solidFill>
              </a:rPr>
              <a:t>LPG companies want </a:t>
            </a:r>
            <a:r>
              <a:rPr lang="en-GB" sz="4400" dirty="0" smtClean="0">
                <a:solidFill>
                  <a:srgbClr val="FF7D01"/>
                </a:solidFill>
              </a:rPr>
              <a:t>you</a:t>
            </a:r>
            <a:br>
              <a:rPr lang="en-GB" sz="4400" dirty="0" smtClean="0">
                <a:solidFill>
                  <a:srgbClr val="FF7D01"/>
                </a:solidFill>
              </a:rPr>
            </a:br>
            <a:r>
              <a:rPr lang="en-GB" sz="4400" b="0" dirty="0" smtClean="0">
                <a:solidFill>
                  <a:schemeClr val="bg1"/>
                </a:solidFill>
              </a:rPr>
              <a:t>to think </a:t>
            </a:r>
            <a:r>
              <a:rPr lang="en-GB" sz="4400" dirty="0" smtClean="0">
                <a:solidFill>
                  <a:srgbClr val="FF7D01"/>
                </a:solidFill>
              </a:rPr>
              <a:t>they</a:t>
            </a:r>
            <a:r>
              <a:rPr lang="en-GB" sz="4400" b="0" dirty="0" smtClean="0"/>
              <a:t> </a:t>
            </a:r>
            <a:r>
              <a:rPr lang="en-GB" sz="4400" b="0" dirty="0" smtClean="0">
                <a:solidFill>
                  <a:schemeClr val="bg1"/>
                </a:solidFill>
              </a:rPr>
              <a:t>are like this …</a:t>
            </a:r>
            <a:endParaRPr lang="en-GB" sz="4400" b="0" dirty="0">
              <a:solidFill>
                <a:schemeClr val="bg1"/>
              </a:solidFill>
            </a:endParaRPr>
          </a:p>
        </p:txBody>
      </p:sp>
    </p:spTree>
    <p:extLst>
      <p:ext uri="{BB962C8B-B14F-4D97-AF65-F5344CB8AC3E}">
        <p14:creationId xmlns:p14="http://schemas.microsoft.com/office/powerpoint/2010/main" val="241329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931670"/>
            <a:ext cx="7620000" cy="2366328"/>
          </a:xfrm>
        </p:spPr>
        <p:txBody>
          <a:bodyPr anchor="ctr"/>
          <a:lstStyle/>
          <a:p>
            <a:pPr algn="ctr"/>
            <a:r>
              <a:rPr lang="en-GB" sz="4400" b="0" dirty="0" smtClean="0"/>
              <a:t>What they </a:t>
            </a:r>
            <a:r>
              <a:rPr lang="en-GB" sz="4400" b="0" dirty="0" smtClean="0">
                <a:solidFill>
                  <a:srgbClr val="4B382A"/>
                </a:solidFill>
              </a:rPr>
              <a:t>really </a:t>
            </a:r>
            <a:r>
              <a:rPr lang="en-GB" sz="4400" b="0" dirty="0" smtClean="0">
                <a:solidFill>
                  <a:schemeClr val="tx1"/>
                </a:solidFill>
              </a:rPr>
              <a:t>are </a:t>
            </a:r>
            <a:r>
              <a:rPr lang="en-GB" sz="4400" b="0" dirty="0" smtClean="0"/>
              <a:t>like</a:t>
            </a:r>
            <a:endParaRPr lang="en-GB" sz="4400" dirty="0">
              <a:solidFill>
                <a:srgbClr val="4B382A"/>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0" y="0"/>
            <a:ext cx="4572000" cy="6858000"/>
          </a:xfrm>
          <a:prstGeom prst="rect">
            <a:avLst/>
          </a:prstGeom>
        </p:spPr>
      </p:pic>
    </p:spTree>
    <p:extLst>
      <p:ext uri="{BB962C8B-B14F-4D97-AF65-F5344CB8AC3E}">
        <p14:creationId xmlns:p14="http://schemas.microsoft.com/office/powerpoint/2010/main" val="6108040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rot="483819">
            <a:off x="2082883" y="546518"/>
            <a:ext cx="8401761" cy="5942626"/>
          </a:xfrm>
          <a:prstGeom prst="rect">
            <a:avLst/>
          </a:prstGeom>
        </p:spPr>
      </p:pic>
      <p:sp>
        <p:nvSpPr>
          <p:cNvPr id="2" name="Title 1"/>
          <p:cNvSpPr>
            <a:spLocks noGrp="1"/>
          </p:cNvSpPr>
          <p:nvPr>
            <p:ph type="title"/>
          </p:nvPr>
        </p:nvSpPr>
        <p:spPr>
          <a:xfrm>
            <a:off x="810000" y="447187"/>
            <a:ext cx="10571998" cy="1775099"/>
          </a:xfrm>
        </p:spPr>
        <p:txBody>
          <a:bodyPr anchor="t"/>
          <a:lstStyle/>
          <a:p>
            <a:r>
              <a:rPr lang="en-US" dirty="0">
                <a:solidFill>
                  <a:srgbClr val="57CABF"/>
                </a:solidFill>
              </a:rPr>
              <a:t>Never</a:t>
            </a:r>
            <a:r>
              <a:rPr lang="en-US" dirty="0">
                <a:solidFill>
                  <a:schemeClr val="tx1"/>
                </a:solidFill>
              </a:rPr>
              <a:t> run out of gas ever again…</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0904" y="1803838"/>
            <a:ext cx="2639001" cy="2118635"/>
          </a:xfrm>
          <a:prstGeom prst="rect">
            <a:avLst/>
          </a:prstGeom>
          <a:effectLst>
            <a:outerShdw blurRad="50800" dist="76200" dir="2700000" algn="tl" rotWithShape="0">
              <a:prstClr val="black">
                <a:alpha val="40000"/>
              </a:prstClr>
            </a:outerShdw>
          </a:effectLst>
        </p:spPr>
      </p:pic>
      <p:sp>
        <p:nvSpPr>
          <p:cNvPr id="13" name="Content Placeholder 2"/>
          <p:cNvSpPr>
            <a:spLocks noGrp="1"/>
          </p:cNvSpPr>
          <p:nvPr>
            <p:ph idx="1"/>
          </p:nvPr>
        </p:nvSpPr>
        <p:spPr>
          <a:xfrm>
            <a:off x="818712" y="4130040"/>
            <a:ext cx="10554574" cy="2118360"/>
          </a:xfrm>
        </p:spPr>
        <p:txBody>
          <a:bodyPr anchor="t">
            <a:noAutofit/>
          </a:bodyPr>
          <a:lstStyle/>
          <a:p>
            <a:pPr>
              <a:spcBef>
                <a:spcPts val="0"/>
              </a:spcBef>
              <a:spcAft>
                <a:spcPts val="2400"/>
              </a:spcAft>
            </a:pPr>
            <a:r>
              <a:rPr lang="en-US" sz="2800" dirty="0" smtClean="0">
                <a:latin typeface="Raleway Light" charset="0"/>
                <a:ea typeface="Raleway Light" charset="0"/>
                <a:cs typeface="Raleway Light" charset="0"/>
              </a:rPr>
              <a:t>A </a:t>
            </a:r>
            <a:r>
              <a:rPr lang="en-US" sz="2800" dirty="0" smtClean="0">
                <a:solidFill>
                  <a:srgbClr val="57CABF"/>
                </a:solidFill>
                <a:latin typeface="Raleway Light" charset="0"/>
                <a:ea typeface="Raleway Light" charset="0"/>
                <a:cs typeface="Raleway Light" charset="0"/>
              </a:rPr>
              <a:t>smart battery-powered </a:t>
            </a:r>
            <a:r>
              <a:rPr lang="en-US" sz="2800" b="1" dirty="0" smtClean="0">
                <a:latin typeface="Raleway Light" charset="0"/>
                <a:ea typeface="Raleway Light" charset="0"/>
                <a:cs typeface="Raleway Light" charset="0"/>
              </a:rPr>
              <a:t>weight scale with</a:t>
            </a:r>
            <a:r>
              <a:rPr lang="en-US" sz="2800" b="1" dirty="0" smtClean="0">
                <a:solidFill>
                  <a:srgbClr val="57CABF"/>
                </a:solidFill>
                <a:latin typeface="Raleway Light" charset="0"/>
                <a:ea typeface="Raleway Light" charset="0"/>
                <a:cs typeface="Raleway Light" charset="0"/>
              </a:rPr>
              <a:t> IoT connectivity</a:t>
            </a:r>
          </a:p>
          <a:p>
            <a:pPr>
              <a:spcBef>
                <a:spcPts val="0"/>
              </a:spcBef>
              <a:spcAft>
                <a:spcPts val="2400"/>
              </a:spcAft>
            </a:pPr>
            <a:r>
              <a:rPr lang="en-US" sz="2800" dirty="0" smtClean="0">
                <a:latin typeface="Raleway Light" charset="0"/>
                <a:ea typeface="Raleway Light" charset="0"/>
                <a:cs typeface="Raleway Light" charset="0"/>
              </a:rPr>
              <a:t>A mobile app for </a:t>
            </a:r>
            <a:r>
              <a:rPr lang="en-US" sz="2800" b="1" dirty="0" smtClean="0">
                <a:solidFill>
                  <a:srgbClr val="57CABF"/>
                </a:solidFill>
                <a:latin typeface="Raleway Light" charset="0"/>
                <a:ea typeface="Raleway Light" charset="0"/>
                <a:cs typeface="Raleway Light" charset="0"/>
              </a:rPr>
              <a:t>consumers &amp; distributors</a:t>
            </a:r>
          </a:p>
          <a:p>
            <a:pPr>
              <a:spcBef>
                <a:spcPts val="0"/>
              </a:spcBef>
              <a:spcAft>
                <a:spcPts val="2400"/>
              </a:spcAft>
            </a:pPr>
            <a:r>
              <a:rPr lang="is-IS" sz="2800" dirty="0" smtClean="0">
                <a:latin typeface="Raleway Light" charset="0"/>
                <a:ea typeface="Raleway Light" charset="0"/>
                <a:cs typeface="Raleway Light" charset="0"/>
              </a:rPr>
              <a:t>A </a:t>
            </a:r>
            <a:r>
              <a:rPr lang="en-US" sz="2800" dirty="0" smtClean="0">
                <a:latin typeface="Raleway Light" charset="0"/>
                <a:ea typeface="Raleway Light" charset="0"/>
                <a:cs typeface="Raleway Light" charset="0"/>
              </a:rPr>
              <a:t>back-end with </a:t>
            </a:r>
            <a:r>
              <a:rPr lang="en-US" sz="2800" b="1" dirty="0" smtClean="0">
                <a:solidFill>
                  <a:srgbClr val="57CABF"/>
                </a:solidFill>
                <a:latin typeface="Raleway Light" charset="0"/>
                <a:ea typeface="Raleway Light" charset="0"/>
                <a:cs typeface="Raleway Light" charset="0"/>
              </a:rPr>
              <a:t>predictive </a:t>
            </a:r>
            <a:r>
              <a:rPr lang="en-US" sz="2800" dirty="0" smtClean="0">
                <a:latin typeface="Raleway Light" charset="0"/>
                <a:ea typeface="Raleway Light" charset="0"/>
                <a:cs typeface="Raleway Light" charset="0"/>
              </a:rPr>
              <a:t>analytics and routing capabilities</a:t>
            </a: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2852" y="1749319"/>
            <a:ext cx="3560762" cy="2173154"/>
          </a:xfrm>
          <a:prstGeom prst="rect">
            <a:avLst/>
          </a:prstGeom>
        </p:spPr>
      </p:pic>
    </p:spTree>
    <p:extLst>
      <p:ext uri="{BB962C8B-B14F-4D97-AF65-F5344CB8AC3E}">
        <p14:creationId xmlns:p14="http://schemas.microsoft.com/office/powerpoint/2010/main" val="20849682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535" y="-1"/>
            <a:ext cx="9143998" cy="6857999"/>
          </a:xfrm>
          <a:prstGeom prst="rect">
            <a:avLst/>
          </a:prstGeom>
        </p:spPr>
      </p:pic>
      <p:sp>
        <p:nvSpPr>
          <p:cNvPr id="4" name="Rectangle 3"/>
          <p:cNvSpPr/>
          <p:nvPr/>
        </p:nvSpPr>
        <p:spPr>
          <a:xfrm>
            <a:off x="7588118" y="0"/>
            <a:ext cx="460388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a:xfrm>
            <a:off x="483828" y="5649810"/>
            <a:ext cx="7104290" cy="970450"/>
          </a:xfrm>
          <a:effectLst>
            <a:outerShdw blurRad="50800" dist="76200" dir="2700000" algn="tl" rotWithShape="0">
              <a:prstClr val="black">
                <a:alpha val="40000"/>
              </a:prstClr>
            </a:outerShdw>
          </a:effectLst>
        </p:spPr>
        <p:txBody>
          <a:bodyPr/>
          <a:lstStyle/>
          <a:p>
            <a:r>
              <a:rPr lang="en-GB" dirty="0" smtClean="0">
                <a:solidFill>
                  <a:srgbClr val="CCEBE7"/>
                </a:solidFill>
              </a:rPr>
              <a:t>App</a:t>
            </a:r>
            <a:r>
              <a:rPr lang="en-GB" dirty="0" smtClean="0"/>
              <a:t> for End-Consumers   </a:t>
            </a:r>
            <a:endParaRPr lang="en-GB" dirty="0"/>
          </a:p>
        </p:txBody>
      </p:sp>
      <p:sp>
        <p:nvSpPr>
          <p:cNvPr id="10" name="Content Placeholder 2"/>
          <p:cNvSpPr>
            <a:spLocks noGrp="1"/>
          </p:cNvSpPr>
          <p:nvPr>
            <p:ph idx="1"/>
          </p:nvPr>
        </p:nvSpPr>
        <p:spPr>
          <a:xfrm>
            <a:off x="8049491" y="0"/>
            <a:ext cx="4142509" cy="6857999"/>
          </a:xfrm>
        </p:spPr>
        <p:txBody>
          <a:bodyPr>
            <a:normAutofit/>
          </a:bodyPr>
          <a:lstStyle/>
          <a:p>
            <a:pPr>
              <a:spcBef>
                <a:spcPts val="0"/>
              </a:spcBef>
              <a:spcAft>
                <a:spcPts val="3600"/>
              </a:spcAft>
            </a:pPr>
            <a:r>
              <a:rPr lang="en-US" sz="2800" b="1" dirty="0" smtClean="0"/>
              <a:t>Current</a:t>
            </a:r>
            <a:r>
              <a:rPr lang="en-US" sz="2800" b="1" dirty="0" smtClean="0">
                <a:solidFill>
                  <a:srgbClr val="57CABF"/>
                </a:solidFill>
              </a:rPr>
              <a:t> gas level</a:t>
            </a:r>
            <a:r>
              <a:rPr lang="en-US" sz="2800" dirty="0" smtClean="0"/>
              <a:t> indication</a:t>
            </a:r>
          </a:p>
          <a:p>
            <a:pPr>
              <a:spcBef>
                <a:spcPts val="0"/>
              </a:spcBef>
              <a:spcAft>
                <a:spcPts val="3600"/>
              </a:spcAft>
            </a:pPr>
            <a:r>
              <a:rPr lang="en-US" sz="2800" b="1" dirty="0" smtClean="0">
                <a:solidFill>
                  <a:srgbClr val="57CABF"/>
                </a:solidFill>
              </a:rPr>
              <a:t>Gas duration </a:t>
            </a:r>
            <a:r>
              <a:rPr lang="en-US" sz="2800" dirty="0" smtClean="0"/>
              <a:t>based on use</a:t>
            </a:r>
          </a:p>
          <a:p>
            <a:pPr>
              <a:spcBef>
                <a:spcPts val="0"/>
              </a:spcBef>
              <a:spcAft>
                <a:spcPts val="3600"/>
              </a:spcAft>
            </a:pPr>
            <a:r>
              <a:rPr lang="en-US" sz="2800" b="1" dirty="0">
                <a:solidFill>
                  <a:srgbClr val="57CABF"/>
                </a:solidFill>
              </a:rPr>
              <a:t>Scheduling</a:t>
            </a:r>
            <a:r>
              <a:rPr lang="en-US" sz="2800" dirty="0"/>
              <a:t> doorstep </a:t>
            </a:r>
            <a:r>
              <a:rPr lang="en-US" sz="2800" dirty="0" smtClean="0"/>
              <a:t>delivery</a:t>
            </a:r>
          </a:p>
        </p:txBody>
      </p:sp>
    </p:spTree>
    <p:extLst>
      <p:ext uri="{BB962C8B-B14F-4D97-AF65-F5344CB8AC3E}">
        <p14:creationId xmlns:p14="http://schemas.microsoft.com/office/powerpoint/2010/main" val="21055811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7527" y="431690"/>
            <a:ext cx="10571998" cy="970450"/>
          </a:xfrm>
        </p:spPr>
        <p:txBody>
          <a:bodyPr anchor="t"/>
          <a:lstStyle/>
          <a:p>
            <a:r>
              <a:rPr lang="en-US" dirty="0" smtClean="0">
                <a:solidFill>
                  <a:schemeClr val="tx1"/>
                </a:solidFill>
              </a:rPr>
              <a:t>Added Value </a:t>
            </a:r>
            <a:r>
              <a:rPr lang="en-US" dirty="0" smtClean="0">
                <a:solidFill>
                  <a:srgbClr val="57CABF"/>
                </a:solidFill>
              </a:rPr>
              <a:t>Everywhere</a:t>
            </a:r>
            <a:endParaRPr lang="en-US" dirty="0">
              <a:solidFill>
                <a:schemeClr val="tx1"/>
              </a:solidFill>
            </a:endParaRPr>
          </a:p>
        </p:txBody>
      </p:sp>
      <p:grpSp>
        <p:nvGrpSpPr>
          <p:cNvPr id="10" name="Group 9"/>
          <p:cNvGrpSpPr/>
          <p:nvPr/>
        </p:nvGrpSpPr>
        <p:grpSpPr>
          <a:xfrm>
            <a:off x="399277" y="1272945"/>
            <a:ext cx="11408406" cy="1537252"/>
            <a:chOff x="399277" y="1272945"/>
            <a:chExt cx="7942625" cy="1537252"/>
          </a:xfrm>
        </p:grpSpPr>
        <p:sp>
          <p:nvSpPr>
            <p:cNvPr id="14" name="Rounded Rectangle 13"/>
            <p:cNvSpPr/>
            <p:nvPr/>
          </p:nvSpPr>
          <p:spPr>
            <a:xfrm>
              <a:off x="399277" y="1272945"/>
              <a:ext cx="7942625" cy="15372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p:cNvSpPr txBox="1"/>
            <p:nvPr/>
          </p:nvSpPr>
          <p:spPr>
            <a:xfrm>
              <a:off x="577527" y="1296532"/>
              <a:ext cx="6953282" cy="1446550"/>
            </a:xfrm>
            <a:prstGeom prst="rect">
              <a:avLst/>
            </a:prstGeom>
            <a:noFill/>
          </p:spPr>
          <p:txBody>
            <a:bodyPr wrap="square" rtlCol="0">
              <a:spAutoFit/>
            </a:bodyPr>
            <a:lstStyle/>
            <a:p>
              <a:r>
                <a:rPr lang="en-US" sz="2800" b="1" dirty="0" smtClean="0">
                  <a:latin typeface="Raleway" charset="0"/>
                  <a:ea typeface="Raleway" charset="0"/>
                  <a:cs typeface="Raleway" charset="0"/>
                </a:rPr>
                <a:t>End Consumer</a:t>
              </a:r>
            </a:p>
            <a:p>
              <a:pPr marL="285750" indent="-285750">
                <a:buFont typeface="Arial" charset="0"/>
                <a:buChar char="•"/>
              </a:pPr>
              <a:r>
                <a:rPr lang="en-US" sz="2000" dirty="0" smtClean="0">
                  <a:latin typeface="Raleway" charset="0"/>
                  <a:ea typeface="Raleway" charset="0"/>
                  <a:cs typeface="Raleway" charset="0"/>
                </a:rPr>
                <a:t>Current level indication with alarm configuration</a:t>
              </a:r>
            </a:p>
            <a:p>
              <a:pPr marL="285750" indent="-285750">
                <a:buFont typeface="Arial" charset="0"/>
                <a:buChar char="•"/>
              </a:pPr>
              <a:r>
                <a:rPr lang="en-US" sz="2000" dirty="0" smtClean="0">
                  <a:latin typeface="Raleway" charset="0"/>
                  <a:ea typeface="Raleway" charset="0"/>
                  <a:cs typeface="Raleway" charset="0"/>
                </a:rPr>
                <a:t>Scheduling doorstep delivery with real-time follow-up</a:t>
              </a:r>
            </a:p>
            <a:p>
              <a:pPr marL="285750" indent="-285750">
                <a:buFont typeface="Arial" charset="0"/>
                <a:buChar char="•"/>
              </a:pPr>
              <a:r>
                <a:rPr lang="en-US" sz="2000" dirty="0" smtClean="0">
                  <a:latin typeface="Raleway" charset="0"/>
                  <a:ea typeface="Raleway" charset="0"/>
                  <a:cs typeface="Raleway" charset="0"/>
                </a:rPr>
                <a:t>Leak detection by smart measuring techniques</a:t>
              </a:r>
              <a:endParaRPr lang="en-GB" sz="2000" dirty="0">
                <a:latin typeface="Raleway" charset="0"/>
                <a:ea typeface="Raleway" charset="0"/>
                <a:cs typeface="Raleway" charset="0"/>
              </a:endParaRPr>
            </a:p>
          </p:txBody>
        </p:sp>
      </p:grpSp>
      <p:grpSp>
        <p:nvGrpSpPr>
          <p:cNvPr id="12" name="Group 11"/>
          <p:cNvGrpSpPr/>
          <p:nvPr/>
        </p:nvGrpSpPr>
        <p:grpSpPr>
          <a:xfrm>
            <a:off x="399273" y="4761347"/>
            <a:ext cx="11408413" cy="1537252"/>
            <a:chOff x="3944574" y="5089031"/>
            <a:chExt cx="10636003" cy="1537252"/>
          </a:xfrm>
        </p:grpSpPr>
        <p:sp>
          <p:nvSpPr>
            <p:cNvPr id="18" name="Rounded Rectangle 17"/>
            <p:cNvSpPr/>
            <p:nvPr/>
          </p:nvSpPr>
          <p:spPr>
            <a:xfrm>
              <a:off x="3944574" y="5089031"/>
              <a:ext cx="10636003" cy="15372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p:cNvSpPr txBox="1"/>
            <p:nvPr/>
          </p:nvSpPr>
          <p:spPr>
            <a:xfrm>
              <a:off x="4110759" y="5152208"/>
              <a:ext cx="10199698" cy="1446550"/>
            </a:xfrm>
            <a:prstGeom prst="rect">
              <a:avLst/>
            </a:prstGeom>
            <a:noFill/>
          </p:spPr>
          <p:txBody>
            <a:bodyPr wrap="square" rtlCol="0">
              <a:spAutoFit/>
            </a:bodyPr>
            <a:lstStyle/>
            <a:p>
              <a:r>
                <a:rPr lang="en-GB" sz="2800" b="1" dirty="0" smtClean="0">
                  <a:latin typeface="Raleway" charset="0"/>
                  <a:ea typeface="Raleway" charset="0"/>
                  <a:cs typeface="Raleway" charset="0"/>
                </a:rPr>
                <a:t>Distributor</a:t>
              </a:r>
            </a:p>
            <a:p>
              <a:pPr marL="285750" indent="-285750">
                <a:buFont typeface="Arial" charset="0"/>
                <a:buChar char="•"/>
              </a:pPr>
              <a:r>
                <a:rPr lang="en-GB" sz="2000" dirty="0" smtClean="0">
                  <a:latin typeface="Raleway" charset="0"/>
                  <a:ea typeface="Raleway" charset="0"/>
                  <a:cs typeface="Raleway" charset="0"/>
                </a:rPr>
                <a:t>Dynamic </a:t>
              </a:r>
              <a:r>
                <a:rPr lang="en-GB" sz="2000" dirty="0">
                  <a:latin typeface="Raleway" charset="0"/>
                  <a:ea typeface="Raleway" charset="0"/>
                  <a:cs typeface="Raleway" charset="0"/>
                </a:rPr>
                <a:t>optimized delivery route </a:t>
              </a:r>
              <a:r>
                <a:rPr lang="en-GB" sz="2000" dirty="0" smtClean="0">
                  <a:latin typeface="Raleway" charset="0"/>
                  <a:ea typeface="Raleway" charset="0"/>
                  <a:cs typeface="Raleway" charset="0"/>
                </a:rPr>
                <a:t>(-30% in distribution cost)</a:t>
              </a:r>
            </a:p>
            <a:p>
              <a:pPr marL="285750" indent="-285750">
                <a:buFont typeface="Arial" charset="0"/>
                <a:buChar char="•"/>
              </a:pPr>
              <a:r>
                <a:rPr lang="en-GB" sz="2000" dirty="0" smtClean="0">
                  <a:latin typeface="Raleway" charset="0"/>
                  <a:ea typeface="Raleway" charset="0"/>
                  <a:cs typeface="Raleway" charset="0"/>
                </a:rPr>
                <a:t>Automated </a:t>
              </a:r>
              <a:r>
                <a:rPr lang="en-GB" sz="2000" dirty="0">
                  <a:latin typeface="Raleway" charset="0"/>
                  <a:ea typeface="Raleway" charset="0"/>
                  <a:cs typeface="Raleway" charset="0"/>
                </a:rPr>
                <a:t>pre-delivery check to insure customer </a:t>
              </a:r>
              <a:r>
                <a:rPr lang="en-GB" sz="2000" dirty="0" smtClean="0">
                  <a:latin typeface="Raleway" charset="0"/>
                  <a:ea typeface="Raleway" charset="0"/>
                  <a:cs typeface="Raleway" charset="0"/>
                </a:rPr>
                <a:t>presence</a:t>
              </a:r>
              <a:endParaRPr lang="en-GB" sz="2000" dirty="0">
                <a:latin typeface="Raleway" charset="0"/>
                <a:ea typeface="Raleway" charset="0"/>
                <a:cs typeface="Raleway" charset="0"/>
              </a:endParaRPr>
            </a:p>
            <a:p>
              <a:pPr marL="285750" indent="-285750">
                <a:buFont typeface="Arial" charset="0"/>
                <a:buChar char="•"/>
              </a:pPr>
              <a:r>
                <a:rPr lang="en-GB" sz="2000" dirty="0" smtClean="0">
                  <a:latin typeface="Raleway" charset="0"/>
                  <a:ea typeface="Raleway" charset="0"/>
                  <a:cs typeface="Raleway" charset="0"/>
                </a:rPr>
                <a:t>Accommodate </a:t>
              </a:r>
              <a:r>
                <a:rPr lang="en-GB" sz="2000" dirty="0">
                  <a:latin typeface="Raleway" charset="0"/>
                  <a:ea typeface="Raleway" charset="0"/>
                  <a:cs typeface="Raleway" charset="0"/>
                </a:rPr>
                <a:t>manual delivery </a:t>
              </a:r>
              <a:r>
                <a:rPr lang="en-GB" sz="2000" dirty="0" smtClean="0">
                  <a:latin typeface="Raleway" charset="0"/>
                  <a:ea typeface="Raleway" charset="0"/>
                  <a:cs typeface="Raleway" charset="0"/>
                </a:rPr>
                <a:t>to </a:t>
              </a:r>
              <a:r>
                <a:rPr lang="en-GB" sz="2000" dirty="0">
                  <a:latin typeface="Raleway" charset="0"/>
                  <a:ea typeface="Raleway" charset="0"/>
                  <a:cs typeface="Raleway" charset="0"/>
                </a:rPr>
                <a:t>ease market </a:t>
              </a:r>
              <a:r>
                <a:rPr lang="en-GB" sz="2000" dirty="0" smtClean="0">
                  <a:latin typeface="Raleway" charset="0"/>
                  <a:ea typeface="Raleway" charset="0"/>
                  <a:cs typeface="Raleway" charset="0"/>
                </a:rPr>
                <a:t>penetration</a:t>
              </a:r>
              <a:endParaRPr lang="en-GB" sz="2000" dirty="0">
                <a:latin typeface="Raleway" charset="0"/>
                <a:ea typeface="Raleway" charset="0"/>
                <a:cs typeface="Raleway" charset="0"/>
              </a:endParaRPr>
            </a:p>
          </p:txBody>
        </p:sp>
      </p:grpSp>
      <p:grpSp>
        <p:nvGrpSpPr>
          <p:cNvPr id="11" name="Group 10"/>
          <p:cNvGrpSpPr/>
          <p:nvPr/>
        </p:nvGrpSpPr>
        <p:grpSpPr>
          <a:xfrm>
            <a:off x="399276" y="2989195"/>
            <a:ext cx="11408409" cy="1537252"/>
            <a:chOff x="3944576" y="1656055"/>
            <a:chExt cx="7942625" cy="1537252"/>
          </a:xfrm>
        </p:grpSpPr>
        <p:sp>
          <p:nvSpPr>
            <p:cNvPr id="4" name="Rounded Rectangle 3"/>
            <p:cNvSpPr/>
            <p:nvPr/>
          </p:nvSpPr>
          <p:spPr>
            <a:xfrm>
              <a:off x="3944576" y="1656055"/>
              <a:ext cx="7942625" cy="15372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p:cNvSpPr txBox="1"/>
            <p:nvPr/>
          </p:nvSpPr>
          <p:spPr>
            <a:xfrm>
              <a:off x="4121425" y="1701406"/>
              <a:ext cx="7765775" cy="1446550"/>
            </a:xfrm>
            <a:prstGeom prst="rect">
              <a:avLst/>
            </a:prstGeom>
            <a:noFill/>
          </p:spPr>
          <p:txBody>
            <a:bodyPr wrap="square" rtlCol="0">
              <a:spAutoFit/>
            </a:bodyPr>
            <a:lstStyle/>
            <a:p>
              <a:r>
                <a:rPr lang="en-GB" sz="2800" b="1" dirty="0" smtClean="0">
                  <a:latin typeface="Raleway" charset="0"/>
                  <a:ea typeface="Raleway" charset="0"/>
                  <a:cs typeface="Raleway" charset="0"/>
                </a:rPr>
                <a:t>Brand</a:t>
              </a:r>
            </a:p>
            <a:p>
              <a:pPr marL="285750" indent="-285750">
                <a:buFont typeface="Arial" charset="0"/>
                <a:buChar char="•"/>
              </a:pPr>
              <a:r>
                <a:rPr lang="en-GB" sz="2000" dirty="0" smtClean="0">
                  <a:latin typeface="Raleway" charset="0"/>
                  <a:ea typeface="Raleway" charset="0"/>
                  <a:cs typeface="Raleway" charset="0"/>
                </a:rPr>
                <a:t>Improve customer retention</a:t>
              </a:r>
            </a:p>
            <a:p>
              <a:pPr marL="285750" indent="-285750">
                <a:buFont typeface="Arial" charset="0"/>
                <a:buChar char="•"/>
              </a:pPr>
              <a:r>
                <a:rPr lang="en-GB" sz="2000" dirty="0" smtClean="0">
                  <a:latin typeface="Raleway" charset="0"/>
                  <a:ea typeface="Raleway" charset="0"/>
                  <a:cs typeface="Raleway" charset="0"/>
                </a:rPr>
                <a:t>Reduction </a:t>
              </a:r>
              <a:r>
                <a:rPr lang="en-GB" sz="2000" dirty="0">
                  <a:latin typeface="Raleway" charset="0"/>
                  <a:ea typeface="Raleway" charset="0"/>
                  <a:cs typeface="Raleway" charset="0"/>
                </a:rPr>
                <a:t>of gas cylinder inventory </a:t>
              </a:r>
              <a:r>
                <a:rPr lang="en-GB" sz="2000" dirty="0" smtClean="0">
                  <a:latin typeface="Raleway" charset="0"/>
                  <a:ea typeface="Raleway" charset="0"/>
                  <a:cs typeface="Raleway" charset="0"/>
                </a:rPr>
                <a:t>to </a:t>
              </a:r>
              <a:r>
                <a:rPr lang="en-GB" sz="2000" dirty="0">
                  <a:latin typeface="Raleway" charset="0"/>
                  <a:ea typeface="Raleway" charset="0"/>
                  <a:cs typeface="Raleway" charset="0"/>
                </a:rPr>
                <a:t>cover </a:t>
              </a:r>
              <a:r>
                <a:rPr lang="en-GB" sz="2000" dirty="0" smtClean="0">
                  <a:latin typeface="Raleway" charset="0"/>
                  <a:ea typeface="Raleway" charset="0"/>
                  <a:cs typeface="Raleway" charset="0"/>
                </a:rPr>
                <a:t>new customers</a:t>
              </a:r>
            </a:p>
            <a:p>
              <a:pPr marL="285750" indent="-285750">
                <a:buFont typeface="Arial" charset="0"/>
                <a:buChar char="•"/>
              </a:pPr>
              <a:r>
                <a:rPr lang="en-GB" sz="2000" dirty="0" smtClean="0">
                  <a:latin typeface="Raleway" charset="0"/>
                  <a:ea typeface="Raleway" charset="0"/>
                  <a:cs typeface="Raleway" charset="0"/>
                </a:rPr>
                <a:t>Direct </a:t>
              </a:r>
              <a:r>
                <a:rPr lang="en-GB" sz="2000" dirty="0">
                  <a:latin typeface="Raleway" charset="0"/>
                  <a:ea typeface="Raleway" charset="0"/>
                  <a:cs typeface="Raleway" charset="0"/>
                </a:rPr>
                <a:t>channel to end-user through the mobile </a:t>
              </a:r>
              <a:r>
                <a:rPr lang="en-GB" sz="2000" dirty="0" smtClean="0">
                  <a:latin typeface="Raleway" charset="0"/>
                  <a:ea typeface="Raleway" charset="0"/>
                  <a:cs typeface="Raleway" charset="0"/>
                </a:rPr>
                <a:t>application</a:t>
              </a:r>
              <a:endParaRPr lang="en-GB" sz="2000" dirty="0">
                <a:latin typeface="Raleway" charset="0"/>
                <a:ea typeface="Raleway" charset="0"/>
                <a:cs typeface="Raleway" charset="0"/>
              </a:endParaRPr>
            </a:p>
          </p:txBody>
        </p:sp>
      </p:grpSp>
    </p:spTree>
    <p:extLst>
      <p:ext uri="{BB962C8B-B14F-4D97-AF65-F5344CB8AC3E}">
        <p14:creationId xmlns:p14="http://schemas.microsoft.com/office/powerpoint/2010/main" val="17461066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907" y="168642"/>
            <a:ext cx="10571998" cy="970450"/>
          </a:xfrm>
        </p:spPr>
        <p:txBody>
          <a:bodyPr/>
          <a:lstStyle/>
          <a:p>
            <a:pPr algn="ctr"/>
            <a:r>
              <a:rPr lang="en-GB" dirty="0" smtClean="0">
                <a:solidFill>
                  <a:srgbClr val="57CABF"/>
                </a:solidFill>
              </a:rPr>
              <a:t>Business</a:t>
            </a:r>
            <a:r>
              <a:rPr lang="en-GB" dirty="0" smtClean="0"/>
              <a:t> model</a:t>
            </a:r>
            <a:endParaRPr lang="en-GB" dirty="0"/>
          </a:p>
        </p:txBody>
      </p:sp>
      <p:sp>
        <p:nvSpPr>
          <p:cNvPr id="5" name="Text Placeholder 4"/>
          <p:cNvSpPr>
            <a:spLocks noGrp="1"/>
          </p:cNvSpPr>
          <p:nvPr>
            <p:ph type="body" sz="quarter" idx="3"/>
          </p:nvPr>
        </p:nvSpPr>
        <p:spPr>
          <a:xfrm>
            <a:off x="609601" y="1565983"/>
            <a:ext cx="10793506" cy="576262"/>
          </a:xfrm>
        </p:spPr>
        <p:txBody>
          <a:bodyPr/>
          <a:lstStyle/>
          <a:p>
            <a:r>
              <a:rPr lang="en-GB" sz="3600" b="1" smtClean="0"/>
              <a:t>B2</a:t>
            </a:r>
            <a:r>
              <a:rPr lang="en-GB" sz="3600" b="1" smtClean="0">
                <a:solidFill>
                  <a:srgbClr val="57CABF"/>
                </a:solidFill>
              </a:rPr>
              <a:t>B</a:t>
            </a:r>
            <a:endParaRPr lang="en-GB" b="1">
              <a:solidFill>
                <a:srgbClr val="57CABF"/>
              </a:solidFill>
            </a:endParaRPr>
          </a:p>
        </p:txBody>
      </p:sp>
      <p:sp>
        <p:nvSpPr>
          <p:cNvPr id="6" name="Content Placeholder 5"/>
          <p:cNvSpPr>
            <a:spLocks noGrp="1"/>
          </p:cNvSpPr>
          <p:nvPr>
            <p:ph sz="quarter" idx="4"/>
          </p:nvPr>
        </p:nvSpPr>
        <p:spPr>
          <a:xfrm>
            <a:off x="799907" y="3207508"/>
            <a:ext cx="10815831" cy="2544385"/>
          </a:xfrm>
        </p:spPr>
        <p:txBody>
          <a:bodyPr>
            <a:normAutofit/>
          </a:bodyPr>
          <a:lstStyle/>
          <a:p>
            <a:pPr>
              <a:spcBef>
                <a:spcPts val="1200"/>
              </a:spcBef>
              <a:spcAft>
                <a:spcPts val="1200"/>
              </a:spcAft>
            </a:pPr>
            <a:r>
              <a:rPr lang="en-GB" sz="2800" dirty="0" smtClean="0"/>
              <a:t>NESTO scale is paid by LPG brand ~25 €</a:t>
            </a:r>
            <a:br>
              <a:rPr lang="en-GB" sz="2800" dirty="0" smtClean="0"/>
            </a:br>
            <a:r>
              <a:rPr lang="en-GB" sz="2800" dirty="0" smtClean="0"/>
              <a:t>(eventually back charged to end-consumer as caution)</a:t>
            </a:r>
          </a:p>
          <a:p>
            <a:pPr>
              <a:spcBef>
                <a:spcPts val="1200"/>
              </a:spcBef>
              <a:spcAft>
                <a:spcPts val="1200"/>
              </a:spcAft>
            </a:pPr>
            <a:r>
              <a:rPr lang="en-GB" sz="2800" dirty="0" smtClean="0"/>
              <a:t>NESTO service fee per delivery</a:t>
            </a:r>
          </a:p>
        </p:txBody>
      </p:sp>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886" y="2234286"/>
            <a:ext cx="2549676" cy="619990"/>
          </a:xfrm>
          <a:prstGeom prst="rect">
            <a:avLst/>
          </a:prstGeom>
          <a:effectLst>
            <a:outerShdw blurRad="50800" dist="76200" dir="2700000" algn="tl" rotWithShape="0">
              <a:prstClr val="black">
                <a:alpha val="40000"/>
              </a:prstClr>
            </a:outerShdw>
          </a:effectLst>
        </p:spPr>
      </p:pic>
      <p:pic>
        <p:nvPicPr>
          <p:cNvPr id="23" name="Picture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7679" y="1854387"/>
            <a:ext cx="1261081" cy="1261081"/>
          </a:xfrm>
          <a:prstGeom prst="rect">
            <a:avLst/>
          </a:prstGeom>
          <a:effectLst>
            <a:outerShdw blurRad="50800" dist="76200" dir="2700000" algn="tl" rotWithShape="0">
              <a:prstClr val="black">
                <a:alpha val="40000"/>
              </a:prstClr>
            </a:outerShdw>
          </a:effectLst>
        </p:spPr>
      </p:pic>
      <p:pic>
        <p:nvPicPr>
          <p:cNvPr id="24" name="Picture 23"/>
          <p:cNvPicPr>
            <a:picLocks noChangeAspect="1"/>
          </p:cNvPicPr>
          <p:nvPr/>
        </p:nvPicPr>
        <p:blipFill rotWithShape="1">
          <a:blip r:embed="rId5">
            <a:extLst>
              <a:ext uri="{28A0092B-C50C-407E-A947-70E740481C1C}">
                <a14:useLocalDpi xmlns:a14="http://schemas.microsoft.com/office/drawing/2010/main" val="0"/>
              </a:ext>
            </a:extLst>
          </a:blip>
          <a:srcRect l="55994" r="-55994"/>
          <a:stretch/>
        </p:blipFill>
        <p:spPr>
          <a:xfrm>
            <a:off x="5094773" y="1884306"/>
            <a:ext cx="1823162" cy="1215822"/>
          </a:xfrm>
          <a:prstGeom prst="rect">
            <a:avLst/>
          </a:prstGeom>
          <a:effectLst>
            <a:outerShdw blurRad="50800" dist="76200" dir="2700000" algn="tl" rotWithShape="0">
              <a:prstClr val="black">
                <a:alpha val="40000"/>
              </a:prstClr>
            </a:outerShdw>
          </a:effectLst>
        </p:spPr>
      </p:pic>
      <p:pic>
        <p:nvPicPr>
          <p:cNvPr id="25" name="Picture 2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48545" y="2178675"/>
            <a:ext cx="1192828" cy="465838"/>
          </a:xfrm>
          <a:prstGeom prst="rect">
            <a:avLst/>
          </a:prstGeom>
          <a:effectLst>
            <a:outerShdw blurRad="50800" dist="76200" dir="2700000" algn="tl" rotWithShape="0">
              <a:prstClr val="black">
                <a:alpha val="40000"/>
              </a:prstClr>
            </a:outerShdw>
          </a:effectLst>
        </p:spPr>
      </p:pic>
      <p:pic>
        <p:nvPicPr>
          <p:cNvPr id="26" name="Picture 25"/>
          <p:cNvPicPr>
            <a:picLocks noChangeAspect="1"/>
          </p:cNvPicPr>
          <p:nvPr/>
        </p:nvPicPr>
        <p:blipFill rotWithShape="1">
          <a:blip r:embed="rId7">
            <a:extLst>
              <a:ext uri="{28A0092B-C50C-407E-A947-70E740481C1C}">
                <a14:useLocalDpi xmlns:a14="http://schemas.microsoft.com/office/drawing/2010/main" val="0"/>
              </a:ext>
            </a:extLst>
          </a:blip>
          <a:srcRect l="-50923" t="-430" r="50923" b="430"/>
          <a:stretch/>
        </p:blipFill>
        <p:spPr>
          <a:xfrm>
            <a:off x="10171984" y="2338736"/>
            <a:ext cx="1093905" cy="306963"/>
          </a:xfrm>
          <a:prstGeom prst="rect">
            <a:avLst/>
          </a:prstGeom>
          <a:effectLst>
            <a:outerShdw blurRad="50800" dist="76200" dir="2700000" algn="tl" rotWithShape="0">
              <a:prstClr val="black">
                <a:alpha val="40000"/>
              </a:prstClr>
            </a:outerShdw>
          </a:effectLst>
        </p:spPr>
      </p:pic>
      <p:grpSp>
        <p:nvGrpSpPr>
          <p:cNvPr id="27" name="Group 26"/>
          <p:cNvGrpSpPr/>
          <p:nvPr/>
        </p:nvGrpSpPr>
        <p:grpSpPr>
          <a:xfrm>
            <a:off x="9641059" y="4973195"/>
            <a:ext cx="822229" cy="1024551"/>
            <a:chOff x="2247985" y="4548134"/>
            <a:chExt cx="979289" cy="1220258"/>
          </a:xfrm>
        </p:grpSpPr>
        <p:pic>
          <p:nvPicPr>
            <p:cNvPr id="28" name="Picture 2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87891" y="4548134"/>
              <a:ext cx="699479" cy="1220258"/>
            </a:xfrm>
            <a:prstGeom prst="rect">
              <a:avLst/>
            </a:prstGeom>
          </p:spPr>
        </p:pic>
        <p:sp>
          <p:nvSpPr>
            <p:cNvPr id="29" name="Title 1"/>
            <p:cNvSpPr txBox="1">
              <a:spLocks/>
            </p:cNvSpPr>
            <p:nvPr/>
          </p:nvSpPr>
          <p:spPr>
            <a:xfrm>
              <a:off x="2247985" y="4797942"/>
              <a:ext cx="979289" cy="970450"/>
            </a:xfrm>
            <a:prstGeom prst="rect">
              <a:avLst/>
            </a:prstGeom>
            <a:effectLst>
              <a:outerShdw blurRad="50800" dist="76200" dir="2700000" algn="tl" rotWithShape="0">
                <a:prstClr val="black">
                  <a:alpha val="40000"/>
                </a:prstClr>
              </a:outerShdw>
            </a:effectLst>
          </p:spPr>
          <p:txBody>
            <a:bodyPr vert="horz" lIns="91440" tIns="45720" rIns="91440" bIns="45720" rtlCol="0" anchor="ctr">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2400" dirty="0" smtClean="0">
                  <a:solidFill>
                    <a:schemeClr val="tx1"/>
                  </a:solidFill>
                </a:rPr>
                <a:t>1 €</a:t>
              </a:r>
              <a:endParaRPr lang="en-GB" sz="2400" dirty="0">
                <a:solidFill>
                  <a:schemeClr val="tx1"/>
                </a:solidFill>
              </a:endParaRPr>
            </a:p>
          </p:txBody>
        </p:sp>
      </p:grpSp>
      <p:grpSp>
        <p:nvGrpSpPr>
          <p:cNvPr id="30" name="Group 29"/>
          <p:cNvGrpSpPr/>
          <p:nvPr/>
        </p:nvGrpSpPr>
        <p:grpSpPr>
          <a:xfrm>
            <a:off x="10549676" y="3438498"/>
            <a:ext cx="822229" cy="2559248"/>
            <a:chOff x="9919910" y="3395839"/>
            <a:chExt cx="979289" cy="3048109"/>
          </a:xfrm>
        </p:grpSpPr>
        <p:pic>
          <p:nvPicPr>
            <p:cNvPr id="31" name="Picture 3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061563" y="3395839"/>
              <a:ext cx="695985" cy="3048109"/>
            </a:xfrm>
            <a:prstGeom prst="rect">
              <a:avLst/>
            </a:prstGeom>
          </p:spPr>
        </p:pic>
        <p:sp>
          <p:nvSpPr>
            <p:cNvPr id="32" name="Title 1"/>
            <p:cNvSpPr txBox="1">
              <a:spLocks/>
            </p:cNvSpPr>
            <p:nvPr/>
          </p:nvSpPr>
          <p:spPr>
            <a:xfrm>
              <a:off x="9919910" y="4434668"/>
              <a:ext cx="979289" cy="970450"/>
            </a:xfrm>
            <a:prstGeom prst="rect">
              <a:avLst/>
            </a:prstGeom>
            <a:effectLst>
              <a:outerShdw blurRad="50800" dist="76200" dir="2700000" algn="tl" rotWithShape="0">
                <a:prstClr val="black">
                  <a:alpha val="40000"/>
                </a:prstClr>
              </a:outerShdw>
            </a:effectLst>
          </p:spPr>
          <p:txBody>
            <a:bodyPr vert="horz" lIns="91440" tIns="45720" rIns="91440" bIns="45720" rtlCol="0" anchor="ctr">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2400" smtClean="0">
                  <a:solidFill>
                    <a:schemeClr val="tx1"/>
                  </a:solidFill>
                </a:rPr>
                <a:t>3 €</a:t>
              </a:r>
              <a:endParaRPr lang="en-GB" sz="2400">
                <a:solidFill>
                  <a:schemeClr val="tx1"/>
                </a:solidFill>
              </a:endParaRPr>
            </a:p>
          </p:txBody>
        </p:sp>
      </p:grpSp>
    </p:spTree>
    <p:extLst>
      <p:ext uri="{BB962C8B-B14F-4D97-AF65-F5344CB8AC3E}">
        <p14:creationId xmlns:p14="http://schemas.microsoft.com/office/powerpoint/2010/main" val="9709558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202687"/>
            <a:ext cx="5916156" cy="970450"/>
          </a:xfrm>
        </p:spPr>
        <p:txBody>
          <a:bodyPr/>
          <a:lstStyle/>
          <a:p>
            <a:pPr algn="ctr"/>
            <a:r>
              <a:rPr lang="en-GB" smtClean="0"/>
              <a:t>World – 266 B€</a:t>
            </a:r>
            <a:endParaRPr lang="en-GB"/>
          </a:p>
        </p:txBody>
      </p:sp>
      <p:graphicFrame>
        <p:nvGraphicFramePr>
          <p:cNvPr id="3" name="Chart 2"/>
          <p:cNvGraphicFramePr/>
          <p:nvPr>
            <p:extLst>
              <p:ext uri="{D42A27DB-BD31-4B8C-83A1-F6EECF244321}">
                <p14:modId xmlns:p14="http://schemas.microsoft.com/office/powerpoint/2010/main" val="310876040"/>
              </p:ext>
            </p:extLst>
          </p:nvPr>
        </p:nvGraphicFramePr>
        <p:xfrm>
          <a:off x="0" y="1479284"/>
          <a:ext cx="6096000" cy="4955458"/>
        </p:xfrm>
        <a:graphic>
          <a:graphicData uri="http://schemas.openxmlformats.org/drawingml/2006/chart">
            <c:chart xmlns:c="http://schemas.openxmlformats.org/drawingml/2006/chart" xmlns:r="http://schemas.openxmlformats.org/officeDocument/2006/relationships" r:id="rId3"/>
          </a:graphicData>
        </a:graphic>
      </p:graphicFrame>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6520" y="4608463"/>
            <a:ext cx="2549676" cy="619990"/>
          </a:xfrm>
          <a:prstGeom prst="rect">
            <a:avLst/>
          </a:prstGeom>
          <a:effectLst>
            <a:outerShdw blurRad="50800" dist="76200" dir="2700000" algn="tl" rotWithShape="0">
              <a:prstClr val="black">
                <a:alpha val="40000"/>
              </a:prstClr>
            </a:outerShdw>
          </a:effectLst>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9512" y="2965951"/>
            <a:ext cx="1261081" cy="1261081"/>
          </a:xfrm>
          <a:prstGeom prst="rect">
            <a:avLst/>
          </a:prstGeom>
          <a:effectLst>
            <a:outerShdw blurRad="50800" dist="76200" dir="2700000" algn="tl" rotWithShape="0">
              <a:prstClr val="black">
                <a:alpha val="40000"/>
              </a:prstClr>
            </a:outerShdw>
          </a:effectLst>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56451" y="1468702"/>
            <a:ext cx="1823162" cy="1215822"/>
          </a:xfrm>
          <a:prstGeom prst="rect">
            <a:avLst/>
          </a:prstGeom>
          <a:effectLst>
            <a:outerShdw blurRad="50800" dist="76200" dir="2700000" algn="tl" rotWithShape="0">
              <a:prstClr val="black">
                <a:alpha val="40000"/>
              </a:prstClr>
            </a:outerShdw>
          </a:effectLst>
        </p:spPr>
      </p:pic>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38633" y="2229268"/>
            <a:ext cx="1192828" cy="465838"/>
          </a:xfrm>
          <a:prstGeom prst="rect">
            <a:avLst/>
          </a:prstGeom>
          <a:effectLst>
            <a:outerShdw blurRad="50800" dist="76200" dir="2700000" algn="tl" rotWithShape="0">
              <a:prstClr val="black">
                <a:alpha val="40000"/>
              </a:prstClr>
            </a:outerShdw>
          </a:effectLst>
        </p:spPr>
      </p:pic>
      <p:pic>
        <p:nvPicPr>
          <p:cNvPr id="8" name="Picture 7"/>
          <p:cNvPicPr>
            <a:picLocks noChangeAspect="1"/>
          </p:cNvPicPr>
          <p:nvPr/>
        </p:nvPicPr>
        <p:blipFill rotWithShape="1">
          <a:blip r:embed="rId8">
            <a:extLst>
              <a:ext uri="{28A0092B-C50C-407E-A947-70E740481C1C}">
                <a14:useLocalDpi xmlns:a14="http://schemas.microsoft.com/office/drawing/2010/main" val="0"/>
              </a:ext>
            </a:extLst>
          </a:blip>
          <a:srcRect l="-51042" r="51042"/>
          <a:stretch/>
        </p:blipFill>
        <p:spPr>
          <a:xfrm>
            <a:off x="3723089" y="2827224"/>
            <a:ext cx="1093905" cy="306963"/>
          </a:xfrm>
          <a:prstGeom prst="rect">
            <a:avLst/>
          </a:prstGeom>
          <a:effectLst>
            <a:outerShdw blurRad="50800" dist="76200" dir="2700000" algn="tl" rotWithShape="0">
              <a:prstClr val="black">
                <a:alpha val="40000"/>
              </a:prstClr>
            </a:outerShdw>
          </a:effectLst>
        </p:spPr>
      </p:pic>
      <p:sp>
        <p:nvSpPr>
          <p:cNvPr id="10" name="TextBox 9"/>
          <p:cNvSpPr txBox="1"/>
          <p:nvPr/>
        </p:nvSpPr>
        <p:spPr>
          <a:xfrm>
            <a:off x="4384244" y="3338931"/>
            <a:ext cx="1289225" cy="338554"/>
          </a:xfrm>
          <a:prstGeom prst="rect">
            <a:avLst/>
          </a:prstGeom>
          <a:noFill/>
          <a:effectLst>
            <a:outerShdw blurRad="50800" dist="76200" dir="2700000" algn="tl" rotWithShape="0">
              <a:prstClr val="black">
                <a:alpha val="40000"/>
              </a:prstClr>
            </a:outerShdw>
          </a:effectLst>
        </p:spPr>
        <p:txBody>
          <a:bodyPr wrap="square" rtlCol="0">
            <a:spAutoFit/>
          </a:bodyPr>
          <a:lstStyle/>
          <a:p>
            <a:r>
              <a:rPr lang="en-GB" sz="1600" b="1" smtClean="0">
                <a:solidFill>
                  <a:schemeClr val="bg1"/>
                </a:solidFill>
                <a:latin typeface="Raleway Light" charset="0"/>
                <a:ea typeface="Raleway Light" charset="0"/>
                <a:cs typeface="Raleway Light" charset="0"/>
              </a:rPr>
              <a:t>Others</a:t>
            </a:r>
            <a:endParaRPr lang="en-GB" sz="1600" b="1">
              <a:solidFill>
                <a:schemeClr val="bg1"/>
              </a:solidFill>
              <a:latin typeface="Raleway Light" charset="0"/>
              <a:ea typeface="Raleway Light" charset="0"/>
              <a:cs typeface="Raleway Light" charset="0"/>
            </a:endParaRPr>
          </a:p>
        </p:txBody>
      </p:sp>
      <p:graphicFrame>
        <p:nvGraphicFramePr>
          <p:cNvPr id="9" name="Chart 8"/>
          <p:cNvGraphicFramePr/>
          <p:nvPr>
            <p:extLst>
              <p:ext uri="{D42A27DB-BD31-4B8C-83A1-F6EECF244321}">
                <p14:modId xmlns:p14="http://schemas.microsoft.com/office/powerpoint/2010/main" val="737354356"/>
              </p:ext>
            </p:extLst>
          </p:nvPr>
        </p:nvGraphicFramePr>
        <p:xfrm>
          <a:off x="6320920" y="1417638"/>
          <a:ext cx="5691236" cy="5248708"/>
        </p:xfrm>
        <a:graphic>
          <a:graphicData uri="http://schemas.openxmlformats.org/drawingml/2006/chart">
            <c:chart xmlns:c="http://schemas.openxmlformats.org/drawingml/2006/chart" xmlns:r="http://schemas.openxmlformats.org/officeDocument/2006/relationships" r:id="rId9"/>
          </a:graphicData>
        </a:graphic>
      </p:graphicFrame>
      <p:sp>
        <p:nvSpPr>
          <p:cNvPr id="13" name="Title 1"/>
          <p:cNvSpPr txBox="1">
            <a:spLocks/>
          </p:cNvSpPr>
          <p:nvPr/>
        </p:nvSpPr>
        <p:spPr>
          <a:xfrm>
            <a:off x="219456" y="189813"/>
            <a:ext cx="5876543"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dirty="0" smtClean="0"/>
              <a:t>Portugal – 659 M€</a:t>
            </a:r>
            <a:endParaRPr lang="en-GB" dirty="0"/>
          </a:p>
        </p:txBody>
      </p:sp>
      <p:sp>
        <p:nvSpPr>
          <p:cNvPr id="14" name="TextBox 13"/>
          <p:cNvSpPr txBox="1"/>
          <p:nvPr/>
        </p:nvSpPr>
        <p:spPr>
          <a:xfrm>
            <a:off x="92920" y="6456492"/>
            <a:ext cx="8941352" cy="276999"/>
          </a:xfrm>
          <a:prstGeom prst="rect">
            <a:avLst/>
          </a:prstGeom>
          <a:noFill/>
        </p:spPr>
        <p:txBody>
          <a:bodyPr wrap="square" rtlCol="0">
            <a:spAutoFit/>
          </a:bodyPr>
          <a:lstStyle/>
          <a:p>
            <a:r>
              <a:rPr lang="en-GB" sz="1200" b="1" smtClean="0">
                <a:solidFill>
                  <a:srgbClr val="CCEBE7"/>
                </a:solidFill>
                <a:latin typeface="Raleway" charset="0"/>
                <a:ea typeface="Raleway" charset="0"/>
                <a:cs typeface="Raleway" charset="0"/>
              </a:rPr>
              <a:t>Sources:</a:t>
            </a:r>
            <a:r>
              <a:rPr lang="en-GB" sz="1200" smtClean="0">
                <a:latin typeface="Raleway" charset="0"/>
                <a:ea typeface="Raleway" charset="0"/>
                <a:cs typeface="Raleway" charset="0"/>
              </a:rPr>
              <a:t> </a:t>
            </a:r>
            <a:r>
              <a:rPr lang="is-IS" sz="1200" smtClean="0">
                <a:latin typeface="Raleway" charset="0"/>
                <a:ea typeface="Raleway" charset="0"/>
                <a:cs typeface="Raleway" charset="0"/>
              </a:rPr>
              <a:t>Transparent Market Research  2014</a:t>
            </a:r>
            <a:endParaRPr lang="en-GB" sz="1200">
              <a:latin typeface="Raleway" charset="0"/>
              <a:ea typeface="Raleway" charset="0"/>
              <a:cs typeface="Raleway" charset="0"/>
            </a:endParaRPr>
          </a:p>
        </p:txBody>
      </p:sp>
    </p:spTree>
    <p:extLst>
      <p:ext uri="{BB962C8B-B14F-4D97-AF65-F5344CB8AC3E}">
        <p14:creationId xmlns:p14="http://schemas.microsoft.com/office/powerpoint/2010/main" val="6855405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a:off x="-14748" y="0"/>
            <a:ext cx="12192000" cy="6858000"/>
          </a:xfrm>
          <a:prstGeom prst="rect">
            <a:avLst/>
          </a:prstGeom>
        </p:spPr>
      </p:pic>
      <p:sp>
        <p:nvSpPr>
          <p:cNvPr id="2" name="Title 1"/>
          <p:cNvSpPr>
            <a:spLocks noGrp="1"/>
          </p:cNvSpPr>
          <p:nvPr>
            <p:ph type="title"/>
          </p:nvPr>
        </p:nvSpPr>
        <p:spPr/>
        <p:txBody>
          <a:bodyPr/>
          <a:lstStyle/>
          <a:p>
            <a:r>
              <a:rPr lang="en-GB" dirty="0" smtClean="0"/>
              <a:t>Some Figures for </a:t>
            </a:r>
            <a:r>
              <a:rPr lang="en-GB" dirty="0" smtClean="0">
                <a:solidFill>
                  <a:srgbClr val="00B050"/>
                </a:solidFill>
              </a:rPr>
              <a:t>Por</a:t>
            </a:r>
            <a:r>
              <a:rPr lang="en-GB" dirty="0" smtClean="0">
                <a:solidFill>
                  <a:srgbClr val="FFFF00"/>
                </a:solidFill>
              </a:rPr>
              <a:t>tu</a:t>
            </a:r>
            <a:r>
              <a:rPr lang="en-GB" dirty="0" smtClean="0">
                <a:solidFill>
                  <a:srgbClr val="FF0000"/>
                </a:solidFill>
              </a:rPr>
              <a:t>gal</a:t>
            </a:r>
            <a:endParaRPr lang="en-GB" dirty="0"/>
          </a:p>
        </p:txBody>
      </p:sp>
      <p:sp>
        <p:nvSpPr>
          <p:cNvPr id="3" name="Content Placeholder 2"/>
          <p:cNvSpPr>
            <a:spLocks noGrp="1"/>
          </p:cNvSpPr>
          <p:nvPr>
            <p:ph idx="1"/>
          </p:nvPr>
        </p:nvSpPr>
        <p:spPr/>
        <p:txBody>
          <a:bodyPr>
            <a:normAutofit/>
          </a:bodyPr>
          <a:lstStyle/>
          <a:p>
            <a:pPr>
              <a:spcBef>
                <a:spcPts val="0"/>
              </a:spcBef>
              <a:spcAft>
                <a:spcPts val="2400"/>
              </a:spcAft>
            </a:pPr>
            <a:r>
              <a:rPr lang="en-GB" sz="2800" b="1" dirty="0" smtClean="0">
                <a:solidFill>
                  <a:srgbClr val="FFFF00"/>
                </a:solidFill>
              </a:rPr>
              <a:t>58 </a:t>
            </a:r>
            <a:r>
              <a:rPr lang="en-GB" sz="2800" b="1" dirty="0">
                <a:solidFill>
                  <a:srgbClr val="FFFF00"/>
                </a:solidFill>
              </a:rPr>
              <a:t>%</a:t>
            </a:r>
            <a:r>
              <a:rPr lang="en-GB" sz="2800" dirty="0"/>
              <a:t> of the total consumption in gas is from bottled </a:t>
            </a:r>
            <a:r>
              <a:rPr lang="en-GB" sz="2800" dirty="0" smtClean="0"/>
              <a:t>LPG</a:t>
            </a:r>
          </a:p>
          <a:p>
            <a:pPr>
              <a:spcBef>
                <a:spcPts val="0"/>
              </a:spcBef>
              <a:spcAft>
                <a:spcPts val="2400"/>
              </a:spcAft>
            </a:pPr>
            <a:r>
              <a:rPr lang="en-GB" sz="2800" b="1" dirty="0">
                <a:solidFill>
                  <a:srgbClr val="FFFF00"/>
                </a:solidFill>
              </a:rPr>
              <a:t>H</a:t>
            </a:r>
            <a:r>
              <a:rPr lang="en-GB" sz="2800" b="1" dirty="0" smtClean="0">
                <a:solidFill>
                  <a:srgbClr val="FFFF00"/>
                </a:solidFill>
              </a:rPr>
              <a:t>ighest</a:t>
            </a:r>
            <a:r>
              <a:rPr lang="en-GB" sz="2800" dirty="0" smtClean="0"/>
              <a:t> </a:t>
            </a:r>
            <a:r>
              <a:rPr lang="en-GB" sz="2800" dirty="0"/>
              <a:t>LPG consumption </a:t>
            </a:r>
            <a:r>
              <a:rPr lang="en-GB" sz="2800" b="1" dirty="0" smtClean="0"/>
              <a:t>per </a:t>
            </a:r>
            <a:r>
              <a:rPr lang="en-GB" sz="2800" b="1" dirty="0"/>
              <a:t>capita in EU</a:t>
            </a:r>
          </a:p>
          <a:p>
            <a:pPr>
              <a:spcBef>
                <a:spcPts val="0"/>
              </a:spcBef>
              <a:spcAft>
                <a:spcPts val="2400"/>
              </a:spcAft>
            </a:pPr>
            <a:r>
              <a:rPr lang="en-GB" sz="2800" b="1" dirty="0">
                <a:solidFill>
                  <a:srgbClr val="FFFF00"/>
                </a:solidFill>
              </a:rPr>
              <a:t>3</a:t>
            </a:r>
            <a:r>
              <a:rPr lang="en-GB" sz="2800" b="1" baseline="30000" dirty="0">
                <a:solidFill>
                  <a:srgbClr val="FFFF00"/>
                </a:solidFill>
              </a:rPr>
              <a:t>rd</a:t>
            </a:r>
            <a:r>
              <a:rPr lang="en-GB" sz="2800" b="1" dirty="0">
                <a:solidFill>
                  <a:srgbClr val="FFFF00"/>
                </a:solidFill>
              </a:rPr>
              <a:t> highest</a:t>
            </a:r>
            <a:r>
              <a:rPr lang="en-GB" sz="2800" dirty="0"/>
              <a:t> </a:t>
            </a:r>
            <a:r>
              <a:rPr lang="en-GB" sz="2800" dirty="0" smtClean="0"/>
              <a:t>price </a:t>
            </a:r>
            <a:r>
              <a:rPr lang="en-GB" sz="2800" dirty="0"/>
              <a:t>in </a:t>
            </a:r>
            <a:r>
              <a:rPr lang="en-GB" sz="2800" dirty="0" smtClean="0"/>
              <a:t>EU</a:t>
            </a:r>
          </a:p>
        </p:txBody>
      </p:sp>
      <p:sp>
        <p:nvSpPr>
          <p:cNvPr id="6" name="TextBox 5"/>
          <p:cNvSpPr txBox="1"/>
          <p:nvPr/>
        </p:nvSpPr>
        <p:spPr>
          <a:xfrm>
            <a:off x="117305" y="6457106"/>
            <a:ext cx="4559300" cy="276999"/>
          </a:xfrm>
          <a:prstGeom prst="rect">
            <a:avLst/>
          </a:prstGeom>
          <a:noFill/>
        </p:spPr>
        <p:txBody>
          <a:bodyPr wrap="square" rtlCol="0">
            <a:spAutoFit/>
          </a:bodyPr>
          <a:lstStyle/>
          <a:p>
            <a:r>
              <a:rPr lang="en-GB" sz="1200" b="1" smtClean="0">
                <a:solidFill>
                  <a:srgbClr val="CCEBE7"/>
                </a:solidFill>
                <a:latin typeface="Raleway" charset="0"/>
                <a:ea typeface="Raleway" charset="0"/>
                <a:cs typeface="Raleway" charset="0"/>
              </a:rPr>
              <a:t>Source</a:t>
            </a:r>
            <a:r>
              <a:rPr lang="en-GB" sz="1200" smtClean="0">
                <a:latin typeface="Raleway" charset="0"/>
                <a:ea typeface="Raleway" charset="0"/>
                <a:cs typeface="Raleway" charset="0"/>
              </a:rPr>
              <a:t>: DECC Consumer association (2015)</a:t>
            </a:r>
            <a:endParaRPr lang="en-GB" sz="1200">
              <a:latin typeface="Raleway" charset="0"/>
              <a:ea typeface="Raleway" charset="0"/>
              <a:cs typeface="Raleway" charset="0"/>
            </a:endParaRPr>
          </a:p>
        </p:txBody>
      </p:sp>
    </p:spTree>
    <p:extLst>
      <p:ext uri="{BB962C8B-B14F-4D97-AF65-F5344CB8AC3E}">
        <p14:creationId xmlns:p14="http://schemas.microsoft.com/office/powerpoint/2010/main" val="15194551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997731060"/>
              </p:ext>
            </p:extLst>
          </p:nvPr>
        </p:nvGraphicFramePr>
        <p:xfrm>
          <a:off x="971363" y="743683"/>
          <a:ext cx="10572000" cy="5592495"/>
        </p:xfrm>
        <a:graphic>
          <a:graphicData uri="http://schemas.openxmlformats.org/drawingml/2006/table">
            <a:tbl>
              <a:tblPr firstRow="1" bandRow="1">
                <a:tableStyleId>{5C22544A-7EE6-4342-B048-85BDC9FD1C3A}</a:tableStyleId>
              </a:tblPr>
              <a:tblGrid>
                <a:gridCol w="955300"/>
                <a:gridCol w="1842060"/>
                <a:gridCol w="1943660"/>
                <a:gridCol w="1943660"/>
                <a:gridCol w="1943660"/>
                <a:gridCol w="1943660"/>
              </a:tblGrid>
              <a:tr h="763337">
                <a:tc>
                  <a:txBody>
                    <a:bodyPr/>
                    <a:lstStyle/>
                    <a:p>
                      <a:pPr algn="ct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Nesto</a:t>
                      </a:r>
                      <a:r>
                        <a:rPr lang="en-GB" sz="1400" b="0" dirty="0" smtClean="0">
                          <a:latin typeface="Raleway" charset="0"/>
                          <a:ea typeface="Raleway" charset="0"/>
                          <a:cs typeface="Raleway" charset="0"/>
                        </a:rPr>
                        <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Iota</a:t>
                      </a: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GasSense</a:t>
                      </a:r>
                      <a:r>
                        <a:rPr lang="en-GB" sz="1400" b="0" dirty="0" smtClean="0">
                          <a:latin typeface="Raleway" charset="0"/>
                          <a:ea typeface="Raleway" charset="0"/>
                          <a:cs typeface="Raleway" charset="0"/>
                        </a:rPr>
                        <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George</a:t>
                      </a:r>
                      <a:r>
                        <a:rPr lang="en-GB" sz="1400" b="0" baseline="0" dirty="0" smtClean="0">
                          <a:latin typeface="Raleway" charset="0"/>
                          <a:ea typeface="Raleway" charset="0"/>
                          <a:cs typeface="Raleway" charset="0"/>
                        </a:rPr>
                        <a:t> Edwards</a:t>
                      </a: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SkyBlitz</a:t>
                      </a: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Gascale</a:t>
                      </a:r>
                      <a:r>
                        <a:rPr lang="en-GB" sz="1400" b="0" dirty="0" smtClean="0">
                          <a:latin typeface="Raleway" charset="0"/>
                          <a:ea typeface="Raleway" charset="0"/>
                          <a:cs typeface="Raleway" charset="0"/>
                        </a:rPr>
                        <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a:t>
                      </a:r>
                      <a:r>
                        <a:rPr lang="en-GB" sz="1400" b="0" dirty="0" err="1" smtClean="0">
                          <a:latin typeface="Raleway" charset="0"/>
                          <a:ea typeface="Raleway" charset="0"/>
                          <a:cs typeface="Raleway" charset="0"/>
                        </a:rPr>
                        <a:t>Mabe</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Refuel</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Quirky</a:t>
                      </a:r>
                      <a:endParaRPr lang="en-GB" sz="1400" b="0" dirty="0">
                        <a:latin typeface="Raleway" charset="0"/>
                        <a:ea typeface="Raleway" charset="0"/>
                        <a:cs typeface="Raleway" charset="0"/>
                      </a:endParaRPr>
                    </a:p>
                  </a:txBody>
                  <a:tcPr anchor="ctr"/>
                </a:tc>
              </a:tr>
              <a:tr h="1096695">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r>
              <a:tr h="653646">
                <a:tc>
                  <a:txBody>
                    <a:bodyPr/>
                    <a:lstStyle/>
                    <a:p>
                      <a:pPr algn="ctr"/>
                      <a:r>
                        <a:rPr lang="en-GB" sz="1400" b="0" dirty="0" smtClean="0">
                          <a:latin typeface="Raleway" charset="0"/>
                          <a:ea typeface="Raleway" charset="0"/>
                          <a:cs typeface="Raleway" charset="0"/>
                        </a:rPr>
                        <a:t>What ?</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SIGFOX</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Scale</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BLE</a:t>
                      </a:r>
                      <a:r>
                        <a:rPr lang="en-GB" sz="1400" b="0" baseline="0" dirty="0" smtClean="0">
                          <a:latin typeface="Raleway" charset="0"/>
                          <a:ea typeface="Raleway" charset="0"/>
                          <a:cs typeface="Raleway" charset="0"/>
                        </a:rPr>
                        <a:t> M</a:t>
                      </a:r>
                      <a:r>
                        <a:rPr lang="en-GB" sz="1400" b="0" dirty="0" smtClean="0">
                          <a:latin typeface="Raleway" charset="0"/>
                          <a:ea typeface="Raleway" charset="0"/>
                          <a:cs typeface="Raleway" charset="0"/>
                        </a:rPr>
                        <a:t>agnetic</a:t>
                      </a:r>
                      <a:r>
                        <a:rPr lang="en-GB" sz="1400" b="0" baseline="0" dirty="0" smtClean="0">
                          <a:latin typeface="Raleway" charset="0"/>
                          <a:ea typeface="Raleway" charset="0"/>
                          <a:cs typeface="Raleway" charset="0"/>
                        </a:rPr>
                        <a:t> Linear Temperature Sensor</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GPRS</a:t>
                      </a:r>
                      <a:r>
                        <a:rPr lang="en-GB" sz="1400" b="0" baseline="0" dirty="0" smtClean="0">
                          <a:latin typeface="Raleway" charset="0"/>
                          <a:ea typeface="Raleway" charset="0"/>
                          <a:cs typeface="Raleway" charset="0"/>
                        </a:rPr>
                        <a:t> </a:t>
                      </a: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Pressure Sensor</a:t>
                      </a:r>
                      <a:endParaRPr lang="en-GB" sz="1400" b="0" dirty="0">
                        <a:latin typeface="Raleway" charset="0"/>
                        <a:ea typeface="Raleway" charset="0"/>
                        <a:cs typeface="Raleway"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400" b="0" dirty="0" smtClean="0">
                          <a:latin typeface="Raleway" charset="0"/>
                          <a:ea typeface="Raleway" charset="0"/>
                          <a:cs typeface="Raleway" charset="0"/>
                        </a:rPr>
                        <a:t>BLE</a:t>
                      </a:r>
                      <a:r>
                        <a:rPr lang="en-GB" sz="1400" b="0" baseline="0" dirty="0" smtClean="0">
                          <a:latin typeface="Raleway" charset="0"/>
                          <a:ea typeface="Raleway" charset="0"/>
                          <a:cs typeface="Raleway" charset="0"/>
                        </a:rPr>
                        <a:t/>
                      </a:r>
                      <a:br>
                        <a:rPr lang="en-GB" sz="1400" b="0" baseline="0" dirty="0" smtClean="0">
                          <a:latin typeface="Raleway" charset="0"/>
                          <a:ea typeface="Raleway" charset="0"/>
                          <a:cs typeface="Raleway" charset="0"/>
                        </a:rPr>
                      </a:b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Scale</a:t>
                      </a:r>
                      <a:endParaRPr lang="en-GB" sz="1400" b="0" dirty="0" smtClean="0">
                        <a:latin typeface="Raleway" charset="0"/>
                        <a:ea typeface="Raleway" charset="0"/>
                        <a:cs typeface="Raleway"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400" b="0" dirty="0" smtClean="0">
                          <a:latin typeface="Raleway" charset="0"/>
                          <a:ea typeface="Raleway" charset="0"/>
                          <a:cs typeface="Raleway" charset="0"/>
                        </a:rPr>
                        <a:t>Wi-Fi</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Scale</a:t>
                      </a:r>
                      <a:endParaRPr lang="en-GB" sz="1400" b="0" dirty="0" smtClean="0">
                        <a:latin typeface="Raleway" charset="0"/>
                        <a:ea typeface="Raleway" charset="0"/>
                        <a:cs typeface="Raleway" charset="0"/>
                      </a:endParaRPr>
                    </a:p>
                  </a:txBody>
                  <a:tcPr anchor="ctr"/>
                </a:tc>
              </a:tr>
              <a:tr h="884257">
                <a:tc>
                  <a:txBody>
                    <a:bodyPr/>
                    <a:lstStyle/>
                    <a:p>
                      <a:pPr algn="ctr"/>
                      <a:r>
                        <a:rPr lang="en-GB" sz="1400" b="0" dirty="0" smtClean="0">
                          <a:latin typeface="Raleway" charset="0"/>
                          <a:ea typeface="Raleway" charset="0"/>
                          <a:cs typeface="Raleway" charset="0"/>
                        </a:rPr>
                        <a:t>Pro</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Doesn’t depend on user</a:t>
                      </a:r>
                      <a:r>
                        <a:rPr lang="en-GB" sz="1400" b="0" baseline="0" dirty="0" smtClean="0">
                          <a:latin typeface="Raleway" charset="0"/>
                          <a:ea typeface="Raleway" charset="0"/>
                          <a:cs typeface="Raleway" charset="0"/>
                        </a:rPr>
                        <a:t> </a:t>
                      </a:r>
                      <a:r>
                        <a:rPr lang="en-GB" sz="1400" b="0" dirty="0" smtClean="0">
                          <a:latin typeface="Raleway" charset="0"/>
                          <a:ea typeface="Raleway" charset="0"/>
                          <a:cs typeface="Raleway" charset="0"/>
                        </a:rPr>
                        <a:t>connectivity</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Smart &amp; un-obstructive</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baseline="0" dirty="0" smtClean="0">
                          <a:latin typeface="Raleway" charset="0"/>
                          <a:ea typeface="Raleway" charset="0"/>
                          <a:cs typeface="Raleway" charset="0"/>
                        </a:rPr>
                        <a:t>Usable for tank as well</a:t>
                      </a: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Free*</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Cheap</a:t>
                      </a:r>
                      <a:endParaRPr lang="en-GB" sz="1400" b="0" dirty="0">
                        <a:latin typeface="Raleway" charset="0"/>
                        <a:ea typeface="Raleway" charset="0"/>
                        <a:cs typeface="Raleway" charset="0"/>
                      </a:endParaRPr>
                    </a:p>
                  </a:txBody>
                  <a:tcPr anchor="ctr"/>
                </a:tc>
              </a:tr>
              <a:tr h="884257">
                <a:tc>
                  <a:txBody>
                    <a:bodyPr/>
                    <a:lstStyle/>
                    <a:p>
                      <a:pPr algn="ctr"/>
                      <a:r>
                        <a:rPr lang="en-GB" sz="1400" b="0" dirty="0" smtClean="0">
                          <a:latin typeface="Raleway" charset="0"/>
                          <a:ea typeface="Raleway" charset="0"/>
                          <a:cs typeface="Raleway" charset="0"/>
                        </a:rPr>
                        <a:t>Cons</a:t>
                      </a:r>
                      <a:endParaRPr lang="en-GB" sz="1400" b="0" dirty="0">
                        <a:latin typeface="Raleway" charset="0"/>
                        <a:ea typeface="Raleway" charset="0"/>
                        <a:cs typeface="Raleway" charset="0"/>
                      </a:endParaRPr>
                    </a:p>
                  </a:txBody>
                  <a:tcPr anchor="ct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charset="0"/>
                        <a:buNone/>
                        <a:tabLst/>
                        <a:defRPr/>
                      </a:pP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Only for metallic bottle</a:t>
                      </a:r>
                    </a:p>
                    <a:p>
                      <a:pPr marL="285750" indent="-285750" algn="l">
                        <a:buFont typeface="Arial" charset="0"/>
                        <a:buChar char="•"/>
                      </a:pPr>
                      <a:r>
                        <a:rPr lang="en-GB" sz="1400" b="0" dirty="0" smtClean="0">
                          <a:latin typeface="Raleway" charset="0"/>
                          <a:ea typeface="Raleway" charset="0"/>
                          <a:cs typeface="Raleway" charset="0"/>
                        </a:rPr>
                        <a:t>Not </a:t>
                      </a:r>
                      <a:r>
                        <a:rPr lang="en-GB" sz="1400" b="0" baseline="0" dirty="0" smtClean="0">
                          <a:latin typeface="Raleway" charset="0"/>
                          <a:ea typeface="Raleway" charset="0"/>
                          <a:cs typeface="Raleway" charset="0"/>
                        </a:rPr>
                        <a:t>accurate</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Expensive</a:t>
                      </a:r>
                      <a:endParaRPr lang="en-GB" sz="1400" b="0" dirty="0">
                        <a:latin typeface="Raleway" charset="0"/>
                        <a:ea typeface="Raleway" charset="0"/>
                        <a:cs typeface="Raleway" charset="0"/>
                      </a:endParaRPr>
                    </a:p>
                  </a:txBody>
                  <a:tcPr anchor="ctr"/>
                </a:tc>
                <a:tc>
                  <a:txBody>
                    <a:bodyPr/>
                    <a:lstStyle/>
                    <a:p>
                      <a:pPr marL="285750" marR="0" indent="-285750" algn="l" defTabSz="457200" rtl="0" eaLnBrk="1" fontAlgn="auto" latinLnBrk="0" hangingPunct="1">
                        <a:lnSpc>
                          <a:spcPct val="100000"/>
                        </a:lnSpc>
                        <a:spcBef>
                          <a:spcPts val="0"/>
                        </a:spcBef>
                        <a:spcAft>
                          <a:spcPts val="0"/>
                        </a:spcAft>
                        <a:buClrTx/>
                        <a:buSzTx/>
                        <a:buFont typeface="Arial" charset="0"/>
                        <a:buChar char="•"/>
                        <a:tabLst/>
                        <a:defRPr/>
                      </a:pPr>
                      <a:r>
                        <a:rPr lang="en-GB" sz="1400" b="0" dirty="0" smtClean="0">
                          <a:latin typeface="Raleway" charset="0"/>
                          <a:ea typeface="Raleway" charset="0"/>
                          <a:cs typeface="Raleway" charset="0"/>
                        </a:rPr>
                        <a:t>Only in Ecuador</a:t>
                      </a: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Only for BBQ</a:t>
                      </a:r>
                    </a:p>
                    <a:p>
                      <a:pPr marL="285750" indent="-285750" algn="l">
                        <a:buFont typeface="Arial" charset="0"/>
                        <a:buChar char="•"/>
                      </a:pPr>
                      <a:r>
                        <a:rPr lang="en-GB" sz="1400" b="0" dirty="0" smtClean="0">
                          <a:latin typeface="Raleway" charset="0"/>
                          <a:ea typeface="Raleway" charset="0"/>
                          <a:cs typeface="Raleway" charset="0"/>
                        </a:rPr>
                        <a:t>Wi-Fi Only</a:t>
                      </a:r>
                    </a:p>
                    <a:p>
                      <a:pPr marL="285750" indent="-285750" algn="l">
                        <a:buFont typeface="Arial" charset="0"/>
                        <a:buChar char="•"/>
                      </a:pPr>
                      <a:r>
                        <a:rPr lang="en-GB" sz="1400" b="0" dirty="0" smtClean="0">
                          <a:latin typeface="Raleway" charset="0"/>
                          <a:ea typeface="Raleway" charset="0"/>
                          <a:cs typeface="Raleway" charset="0"/>
                        </a:rPr>
                        <a:t>Not accurate</a:t>
                      </a:r>
                    </a:p>
                  </a:txBody>
                  <a:tcPr anchor="ctr"/>
                </a:tc>
              </a:tr>
              <a:tr h="426046">
                <a:tc>
                  <a:txBody>
                    <a:bodyPr/>
                    <a:lstStyle/>
                    <a:p>
                      <a:pPr algn="ctr"/>
                      <a:r>
                        <a:rPr lang="en-GB" sz="1400" b="0" dirty="0" smtClean="0">
                          <a:latin typeface="Raleway" charset="0"/>
                          <a:ea typeface="Raleway" charset="0"/>
                          <a:cs typeface="Raleway" charset="0"/>
                        </a:rPr>
                        <a:t>Price</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39€</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40 €</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8</a:t>
                      </a:r>
                      <a:r>
                        <a:rPr lang="en-GB" sz="1400" b="0" baseline="0" dirty="0" smtClean="0">
                          <a:latin typeface="Raleway" charset="0"/>
                          <a:ea typeface="Raleway" charset="0"/>
                          <a:cs typeface="Raleway" charset="0"/>
                        </a:rPr>
                        <a:t>€</a:t>
                      </a:r>
                      <a:r>
                        <a:rPr lang="en-GB" sz="1400" b="0" dirty="0" smtClean="0">
                          <a:latin typeface="Raleway" charset="0"/>
                          <a:ea typeface="Raleway" charset="0"/>
                          <a:cs typeface="Raleway" charset="0"/>
                        </a:rPr>
                        <a:t>/month</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14 €</a:t>
                      </a:r>
                      <a:endParaRPr lang="en-GB" sz="1400" b="0" dirty="0">
                        <a:latin typeface="Raleway" charset="0"/>
                        <a:ea typeface="Raleway" charset="0"/>
                        <a:cs typeface="Raleway" charset="0"/>
                      </a:endParaRPr>
                    </a:p>
                  </a:txBody>
                  <a:tcPr anchor="ctr"/>
                </a:tc>
              </a:tr>
              <a:tr h="884257">
                <a:tc>
                  <a:txBody>
                    <a:bodyPr/>
                    <a:lstStyle/>
                    <a:p>
                      <a:pPr algn="ctr"/>
                      <a:r>
                        <a:rPr lang="en-GB" sz="1400" b="0" dirty="0" smtClean="0">
                          <a:latin typeface="Raleway" charset="0"/>
                          <a:ea typeface="Raleway" charset="0"/>
                          <a:cs typeface="Raleway" charset="0"/>
                        </a:rPr>
                        <a:t>Business</a:t>
                      </a:r>
                      <a:r>
                        <a:rPr lang="en-GB" sz="1400" b="0" baseline="0" dirty="0" smtClean="0">
                          <a:latin typeface="Raleway" charset="0"/>
                          <a:ea typeface="Raleway" charset="0"/>
                          <a:cs typeface="Raleway" charset="0"/>
                        </a:rPr>
                        <a:t> Model</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Platform</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One Shot / B2C</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Platform</a:t>
                      </a:r>
                      <a:endParaRPr lang="en-GB" sz="1400" b="0" dirty="0">
                        <a:latin typeface="Raleway" charset="0"/>
                        <a:ea typeface="Raleway" charset="0"/>
                        <a:cs typeface="Raleway"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400" b="0" dirty="0" smtClean="0">
                          <a:latin typeface="Raleway" charset="0"/>
                          <a:ea typeface="Raleway" charset="0"/>
                          <a:cs typeface="Raleway" charset="0"/>
                        </a:rPr>
                        <a:t>One Shot</a:t>
                      </a:r>
                      <a:r>
                        <a:rPr lang="en-GB" sz="1400" b="0" baseline="0" dirty="0" smtClean="0">
                          <a:latin typeface="Raleway" charset="0"/>
                          <a:ea typeface="Raleway" charset="0"/>
                          <a:cs typeface="Raleway" charset="0"/>
                        </a:rPr>
                        <a:t> / B2B</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One Shot</a:t>
                      </a:r>
                      <a:r>
                        <a:rPr lang="en-GB" sz="1400" b="0" baseline="0" dirty="0" smtClean="0">
                          <a:latin typeface="Raleway" charset="0"/>
                          <a:ea typeface="Raleway" charset="0"/>
                          <a:cs typeface="Raleway" charset="0"/>
                        </a:rPr>
                        <a:t> / B2C</a:t>
                      </a:r>
                      <a:endParaRPr lang="en-GB" sz="1400" b="0" dirty="0">
                        <a:latin typeface="Raleway" charset="0"/>
                        <a:ea typeface="Raleway" charset="0"/>
                        <a:cs typeface="Raleway" charset="0"/>
                      </a:endParaRPr>
                    </a:p>
                  </a:txBody>
                  <a:tcPr anchor="ctr"/>
                </a:tc>
              </a:tr>
            </a:tbl>
          </a:graphicData>
        </a:graphic>
      </p:graphicFrame>
      <p:grpSp>
        <p:nvGrpSpPr>
          <p:cNvPr id="17" name="Group 16"/>
          <p:cNvGrpSpPr/>
          <p:nvPr/>
        </p:nvGrpSpPr>
        <p:grpSpPr>
          <a:xfrm>
            <a:off x="2177961" y="1578919"/>
            <a:ext cx="9100274" cy="1009137"/>
            <a:chOff x="2016598" y="1401613"/>
            <a:chExt cx="9100274" cy="1009137"/>
          </a:xfrm>
        </p:grpSpPr>
        <p:pic>
          <p:nvPicPr>
            <p:cNvPr id="9" name="Picture 8"/>
            <p:cNvPicPr>
              <a:picLocks noChangeAspect="1"/>
            </p:cNvPicPr>
            <p:nvPr/>
          </p:nvPicPr>
          <p:blipFill>
            <a:blip r:embed="rId3"/>
            <a:stretch>
              <a:fillRect/>
            </a:stretch>
          </p:blipFill>
          <p:spPr>
            <a:xfrm>
              <a:off x="4343400" y="1480050"/>
              <a:ext cx="520700" cy="930700"/>
            </a:xfrm>
            <a:prstGeom prst="rect">
              <a:avLst/>
            </a:prstGeom>
            <a:effectLst>
              <a:softEdge rad="25400"/>
            </a:effectLst>
          </p:spPr>
        </p:pic>
        <p:pic>
          <p:nvPicPr>
            <p:cNvPr id="10" name="Picture 9"/>
            <p:cNvPicPr>
              <a:picLocks noChangeAspect="1"/>
            </p:cNvPicPr>
            <p:nvPr/>
          </p:nvPicPr>
          <p:blipFill>
            <a:blip r:embed="rId4"/>
            <a:stretch>
              <a:fillRect/>
            </a:stretch>
          </p:blipFill>
          <p:spPr>
            <a:xfrm>
              <a:off x="9705892" y="1401613"/>
              <a:ext cx="1410980" cy="940653"/>
            </a:xfrm>
            <a:prstGeom prst="rect">
              <a:avLst/>
            </a:prstGeom>
            <a:effectLst>
              <a:softEdge rad="25400"/>
            </a:effectLst>
          </p:spPr>
        </p:pic>
        <p:pic>
          <p:nvPicPr>
            <p:cNvPr id="12" name="Picture 11"/>
            <p:cNvPicPr>
              <a:picLocks noChangeAspect="1"/>
            </p:cNvPicPr>
            <p:nvPr/>
          </p:nvPicPr>
          <p:blipFill>
            <a:blip r:embed="rId5"/>
            <a:stretch>
              <a:fillRect/>
            </a:stretch>
          </p:blipFill>
          <p:spPr>
            <a:xfrm>
              <a:off x="7607795" y="1401613"/>
              <a:ext cx="1716666" cy="920407"/>
            </a:xfrm>
            <a:prstGeom prst="rect">
              <a:avLst/>
            </a:prstGeom>
            <a:effectLst>
              <a:softEdge rad="25400"/>
            </a:effectLst>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16598" y="1532558"/>
              <a:ext cx="1293551" cy="789462"/>
            </a:xfrm>
            <a:prstGeom prst="rect">
              <a:avLst/>
            </a:prstGeom>
            <a:effectLst>
              <a:outerShdw blurRad="25400" dist="76200" dir="2700000" sx="96000" sy="96000" algn="tl" rotWithShape="0">
                <a:prstClr val="black">
                  <a:alpha val="40000"/>
                </a:prstClr>
              </a:outerShdw>
            </a:effectLst>
          </p:spPr>
        </p:pic>
        <p:pic>
          <p:nvPicPr>
            <p:cNvPr id="14" name="Picture 13"/>
            <p:cNvPicPr>
              <a:picLocks noChangeAspect="1"/>
            </p:cNvPicPr>
            <p:nvPr/>
          </p:nvPicPr>
          <p:blipFill>
            <a:blip r:embed="rId7"/>
            <a:stretch>
              <a:fillRect/>
            </a:stretch>
          </p:blipFill>
          <p:spPr>
            <a:xfrm>
              <a:off x="6095999" y="1462095"/>
              <a:ext cx="932465" cy="920407"/>
            </a:xfrm>
            <a:prstGeom prst="rect">
              <a:avLst/>
            </a:prstGeom>
          </p:spPr>
        </p:pic>
      </p:grpSp>
      <p:sp>
        <p:nvSpPr>
          <p:cNvPr id="15" name="Title 1"/>
          <p:cNvSpPr txBox="1">
            <a:spLocks/>
          </p:cNvSpPr>
          <p:nvPr/>
        </p:nvSpPr>
        <p:spPr>
          <a:xfrm rot="16200000">
            <a:off x="-1318703" y="2620241"/>
            <a:ext cx="3609682" cy="970450"/>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smtClean="0">
                <a:solidFill>
                  <a:schemeClr val="tx1"/>
                </a:solidFill>
              </a:rPr>
              <a:t>Competition</a:t>
            </a:r>
            <a:endParaRPr lang="en-GB" dirty="0">
              <a:solidFill>
                <a:schemeClr val="tx1"/>
              </a:solidFill>
            </a:endParaRPr>
          </a:p>
        </p:txBody>
      </p:sp>
    </p:spTree>
    <p:extLst>
      <p:ext uri="{BB962C8B-B14F-4D97-AF65-F5344CB8AC3E}">
        <p14:creationId xmlns:p14="http://schemas.microsoft.com/office/powerpoint/2010/main" val="131471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Differentiator</a:t>
            </a:r>
            <a:endParaRPr lang="en-GB"/>
          </a:p>
        </p:txBody>
      </p:sp>
      <p:sp>
        <p:nvSpPr>
          <p:cNvPr id="6" name="Content Placeholder 2"/>
          <p:cNvSpPr txBox="1">
            <a:spLocks/>
          </p:cNvSpPr>
          <p:nvPr/>
        </p:nvSpPr>
        <p:spPr>
          <a:xfrm>
            <a:off x="818712" y="2222287"/>
            <a:ext cx="10554574" cy="3636511"/>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150000"/>
              <a:buFontTx/>
              <a:buBlip>
                <a:blip r:embed="rId3"/>
              </a:buBlip>
              <a:defRPr sz="1800" kern="1200" baseline="0">
                <a:solidFill>
                  <a:schemeClr val="tx1"/>
                </a:solidFill>
                <a:latin typeface="Raleway Light"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3"/>
              </a:buBlip>
              <a:defRPr sz="1600" kern="1200" baseline="0">
                <a:solidFill>
                  <a:schemeClr val="tx1"/>
                </a:solidFill>
                <a:latin typeface="Raleway Light"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3"/>
              </a:buBlip>
              <a:defRPr sz="1400" kern="1200" baseline="0">
                <a:solidFill>
                  <a:schemeClr val="tx1"/>
                </a:solidFill>
                <a:latin typeface="Raleway Light"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spcBef>
                <a:spcPts val="0"/>
              </a:spcBef>
              <a:spcAft>
                <a:spcPts val="2400"/>
              </a:spcAft>
            </a:pPr>
            <a:r>
              <a:rPr lang="en-GB" sz="2800" dirty="0" smtClean="0"/>
              <a:t>A </a:t>
            </a:r>
            <a:r>
              <a:rPr lang="en-GB" sz="2800" b="1" dirty="0" smtClean="0">
                <a:solidFill>
                  <a:srgbClr val="57CABF"/>
                </a:solidFill>
              </a:rPr>
              <a:t>service</a:t>
            </a:r>
            <a:r>
              <a:rPr lang="en-GB" sz="2800" dirty="0" smtClean="0"/>
              <a:t>, not a product</a:t>
            </a:r>
          </a:p>
          <a:p>
            <a:pPr>
              <a:spcBef>
                <a:spcPts val="0"/>
              </a:spcBef>
              <a:spcAft>
                <a:spcPts val="2400"/>
              </a:spcAft>
            </a:pPr>
            <a:r>
              <a:rPr lang="en-GB" sz="2800" dirty="0" smtClean="0"/>
              <a:t>Strategically positioned between</a:t>
            </a:r>
            <a:r>
              <a:rPr lang="en-GB" sz="2800" dirty="0" smtClean="0">
                <a:solidFill>
                  <a:srgbClr val="57CABF"/>
                </a:solidFill>
              </a:rPr>
              <a:t> </a:t>
            </a:r>
            <a:r>
              <a:rPr lang="en-GB" sz="2800" dirty="0" smtClean="0"/>
              <a:t>the</a:t>
            </a:r>
            <a:r>
              <a:rPr lang="en-GB" sz="2800" dirty="0" smtClean="0">
                <a:solidFill>
                  <a:srgbClr val="57CABF"/>
                </a:solidFill>
              </a:rPr>
              <a:t> </a:t>
            </a:r>
            <a:r>
              <a:rPr lang="en-GB" sz="2800" b="1" dirty="0" smtClean="0">
                <a:solidFill>
                  <a:srgbClr val="57CABF"/>
                </a:solidFill>
              </a:rPr>
              <a:t>end-user </a:t>
            </a:r>
            <a:r>
              <a:rPr lang="en-GB" sz="2800" dirty="0" smtClean="0"/>
              <a:t>and</a:t>
            </a:r>
            <a:r>
              <a:rPr lang="en-GB" sz="2800" dirty="0" smtClean="0">
                <a:solidFill>
                  <a:srgbClr val="57CABF"/>
                </a:solidFill>
              </a:rPr>
              <a:t> </a:t>
            </a:r>
            <a:r>
              <a:rPr lang="en-GB" sz="2800" dirty="0" smtClean="0"/>
              <a:t>the</a:t>
            </a:r>
            <a:r>
              <a:rPr lang="en-GB" sz="2800" dirty="0" smtClean="0">
                <a:solidFill>
                  <a:srgbClr val="57CABF"/>
                </a:solidFill>
              </a:rPr>
              <a:t> </a:t>
            </a:r>
            <a:r>
              <a:rPr lang="en-GB" sz="2800" b="1" dirty="0" smtClean="0">
                <a:solidFill>
                  <a:srgbClr val="57CABF"/>
                </a:solidFill>
              </a:rPr>
              <a:t>brand</a:t>
            </a:r>
          </a:p>
          <a:p>
            <a:pPr>
              <a:spcBef>
                <a:spcPts val="0"/>
              </a:spcBef>
              <a:spcAft>
                <a:spcPts val="2400"/>
              </a:spcAft>
            </a:pPr>
            <a:r>
              <a:rPr lang="en-GB" sz="2800" b="1" dirty="0" smtClean="0">
                <a:solidFill>
                  <a:srgbClr val="57CABF"/>
                </a:solidFill>
              </a:rPr>
              <a:t>Holistic</a:t>
            </a:r>
            <a:r>
              <a:rPr lang="en-GB" sz="2800" b="1" dirty="0" smtClean="0"/>
              <a:t> </a:t>
            </a:r>
            <a:r>
              <a:rPr lang="en-GB" sz="2800" dirty="0" smtClean="0"/>
              <a:t>approach</a:t>
            </a:r>
            <a:endParaRPr lang="en-GB" sz="2800" dirty="0" smtClean="0">
              <a:solidFill>
                <a:srgbClr val="57CABF"/>
              </a:solidFill>
            </a:endParaRPr>
          </a:p>
        </p:txBody>
      </p:sp>
    </p:spTree>
    <p:extLst>
      <p:ext uri="{BB962C8B-B14F-4D97-AF65-F5344CB8AC3E}">
        <p14:creationId xmlns:p14="http://schemas.microsoft.com/office/powerpoint/2010/main" val="4424052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1"/>
                </a:solidFill>
              </a:rPr>
              <a:t>Go to Market </a:t>
            </a:r>
            <a:r>
              <a:rPr lang="en-GB" dirty="0" smtClean="0"/>
              <a:t>Strategy</a:t>
            </a:r>
            <a:endParaRPr lang="en-GB" dirty="0"/>
          </a:p>
        </p:txBody>
      </p:sp>
      <p:sp>
        <p:nvSpPr>
          <p:cNvPr id="6" name="Content Placeholder 2"/>
          <p:cNvSpPr txBox="1">
            <a:spLocks/>
          </p:cNvSpPr>
          <p:nvPr/>
        </p:nvSpPr>
        <p:spPr>
          <a:xfrm>
            <a:off x="818712" y="2222287"/>
            <a:ext cx="10554574" cy="3636511"/>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150000"/>
              <a:buFontTx/>
              <a:buBlip>
                <a:blip r:embed="rId3"/>
              </a:buBlip>
              <a:defRPr sz="1800" kern="1200" baseline="0">
                <a:solidFill>
                  <a:schemeClr val="tx1"/>
                </a:solidFill>
                <a:latin typeface="Raleway Light"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3"/>
              </a:buBlip>
              <a:defRPr sz="1600" kern="1200" baseline="0">
                <a:solidFill>
                  <a:schemeClr val="tx1"/>
                </a:solidFill>
                <a:latin typeface="Raleway Light"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3"/>
              </a:buBlip>
              <a:defRPr sz="1400" kern="1200" baseline="0">
                <a:solidFill>
                  <a:schemeClr val="tx1"/>
                </a:solidFill>
                <a:latin typeface="Raleway Light"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spcBef>
                <a:spcPts val="0"/>
              </a:spcBef>
              <a:spcAft>
                <a:spcPts val="2400"/>
              </a:spcAft>
            </a:pPr>
            <a:r>
              <a:rPr lang="en-GB" sz="2400" dirty="0" smtClean="0"/>
              <a:t>Phase 1 </a:t>
            </a:r>
            <a:r>
              <a:rPr lang="mr-IN" sz="2400" dirty="0"/>
              <a:t>–</a:t>
            </a:r>
            <a:r>
              <a:rPr lang="en-GB" sz="2400" dirty="0" smtClean="0"/>
              <a:t> </a:t>
            </a:r>
            <a:r>
              <a:rPr lang="en-GB" sz="2400" b="1" dirty="0" smtClean="0">
                <a:solidFill>
                  <a:schemeClr val="accent1"/>
                </a:solidFill>
              </a:rPr>
              <a:t>Large LPG </a:t>
            </a:r>
            <a:r>
              <a:rPr lang="en-GB" sz="2400" dirty="0" smtClean="0"/>
              <a:t>cylinder in rural area (brand exclusivity)</a:t>
            </a:r>
          </a:p>
          <a:p>
            <a:pPr>
              <a:spcBef>
                <a:spcPts val="0"/>
              </a:spcBef>
              <a:spcAft>
                <a:spcPts val="2400"/>
              </a:spcAft>
            </a:pPr>
            <a:r>
              <a:rPr lang="en-GB" sz="2400" dirty="0" smtClean="0"/>
              <a:t>Phase 2 </a:t>
            </a:r>
            <a:r>
              <a:rPr lang="mr-IN" sz="2400" dirty="0" smtClean="0"/>
              <a:t>–</a:t>
            </a:r>
            <a:r>
              <a:rPr lang="en-GB" sz="2400" dirty="0" smtClean="0"/>
              <a:t> </a:t>
            </a:r>
            <a:r>
              <a:rPr lang="en-GB" sz="2400" b="1" dirty="0">
                <a:solidFill>
                  <a:schemeClr val="accent1"/>
                </a:solidFill>
              </a:rPr>
              <a:t>Large LPG </a:t>
            </a:r>
            <a:r>
              <a:rPr lang="en-GB" sz="2400" dirty="0"/>
              <a:t>cylinder in rural area </a:t>
            </a:r>
            <a:r>
              <a:rPr lang="en-GB" sz="2400" dirty="0" smtClean="0"/>
              <a:t>(all players)</a:t>
            </a:r>
          </a:p>
          <a:p>
            <a:pPr>
              <a:spcBef>
                <a:spcPts val="0"/>
              </a:spcBef>
              <a:spcAft>
                <a:spcPts val="2400"/>
              </a:spcAft>
            </a:pPr>
            <a:r>
              <a:rPr lang="en-GB" sz="2400" dirty="0" smtClean="0"/>
              <a:t>Phase </a:t>
            </a:r>
            <a:r>
              <a:rPr lang="en-GB" sz="2400" dirty="0"/>
              <a:t>3</a:t>
            </a:r>
            <a:r>
              <a:rPr lang="en-GB" sz="2400" dirty="0" smtClean="0"/>
              <a:t> </a:t>
            </a:r>
            <a:r>
              <a:rPr lang="mr-IN" sz="2400" dirty="0"/>
              <a:t>–</a:t>
            </a:r>
            <a:r>
              <a:rPr lang="en-GB" sz="2400" dirty="0" smtClean="0"/>
              <a:t> </a:t>
            </a:r>
            <a:r>
              <a:rPr lang="en-GB" sz="2400" b="1" dirty="0" smtClean="0">
                <a:solidFill>
                  <a:schemeClr val="accent1"/>
                </a:solidFill>
              </a:rPr>
              <a:t>Small LPG </a:t>
            </a:r>
            <a:r>
              <a:rPr lang="en-GB" sz="2400" dirty="0" smtClean="0"/>
              <a:t>cylinder</a:t>
            </a:r>
          </a:p>
          <a:p>
            <a:pPr>
              <a:spcBef>
                <a:spcPts val="0"/>
              </a:spcBef>
              <a:spcAft>
                <a:spcPts val="2400"/>
              </a:spcAft>
            </a:pPr>
            <a:r>
              <a:rPr lang="en-GB" sz="2400" b="1" dirty="0" smtClean="0"/>
              <a:t>Phase 4 </a:t>
            </a:r>
            <a:r>
              <a:rPr lang="mr-IN" sz="2400" b="1" dirty="0" smtClean="0"/>
              <a:t>–</a:t>
            </a:r>
            <a:r>
              <a:rPr lang="en-GB" sz="2400" b="1" dirty="0" smtClean="0"/>
              <a:t> </a:t>
            </a:r>
            <a:r>
              <a:rPr lang="en-GB" sz="2400" b="1" dirty="0" smtClean="0">
                <a:solidFill>
                  <a:schemeClr val="accent1"/>
                </a:solidFill>
              </a:rPr>
              <a:t>Smart rack </a:t>
            </a:r>
            <a:r>
              <a:rPr lang="en-GB" sz="2400" b="1" dirty="0" smtClean="0"/>
              <a:t>for service station and small self-service distribution point</a:t>
            </a:r>
            <a:endParaRPr lang="en-GB" sz="2400" dirty="0" smtClean="0"/>
          </a:p>
        </p:txBody>
      </p:sp>
    </p:spTree>
    <p:extLst>
      <p:ext uri="{BB962C8B-B14F-4D97-AF65-F5344CB8AC3E}">
        <p14:creationId xmlns:p14="http://schemas.microsoft.com/office/powerpoint/2010/main" val="13934076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1"/>
                </a:solidFill>
              </a:rPr>
              <a:t>The secret sauce</a:t>
            </a:r>
            <a:endParaRPr lang="en-GB" dirty="0"/>
          </a:p>
        </p:txBody>
      </p:sp>
      <p:sp>
        <p:nvSpPr>
          <p:cNvPr id="6" name="Content Placeholder 2"/>
          <p:cNvSpPr txBox="1">
            <a:spLocks/>
          </p:cNvSpPr>
          <p:nvPr/>
        </p:nvSpPr>
        <p:spPr>
          <a:xfrm>
            <a:off x="818711" y="2222287"/>
            <a:ext cx="10723931" cy="3636511"/>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150000"/>
              <a:buFontTx/>
              <a:buBlip>
                <a:blip r:embed="rId3"/>
              </a:buBlip>
              <a:defRPr sz="1800" kern="1200" baseline="0">
                <a:solidFill>
                  <a:schemeClr val="tx1"/>
                </a:solidFill>
                <a:latin typeface="Raleway Light"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3"/>
              </a:buBlip>
              <a:defRPr sz="1600" kern="1200" baseline="0">
                <a:solidFill>
                  <a:schemeClr val="tx1"/>
                </a:solidFill>
                <a:latin typeface="Raleway Light"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3"/>
              </a:buBlip>
              <a:defRPr sz="1400" kern="1200" baseline="0">
                <a:solidFill>
                  <a:schemeClr val="tx1"/>
                </a:solidFill>
                <a:latin typeface="Raleway Light"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spcBef>
                <a:spcPts val="0"/>
              </a:spcBef>
              <a:spcAft>
                <a:spcPts val="2400"/>
              </a:spcAft>
            </a:pPr>
            <a:r>
              <a:rPr lang="en-GB" sz="2400" b="1" dirty="0" smtClean="0">
                <a:solidFill>
                  <a:srgbClr val="57CABF"/>
                </a:solidFill>
              </a:rPr>
              <a:t>Experienced </a:t>
            </a:r>
            <a:r>
              <a:rPr lang="en-GB" sz="2400" b="1" dirty="0" smtClean="0"/>
              <a:t>industrial partners</a:t>
            </a:r>
            <a:r>
              <a:rPr lang="en-GB" sz="2400" dirty="0" smtClean="0"/>
              <a:t>;</a:t>
            </a:r>
          </a:p>
          <a:p>
            <a:pPr>
              <a:spcBef>
                <a:spcPts val="0"/>
              </a:spcBef>
              <a:spcAft>
                <a:spcPts val="2400"/>
              </a:spcAft>
            </a:pPr>
            <a:r>
              <a:rPr lang="en-GB" sz="2400" dirty="0" smtClean="0"/>
              <a:t>The </a:t>
            </a:r>
            <a:r>
              <a:rPr lang="en-GB" sz="2400" dirty="0"/>
              <a:t>one-bottle model could allow brands to </a:t>
            </a:r>
            <a:r>
              <a:rPr lang="en-GB" sz="2400" b="1" dirty="0">
                <a:solidFill>
                  <a:srgbClr val="57CABF"/>
                </a:solidFill>
              </a:rPr>
              <a:t>increase profit</a:t>
            </a:r>
            <a:r>
              <a:rPr lang="en-GB" sz="2400" b="1" dirty="0" smtClean="0">
                <a:solidFill>
                  <a:srgbClr val="57CABF"/>
                </a:solidFill>
              </a:rPr>
              <a:t>;</a:t>
            </a:r>
          </a:p>
          <a:p>
            <a:pPr>
              <a:spcBef>
                <a:spcPts val="0"/>
              </a:spcBef>
              <a:spcAft>
                <a:spcPts val="2400"/>
              </a:spcAft>
            </a:pPr>
            <a:r>
              <a:rPr lang="en-GB" sz="2400" b="1" dirty="0">
                <a:solidFill>
                  <a:schemeClr val="accent1"/>
                </a:solidFill>
              </a:rPr>
              <a:t>Security</a:t>
            </a:r>
            <a:r>
              <a:rPr lang="en-GB" sz="2400" dirty="0">
                <a:solidFill>
                  <a:schemeClr val="accent1"/>
                </a:solidFill>
              </a:rPr>
              <a:t> </a:t>
            </a:r>
            <a:r>
              <a:rPr lang="en-GB" sz="2400" dirty="0"/>
              <a:t>features (leak, usage pattern</a:t>
            </a:r>
            <a:r>
              <a:rPr lang="en-GB" sz="2400" dirty="0" smtClean="0"/>
              <a:t>);</a:t>
            </a:r>
            <a:endParaRPr lang="en-GB" sz="2400" b="1" dirty="0" smtClean="0">
              <a:solidFill>
                <a:srgbClr val="57CABF"/>
              </a:solidFill>
            </a:endParaRPr>
          </a:p>
          <a:p>
            <a:pPr>
              <a:spcBef>
                <a:spcPts val="0"/>
              </a:spcBef>
              <a:spcAft>
                <a:spcPts val="2400"/>
              </a:spcAft>
            </a:pPr>
            <a:r>
              <a:rPr lang="en-GB" sz="2400" b="1" dirty="0">
                <a:solidFill>
                  <a:srgbClr val="57CABF"/>
                </a:solidFill>
              </a:rPr>
              <a:t>Holistic view</a:t>
            </a:r>
            <a:r>
              <a:rPr lang="en-GB" sz="2400" dirty="0"/>
              <a:t> of the bottle LPG supply-chain (complete range of product</a:t>
            </a:r>
            <a:r>
              <a:rPr lang="en-GB" sz="2400" dirty="0" smtClean="0"/>
              <a:t>);</a:t>
            </a:r>
          </a:p>
          <a:p>
            <a:pPr>
              <a:spcBef>
                <a:spcPts val="0"/>
              </a:spcBef>
              <a:spcAft>
                <a:spcPts val="2400"/>
              </a:spcAft>
            </a:pPr>
            <a:r>
              <a:rPr lang="en-GB" sz="2400" dirty="0" smtClean="0"/>
              <a:t>Angle </a:t>
            </a:r>
            <a:r>
              <a:rPr lang="en-GB" sz="2400" dirty="0"/>
              <a:t>on </a:t>
            </a:r>
            <a:r>
              <a:rPr lang="en-GB" sz="2400" b="1" dirty="0">
                <a:solidFill>
                  <a:srgbClr val="57CABF"/>
                </a:solidFill>
              </a:rPr>
              <a:t>nanotech</a:t>
            </a:r>
            <a:r>
              <a:rPr lang="en-GB" sz="2400" dirty="0"/>
              <a:t> (1000 x less consumption &amp; 10 x more sensible</a:t>
            </a:r>
            <a:r>
              <a:rPr lang="en-GB" sz="2400" dirty="0" smtClean="0"/>
              <a:t>);</a:t>
            </a:r>
            <a:endParaRPr lang="en-GB" sz="2400" dirty="0"/>
          </a:p>
        </p:txBody>
      </p:sp>
    </p:spTree>
    <p:extLst>
      <p:ext uri="{BB962C8B-B14F-4D97-AF65-F5344CB8AC3E}">
        <p14:creationId xmlns:p14="http://schemas.microsoft.com/office/powerpoint/2010/main" val="226367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912" y="4902006"/>
            <a:ext cx="1742386" cy="790112"/>
          </a:xfrm>
          <a:prstGeom prst="rect">
            <a:avLst/>
          </a:prstGeom>
        </p:spPr>
      </p:pic>
      <p:cxnSp>
        <p:nvCxnSpPr>
          <p:cNvPr id="6" name="Straight Connector 5"/>
          <p:cNvCxnSpPr/>
          <p:nvPr/>
        </p:nvCxnSpPr>
        <p:spPr>
          <a:xfrm flipV="1">
            <a:off x="628650" y="4258033"/>
            <a:ext cx="10678203" cy="13703"/>
          </a:xfrm>
          <a:prstGeom prst="line">
            <a:avLst/>
          </a:prstGeom>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868577" y="4202834"/>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8" name="TextBox 7"/>
          <p:cNvSpPr txBox="1"/>
          <p:nvPr/>
        </p:nvSpPr>
        <p:spPr>
          <a:xfrm rot="18900000">
            <a:off x="1999292" y="2482711"/>
            <a:ext cx="3283559" cy="707886"/>
          </a:xfrm>
          <a:prstGeom prst="rect">
            <a:avLst/>
          </a:prstGeom>
          <a:noFill/>
        </p:spPr>
        <p:txBody>
          <a:bodyPr wrap="square" rtlCol="0">
            <a:spAutoFit/>
          </a:bodyPr>
          <a:lstStyle/>
          <a:p>
            <a:r>
              <a:rPr lang="en-GB" sz="2000" dirty="0" smtClean="0">
                <a:latin typeface="Comfortaa" charset="0"/>
                <a:ea typeface="Comfortaa" charset="0"/>
                <a:cs typeface="Comfortaa" charset="0"/>
              </a:rPr>
              <a:t>Winner in</a:t>
            </a:r>
            <a:r>
              <a:rPr lang="en-GB" sz="2000" b="1" dirty="0" smtClean="0">
                <a:latin typeface="Comfortaa" charset="0"/>
                <a:ea typeface="Comfortaa" charset="0"/>
                <a:cs typeface="Comfortaa" charset="0"/>
              </a:rPr>
              <a:t> </a:t>
            </a:r>
            <a:r>
              <a:rPr lang="en-GB" sz="2000" b="1" dirty="0" smtClean="0">
                <a:solidFill>
                  <a:srgbClr val="57CABF"/>
                </a:solidFill>
                <a:latin typeface="Comfortaa" charset="0"/>
                <a:ea typeface="Comfortaa" charset="0"/>
                <a:cs typeface="Comfortaa" charset="0"/>
              </a:rPr>
              <a:t>Singapore</a:t>
            </a:r>
          </a:p>
          <a:p>
            <a:r>
              <a:rPr lang="en-GB" sz="2000" dirty="0" smtClean="0">
                <a:latin typeface="Comfortaa" charset="0"/>
                <a:ea typeface="Comfortaa" charset="0"/>
                <a:cs typeface="Comfortaa" charset="0"/>
              </a:rPr>
              <a:t>“the Game Changer”</a:t>
            </a:r>
            <a:endParaRPr lang="en-GB" sz="2000" dirty="0">
              <a:latin typeface="Comfortaa" charset="0"/>
              <a:ea typeface="Comfortaa" charset="0"/>
              <a:cs typeface="Comfortaa" charset="0"/>
            </a:endParaRPr>
          </a:p>
        </p:txBody>
      </p:sp>
      <p:sp>
        <p:nvSpPr>
          <p:cNvPr id="9" name="TextBox 8"/>
          <p:cNvSpPr txBox="1"/>
          <p:nvPr/>
        </p:nvSpPr>
        <p:spPr>
          <a:xfrm>
            <a:off x="3834297" y="4454047"/>
            <a:ext cx="1282677" cy="338554"/>
          </a:xfrm>
          <a:prstGeom prst="rect">
            <a:avLst/>
          </a:prstGeom>
          <a:noFill/>
        </p:spPr>
        <p:txBody>
          <a:bodyPr wrap="square" rtlCol="0">
            <a:spAutoFit/>
          </a:bodyPr>
          <a:lstStyle/>
          <a:p>
            <a:pPr algn="ctr"/>
            <a:r>
              <a:rPr lang="en-GB" sz="1600" b="1" smtClean="0">
                <a:latin typeface="Comfortaa" charset="0"/>
                <a:ea typeface="Comfortaa" charset="0"/>
                <a:cs typeface="Comfortaa" charset="0"/>
              </a:rPr>
              <a:t>July</a:t>
            </a:r>
            <a:endParaRPr lang="en-GB" sz="1600" b="1">
              <a:latin typeface="Comfortaa" charset="0"/>
              <a:ea typeface="Comfortaa" charset="0"/>
              <a:cs typeface="Comfortaa" charset="0"/>
            </a:endParaRPr>
          </a:p>
        </p:txBody>
      </p:sp>
      <p:sp>
        <p:nvSpPr>
          <p:cNvPr id="11" name="TextBox 10"/>
          <p:cNvSpPr txBox="1"/>
          <p:nvPr/>
        </p:nvSpPr>
        <p:spPr>
          <a:xfrm>
            <a:off x="5631751" y="4454047"/>
            <a:ext cx="1282677" cy="338554"/>
          </a:xfrm>
          <a:prstGeom prst="rect">
            <a:avLst/>
          </a:prstGeom>
          <a:noFill/>
        </p:spPr>
        <p:txBody>
          <a:bodyPr wrap="square" rtlCol="0">
            <a:spAutoFit/>
          </a:bodyPr>
          <a:lstStyle/>
          <a:p>
            <a:pPr algn="ctr"/>
            <a:r>
              <a:rPr lang="en-GB" sz="1600" b="1" smtClean="0">
                <a:latin typeface="Comfortaa" charset="0"/>
                <a:ea typeface="Comfortaa" charset="0"/>
                <a:cs typeface="Comfortaa" charset="0"/>
              </a:rPr>
              <a:t>Aug</a:t>
            </a:r>
            <a:endParaRPr lang="en-GB" sz="1600" b="1">
              <a:latin typeface="Comfortaa" charset="0"/>
              <a:ea typeface="Comfortaa" charset="0"/>
              <a:cs typeface="Comfortaa" charset="0"/>
            </a:endParaRPr>
          </a:p>
        </p:txBody>
      </p:sp>
      <p:sp>
        <p:nvSpPr>
          <p:cNvPr id="13" name="TextBox 12"/>
          <p:cNvSpPr txBox="1"/>
          <p:nvPr/>
        </p:nvSpPr>
        <p:spPr>
          <a:xfrm>
            <a:off x="7345302" y="4454047"/>
            <a:ext cx="1282677" cy="338554"/>
          </a:xfrm>
          <a:prstGeom prst="rect">
            <a:avLst/>
          </a:prstGeom>
          <a:noFill/>
        </p:spPr>
        <p:txBody>
          <a:bodyPr wrap="square" rtlCol="0">
            <a:spAutoFit/>
          </a:bodyPr>
          <a:lstStyle/>
          <a:p>
            <a:pPr algn="ctr"/>
            <a:r>
              <a:rPr lang="en-GB" sz="1600" b="1" dirty="0" smtClean="0">
                <a:latin typeface="Comfortaa" charset="0"/>
                <a:ea typeface="Comfortaa" charset="0"/>
                <a:cs typeface="Comfortaa" charset="0"/>
              </a:rPr>
              <a:t>Oct</a:t>
            </a:r>
          </a:p>
        </p:txBody>
      </p:sp>
      <p:pic>
        <p:nvPicPr>
          <p:cNvPr id="14" name="Picture 13"/>
          <p:cNvPicPr>
            <a:picLocks noChangeAspect="1"/>
          </p:cNvPicPr>
          <p:nvPr/>
        </p:nvPicPr>
        <p:blipFill>
          <a:blip r:embed="rId4"/>
          <a:stretch>
            <a:fillRect/>
          </a:stretch>
        </p:blipFill>
        <p:spPr>
          <a:xfrm>
            <a:off x="2092910" y="4904874"/>
            <a:ext cx="1229443" cy="525800"/>
          </a:xfrm>
          <a:prstGeom prst="rect">
            <a:avLst/>
          </a:prstGeom>
        </p:spPr>
      </p:pic>
      <p:sp>
        <p:nvSpPr>
          <p:cNvPr id="17" name="TextBox 16"/>
          <p:cNvSpPr txBox="1"/>
          <p:nvPr/>
        </p:nvSpPr>
        <p:spPr>
          <a:xfrm rot="18900000">
            <a:off x="464954" y="2928031"/>
            <a:ext cx="2636038" cy="400110"/>
          </a:xfrm>
          <a:prstGeom prst="rect">
            <a:avLst/>
          </a:prstGeom>
          <a:noFill/>
        </p:spPr>
        <p:txBody>
          <a:bodyPr wrap="square" rtlCol="0">
            <a:spAutoFit/>
          </a:bodyPr>
          <a:lstStyle/>
          <a:p>
            <a:r>
              <a:rPr lang="en-GB" sz="2000" b="1" smtClean="0">
                <a:solidFill>
                  <a:srgbClr val="57CABF"/>
                </a:solidFill>
                <a:latin typeface="Comfortaa" charset="0"/>
                <a:ea typeface="Comfortaa" charset="0"/>
                <a:cs typeface="Comfortaa" charset="0"/>
              </a:rPr>
              <a:t>Patent </a:t>
            </a:r>
            <a:r>
              <a:rPr lang="en-GB" sz="2000" smtClean="0">
                <a:latin typeface="Comfortaa" charset="0"/>
                <a:ea typeface="Comfortaa" charset="0"/>
                <a:cs typeface="Comfortaa" charset="0"/>
              </a:rPr>
              <a:t>Filed</a:t>
            </a:r>
            <a:endParaRPr lang="en-GB" sz="2000">
              <a:latin typeface="Comfortaa" charset="0"/>
              <a:ea typeface="Comfortaa" charset="0"/>
              <a:cs typeface="Comfortaa" charset="0"/>
            </a:endParaRPr>
          </a:p>
        </p:txBody>
      </p:sp>
      <p:sp>
        <p:nvSpPr>
          <p:cNvPr id="18" name="TextBox 17"/>
          <p:cNvSpPr txBox="1"/>
          <p:nvPr/>
        </p:nvSpPr>
        <p:spPr>
          <a:xfrm>
            <a:off x="2039676" y="4454047"/>
            <a:ext cx="1282677" cy="458385"/>
          </a:xfrm>
          <a:prstGeom prst="rect">
            <a:avLst/>
          </a:prstGeom>
          <a:noFill/>
        </p:spPr>
        <p:txBody>
          <a:bodyPr wrap="square" rtlCol="0">
            <a:spAutoFit/>
          </a:bodyPr>
          <a:lstStyle/>
          <a:p>
            <a:pPr algn="ctr"/>
            <a:r>
              <a:rPr lang="en-GB" sz="1600" b="1">
                <a:latin typeface="Comfortaa" charset="0"/>
                <a:ea typeface="Comfortaa" charset="0"/>
                <a:cs typeface="Comfortaa" charset="0"/>
              </a:rPr>
              <a:t>July</a:t>
            </a:r>
          </a:p>
        </p:txBody>
      </p:sp>
      <p:sp>
        <p:nvSpPr>
          <p:cNvPr id="19" name="TextBox 18"/>
          <p:cNvSpPr txBox="1"/>
          <p:nvPr/>
        </p:nvSpPr>
        <p:spPr>
          <a:xfrm>
            <a:off x="307048" y="4454047"/>
            <a:ext cx="1282677" cy="458385"/>
          </a:xfrm>
          <a:prstGeom prst="rect">
            <a:avLst/>
          </a:prstGeom>
          <a:noFill/>
        </p:spPr>
        <p:txBody>
          <a:bodyPr wrap="square" rtlCol="0">
            <a:spAutoFit/>
          </a:bodyPr>
          <a:lstStyle/>
          <a:p>
            <a:pPr algn="ctr"/>
            <a:r>
              <a:rPr lang="en-GB" sz="1600" b="1" smtClean="0">
                <a:latin typeface="Comfortaa" charset="0"/>
                <a:ea typeface="Comfortaa" charset="0"/>
                <a:cs typeface="Comfortaa" charset="0"/>
              </a:rPr>
              <a:t>June</a:t>
            </a:r>
            <a:endParaRPr lang="en-GB" sz="1600" b="1">
              <a:latin typeface="Comfortaa" charset="0"/>
              <a:ea typeface="Comfortaa" charset="0"/>
              <a:cs typeface="Comfortaa" charset="0"/>
            </a:endParaRPr>
          </a:p>
        </p:txBody>
      </p:sp>
      <p:sp>
        <p:nvSpPr>
          <p:cNvPr id="20" name="Oval 19"/>
          <p:cNvSpPr/>
          <p:nvPr/>
        </p:nvSpPr>
        <p:spPr>
          <a:xfrm>
            <a:off x="2579752" y="4174252"/>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1" name="Oval 20"/>
          <p:cNvSpPr/>
          <p:nvPr/>
        </p:nvSpPr>
        <p:spPr>
          <a:xfrm>
            <a:off x="4405512" y="4179764"/>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2" name="Oval 21"/>
          <p:cNvSpPr/>
          <p:nvPr/>
        </p:nvSpPr>
        <p:spPr>
          <a:xfrm>
            <a:off x="6222030" y="4170679"/>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3" name="Oval 22"/>
          <p:cNvSpPr/>
          <p:nvPr/>
        </p:nvSpPr>
        <p:spPr>
          <a:xfrm>
            <a:off x="7885384" y="4160549"/>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 name="Title 1"/>
          <p:cNvSpPr>
            <a:spLocks noGrp="1"/>
          </p:cNvSpPr>
          <p:nvPr>
            <p:ph type="title"/>
          </p:nvPr>
        </p:nvSpPr>
        <p:spPr/>
        <p:txBody>
          <a:bodyPr/>
          <a:lstStyle/>
          <a:p>
            <a:r>
              <a:rPr lang="en-GB" smtClean="0">
                <a:latin typeface="Comfortaa" charset="0"/>
                <a:ea typeface="Comfortaa" charset="0"/>
                <a:cs typeface="Comfortaa" charset="0"/>
              </a:rPr>
              <a:t>Traction</a:t>
            </a:r>
            <a:endParaRPr lang="en-GB">
              <a:latin typeface="Comfortaa" charset="0"/>
              <a:ea typeface="Comfortaa" charset="0"/>
              <a:cs typeface="Comfortaa" charset="0"/>
            </a:endParaRPr>
          </a:p>
        </p:txBody>
      </p:sp>
      <p:sp>
        <p:nvSpPr>
          <p:cNvPr id="24" name="TextBox 23"/>
          <p:cNvSpPr txBox="1"/>
          <p:nvPr/>
        </p:nvSpPr>
        <p:spPr>
          <a:xfrm rot="18900000">
            <a:off x="5442597" y="2054169"/>
            <a:ext cx="4151944" cy="707886"/>
          </a:xfrm>
          <a:prstGeom prst="rect">
            <a:avLst/>
          </a:prstGeom>
          <a:noFill/>
        </p:spPr>
        <p:txBody>
          <a:bodyPr wrap="square" rtlCol="0">
            <a:spAutoFit/>
          </a:bodyPr>
          <a:lstStyle/>
          <a:p>
            <a:r>
              <a:rPr lang="en-GB" sz="2000" dirty="0" smtClean="0">
                <a:latin typeface="Comfortaa" charset="0"/>
                <a:ea typeface="Comfortaa" charset="0"/>
                <a:cs typeface="Comfortaa" charset="0"/>
              </a:rPr>
              <a:t>Portugal Venture</a:t>
            </a:r>
            <a:br>
              <a:rPr lang="en-GB" sz="2000" dirty="0" smtClean="0">
                <a:latin typeface="Comfortaa" charset="0"/>
                <a:ea typeface="Comfortaa" charset="0"/>
                <a:cs typeface="Comfortaa" charset="0"/>
              </a:rPr>
            </a:br>
            <a:r>
              <a:rPr lang="en-GB" sz="2000" dirty="0" smtClean="0">
                <a:latin typeface="Comfortaa" charset="0"/>
                <a:ea typeface="Comfortaa" charset="0"/>
                <a:cs typeface="Comfortaa" charset="0"/>
              </a:rPr>
              <a:t>Submission Call </a:t>
            </a:r>
            <a:r>
              <a:rPr lang="en-GB" sz="2000" b="1" dirty="0" smtClean="0">
                <a:solidFill>
                  <a:srgbClr val="57CABF"/>
                </a:solidFill>
                <a:latin typeface="Comfortaa" charset="0"/>
                <a:ea typeface="Comfortaa" charset="0"/>
                <a:cs typeface="Comfortaa" charset="0"/>
              </a:rPr>
              <a:t>Industry 4.0</a:t>
            </a:r>
            <a:endParaRPr lang="en-GB" sz="2000" b="1" dirty="0">
              <a:solidFill>
                <a:srgbClr val="57CABF"/>
              </a:solidFill>
              <a:latin typeface="Comfortaa" charset="0"/>
              <a:ea typeface="Comfortaa" charset="0"/>
              <a:cs typeface="Comfortaa" charset="0"/>
            </a:endParaRPr>
          </a:p>
        </p:txBody>
      </p:sp>
      <p:sp>
        <p:nvSpPr>
          <p:cNvPr id="25" name="TextBox 24"/>
          <p:cNvSpPr txBox="1"/>
          <p:nvPr/>
        </p:nvSpPr>
        <p:spPr>
          <a:xfrm rot="18900000">
            <a:off x="7215532" y="2398990"/>
            <a:ext cx="3283559" cy="707886"/>
          </a:xfrm>
          <a:prstGeom prst="rect">
            <a:avLst/>
          </a:prstGeom>
          <a:noFill/>
        </p:spPr>
        <p:txBody>
          <a:bodyPr wrap="square" rtlCol="0">
            <a:spAutoFit/>
          </a:bodyPr>
          <a:lstStyle/>
          <a:p>
            <a:r>
              <a:rPr lang="en-GB" sz="2000" b="1" dirty="0" smtClean="0">
                <a:solidFill>
                  <a:srgbClr val="57CABF"/>
                </a:solidFill>
                <a:latin typeface="Comfortaa" charset="0"/>
                <a:ea typeface="Comfortaa" charset="0"/>
                <a:cs typeface="Comfortaa" charset="0"/>
              </a:rPr>
              <a:t>Featured Start-up </a:t>
            </a:r>
            <a:br>
              <a:rPr lang="en-GB" sz="2000" b="1" dirty="0" smtClean="0">
                <a:solidFill>
                  <a:srgbClr val="57CABF"/>
                </a:solidFill>
                <a:latin typeface="Comfortaa" charset="0"/>
                <a:ea typeface="Comfortaa" charset="0"/>
                <a:cs typeface="Comfortaa" charset="0"/>
              </a:rPr>
            </a:br>
            <a:r>
              <a:rPr lang="en-GB" sz="2000" b="1" dirty="0" smtClean="0">
                <a:latin typeface="Comfortaa" charset="0"/>
                <a:ea typeface="Comfortaa" charset="0"/>
                <a:cs typeface="Comfortaa" charset="0"/>
              </a:rPr>
              <a:t>@PT IoT Challenge</a:t>
            </a:r>
            <a:endParaRPr lang="en-GB" sz="2000" dirty="0" smtClean="0">
              <a:latin typeface="Comfortaa" charset="0"/>
              <a:ea typeface="Comfortaa" charset="0"/>
              <a:cs typeface="Comfortaa" charset="0"/>
            </a:endParaRPr>
          </a:p>
        </p:txBody>
      </p:sp>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2910" y="5459433"/>
            <a:ext cx="1229443" cy="465370"/>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92910" y="5924803"/>
            <a:ext cx="1229443" cy="585647"/>
          </a:xfrm>
          <a:prstGeom prst="rect">
            <a:avLst/>
          </a:prstGeom>
        </p:spPr>
      </p:pic>
      <p:sp>
        <p:nvSpPr>
          <p:cNvPr id="28" name="TextBox 27"/>
          <p:cNvSpPr txBox="1"/>
          <p:nvPr/>
        </p:nvSpPr>
        <p:spPr>
          <a:xfrm rot="18900000">
            <a:off x="3657241" y="1982311"/>
            <a:ext cx="4445838" cy="707886"/>
          </a:xfrm>
          <a:prstGeom prst="rect">
            <a:avLst/>
          </a:prstGeom>
          <a:noFill/>
        </p:spPr>
        <p:txBody>
          <a:bodyPr wrap="square" rtlCol="0">
            <a:spAutoFit/>
          </a:bodyPr>
          <a:lstStyle/>
          <a:p>
            <a:r>
              <a:rPr lang="en-GB" sz="2000" b="1" smtClean="0">
                <a:solidFill>
                  <a:srgbClr val="57CABF"/>
                </a:solidFill>
                <a:latin typeface="Comfortaa" charset="0"/>
                <a:ea typeface="Comfortaa" charset="0"/>
                <a:cs typeface="Comfortaa" charset="0"/>
              </a:rPr>
              <a:t>1</a:t>
            </a:r>
            <a:r>
              <a:rPr lang="en-GB" sz="2000" b="1" baseline="30000" smtClean="0">
                <a:solidFill>
                  <a:srgbClr val="57CABF"/>
                </a:solidFill>
                <a:latin typeface="Comfortaa" charset="0"/>
                <a:ea typeface="Comfortaa" charset="0"/>
                <a:cs typeface="Comfortaa" charset="0"/>
              </a:rPr>
              <a:t>st</a:t>
            </a:r>
            <a:r>
              <a:rPr lang="en-GB" sz="2000" b="1" smtClean="0">
                <a:solidFill>
                  <a:srgbClr val="57CABF"/>
                </a:solidFill>
                <a:latin typeface="Comfortaa" charset="0"/>
                <a:ea typeface="Comfortaa" charset="0"/>
                <a:cs typeface="Comfortaa" charset="0"/>
              </a:rPr>
              <a:t> Place </a:t>
            </a:r>
            <a:r>
              <a:rPr lang="en-GB" sz="2000" smtClean="0">
                <a:latin typeface="Comfortaa" charset="0"/>
                <a:ea typeface="Comfortaa" charset="0"/>
                <a:cs typeface="Comfortaa" charset="0"/>
              </a:rPr>
              <a:t>in Productized</a:t>
            </a:r>
            <a:br>
              <a:rPr lang="en-GB" sz="2000" smtClean="0">
                <a:latin typeface="Comfortaa" charset="0"/>
                <a:ea typeface="Comfortaa" charset="0"/>
                <a:cs typeface="Comfortaa" charset="0"/>
              </a:rPr>
            </a:br>
            <a:r>
              <a:rPr lang="en-GB" sz="2000" smtClean="0">
                <a:latin typeface="Comfortaa" charset="0"/>
                <a:ea typeface="Comfortaa" charset="0"/>
                <a:cs typeface="Comfortaa" charset="0"/>
              </a:rPr>
              <a:t>Lisbon Hardware Accelerator</a:t>
            </a:r>
            <a:endParaRPr lang="en-GB" sz="2000">
              <a:latin typeface="Comfortaa" charset="0"/>
              <a:ea typeface="Comfortaa" charset="0"/>
              <a:cs typeface="Comfortaa" charset="0"/>
            </a:endParaRPr>
          </a:p>
        </p:txBody>
      </p:sp>
      <p:grpSp>
        <p:nvGrpSpPr>
          <p:cNvPr id="12" name="Group 11"/>
          <p:cNvGrpSpPr/>
          <p:nvPr/>
        </p:nvGrpSpPr>
        <p:grpSpPr>
          <a:xfrm>
            <a:off x="5501688" y="4916595"/>
            <a:ext cx="1639682" cy="1085676"/>
            <a:chOff x="7629009" y="4903160"/>
            <a:chExt cx="1639682" cy="1085676"/>
          </a:xfrm>
        </p:grpSpPr>
        <p:pic>
          <p:nvPicPr>
            <p:cNvPr id="3" name="Picture 2"/>
            <p:cNvPicPr>
              <a:picLocks noChangeAspect="1"/>
            </p:cNvPicPr>
            <p:nvPr/>
          </p:nvPicPr>
          <p:blipFill>
            <a:blip r:embed="rId7"/>
            <a:stretch>
              <a:fillRect/>
            </a:stretch>
          </p:blipFill>
          <p:spPr>
            <a:xfrm>
              <a:off x="7629010" y="4903160"/>
              <a:ext cx="1639681" cy="353163"/>
            </a:xfrm>
            <a:prstGeom prst="rect">
              <a:avLst/>
            </a:prstGeom>
          </p:spPr>
        </p:pic>
        <p:pic>
          <p:nvPicPr>
            <p:cNvPr id="5" name="Picture 4"/>
            <p:cNvPicPr>
              <a:picLocks noChangeAspect="1"/>
            </p:cNvPicPr>
            <p:nvPr/>
          </p:nvPicPr>
          <p:blipFill>
            <a:blip r:embed="rId8"/>
            <a:stretch>
              <a:fillRect/>
            </a:stretch>
          </p:blipFill>
          <p:spPr>
            <a:xfrm>
              <a:off x="7629009" y="5256323"/>
              <a:ext cx="1639681" cy="732513"/>
            </a:xfrm>
            <a:prstGeom prst="rect">
              <a:avLst/>
            </a:prstGeom>
          </p:spPr>
        </p:pic>
      </p:grpSp>
      <p:pic>
        <p:nvPicPr>
          <p:cNvPr id="15" name="Picture 14"/>
          <p:cNvPicPr>
            <a:picLocks noChangeAspect="1"/>
          </p:cNvPicPr>
          <p:nvPr/>
        </p:nvPicPr>
        <p:blipFill>
          <a:blip r:embed="rId9"/>
          <a:stretch>
            <a:fillRect/>
          </a:stretch>
        </p:blipFill>
        <p:spPr>
          <a:xfrm>
            <a:off x="7271576" y="4887959"/>
            <a:ext cx="1945357" cy="381799"/>
          </a:xfrm>
          <a:prstGeom prst="rect">
            <a:avLst/>
          </a:prstGeom>
        </p:spPr>
      </p:pic>
      <p:sp>
        <p:nvSpPr>
          <p:cNvPr id="29" name="TextBox 28"/>
          <p:cNvSpPr txBox="1"/>
          <p:nvPr/>
        </p:nvSpPr>
        <p:spPr>
          <a:xfrm>
            <a:off x="8958032" y="4448296"/>
            <a:ext cx="1282677" cy="338554"/>
          </a:xfrm>
          <a:prstGeom prst="rect">
            <a:avLst/>
          </a:prstGeom>
          <a:noFill/>
        </p:spPr>
        <p:txBody>
          <a:bodyPr wrap="square" rtlCol="0">
            <a:spAutoFit/>
          </a:bodyPr>
          <a:lstStyle/>
          <a:p>
            <a:pPr algn="ctr"/>
            <a:r>
              <a:rPr lang="en-GB" sz="1600" b="1" dirty="0" smtClean="0">
                <a:latin typeface="Comfortaa" charset="0"/>
                <a:ea typeface="Comfortaa" charset="0"/>
                <a:cs typeface="Comfortaa" charset="0"/>
              </a:rPr>
              <a:t>Nov</a:t>
            </a:r>
          </a:p>
        </p:txBody>
      </p:sp>
      <p:sp>
        <p:nvSpPr>
          <p:cNvPr id="30" name="Oval 29"/>
          <p:cNvSpPr/>
          <p:nvPr/>
        </p:nvSpPr>
        <p:spPr>
          <a:xfrm>
            <a:off x="9498114" y="4154798"/>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31" name="TextBox 30"/>
          <p:cNvSpPr txBox="1"/>
          <p:nvPr/>
        </p:nvSpPr>
        <p:spPr>
          <a:xfrm rot="18900000">
            <a:off x="8828262" y="2547127"/>
            <a:ext cx="3283559" cy="400110"/>
          </a:xfrm>
          <a:prstGeom prst="rect">
            <a:avLst/>
          </a:prstGeom>
          <a:noFill/>
        </p:spPr>
        <p:txBody>
          <a:bodyPr wrap="square" rtlCol="0">
            <a:spAutoFit/>
          </a:bodyPr>
          <a:lstStyle/>
          <a:p>
            <a:r>
              <a:rPr lang="en-GB" sz="2000" b="1" dirty="0" smtClean="0">
                <a:solidFill>
                  <a:srgbClr val="57CABF"/>
                </a:solidFill>
                <a:latin typeface="Comfortaa" charset="0"/>
                <a:ea typeface="Comfortaa" charset="0"/>
                <a:cs typeface="Comfortaa" charset="0"/>
              </a:rPr>
              <a:t>Alpha Pass </a:t>
            </a:r>
            <a:r>
              <a:rPr lang="en-GB" sz="2000" b="1" dirty="0" smtClean="0">
                <a:latin typeface="Comfortaa" charset="0"/>
                <a:ea typeface="Comfortaa" charset="0"/>
                <a:cs typeface="Comfortaa" charset="0"/>
              </a:rPr>
              <a:t>Web Summit</a:t>
            </a:r>
            <a:endParaRPr lang="en-GB" sz="2000" dirty="0" smtClean="0">
              <a:latin typeface="Comfortaa" charset="0"/>
              <a:ea typeface="Comfortaa" charset="0"/>
              <a:cs typeface="Comfortaa" charset="0"/>
            </a:endParaRPr>
          </a:p>
        </p:txBody>
      </p:sp>
      <p:pic>
        <p:nvPicPr>
          <p:cNvPr id="27" name="Picture 26"/>
          <p:cNvPicPr>
            <a:picLocks noChangeAspect="1"/>
          </p:cNvPicPr>
          <p:nvPr/>
        </p:nvPicPr>
        <p:blipFill>
          <a:blip r:embed="rId10"/>
          <a:stretch>
            <a:fillRect/>
          </a:stretch>
        </p:blipFill>
        <p:spPr>
          <a:xfrm>
            <a:off x="9347139" y="4885379"/>
            <a:ext cx="965200" cy="495300"/>
          </a:xfrm>
          <a:prstGeom prst="rect">
            <a:avLst/>
          </a:prstGeom>
        </p:spPr>
      </p:pic>
    </p:spTree>
    <p:extLst>
      <p:ext uri="{BB962C8B-B14F-4D97-AF65-F5344CB8AC3E}">
        <p14:creationId xmlns:p14="http://schemas.microsoft.com/office/powerpoint/2010/main" val="5814514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0000" y="512002"/>
            <a:ext cx="10571998" cy="970450"/>
          </a:xfrm>
          <a:effectLst/>
        </p:spPr>
        <p:txBody>
          <a:bodyPr/>
          <a:lstStyle/>
          <a:p>
            <a:r>
              <a:rPr lang="en-GB" dirty="0" smtClean="0">
                <a:solidFill>
                  <a:schemeClr val="tx1"/>
                </a:solidFill>
              </a:rPr>
              <a:t>SCTN / Industry Partner</a:t>
            </a:r>
            <a:endParaRPr lang="en-GB" dirty="0">
              <a:solidFill>
                <a:schemeClr val="tx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000" y="3197667"/>
            <a:ext cx="1800000" cy="907500"/>
          </a:xfrm>
          <a:prstGeom prst="rect">
            <a:avLst/>
          </a:prstGeom>
        </p:spPr>
      </p:pic>
      <p:pic>
        <p:nvPicPr>
          <p:cNvPr id="9" name="Picture 8"/>
          <p:cNvPicPr>
            <a:picLocks noChangeAspect="1"/>
          </p:cNvPicPr>
          <p:nvPr/>
        </p:nvPicPr>
        <p:blipFill>
          <a:blip r:embed="rId4"/>
          <a:stretch>
            <a:fillRect/>
          </a:stretch>
        </p:blipFill>
        <p:spPr>
          <a:xfrm>
            <a:off x="810000" y="1854178"/>
            <a:ext cx="1800000" cy="834637"/>
          </a:xfrm>
          <a:prstGeom prst="rect">
            <a:avLst/>
          </a:prstGeom>
        </p:spPr>
      </p:pic>
      <p:grpSp>
        <p:nvGrpSpPr>
          <p:cNvPr id="18" name="Group 17"/>
          <p:cNvGrpSpPr/>
          <p:nvPr/>
        </p:nvGrpSpPr>
        <p:grpSpPr>
          <a:xfrm>
            <a:off x="810000" y="4478415"/>
            <a:ext cx="1800000" cy="702402"/>
            <a:chOff x="810000" y="4204513"/>
            <a:chExt cx="1800000" cy="702402"/>
          </a:xfrm>
        </p:grpSpPr>
        <p:pic>
          <p:nvPicPr>
            <p:cNvPr id="16" name="Picture 15"/>
            <p:cNvPicPr>
              <a:picLocks noChangeAspect="1"/>
            </p:cNvPicPr>
            <p:nvPr/>
          </p:nvPicPr>
          <p:blipFill>
            <a:blip r:embed="rId5"/>
            <a:stretch>
              <a:fillRect/>
            </a:stretch>
          </p:blipFill>
          <p:spPr>
            <a:xfrm>
              <a:off x="1267200" y="4524494"/>
              <a:ext cx="759720" cy="382421"/>
            </a:xfrm>
            <a:prstGeom prst="rect">
              <a:avLst/>
            </a:prstGeom>
          </p:spPr>
        </p:pic>
        <p:pic>
          <p:nvPicPr>
            <p:cNvPr id="17"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0000" y="4204513"/>
              <a:ext cx="1800000" cy="162688"/>
            </a:xfrm>
            <a:prstGeom prst="rect">
              <a:avLst/>
            </a:prstGeom>
          </p:spPr>
        </p:pic>
      </p:grpSp>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0000" y="5628943"/>
            <a:ext cx="4326033" cy="562661"/>
          </a:xfrm>
          <a:prstGeom prst="rect">
            <a:avLst/>
          </a:prstGeom>
        </p:spPr>
      </p:pic>
      <p:sp>
        <p:nvSpPr>
          <p:cNvPr id="21" name="Rectangle 20"/>
          <p:cNvSpPr/>
          <p:nvPr/>
        </p:nvSpPr>
        <p:spPr>
          <a:xfrm>
            <a:off x="2773680" y="1799218"/>
            <a:ext cx="7101840" cy="1277273"/>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 &amp; MoU</a:t>
            </a:r>
          </a:p>
          <a:p>
            <a:pPr marL="285750" indent="-285750" fontAlgn="base">
              <a:buFont typeface="Arial" charset="0"/>
              <a:buChar char="•"/>
            </a:pPr>
            <a:r>
              <a:rPr lang="en-US" dirty="0" smtClean="0">
                <a:latin typeface="Raleway" charset="0"/>
                <a:ea typeface="Raleway" charset="0"/>
                <a:cs typeface="Raleway" charset="0"/>
              </a:rPr>
              <a:t>Provide ready-to-use communication </a:t>
            </a:r>
            <a:r>
              <a:rPr lang="en-US" dirty="0">
                <a:latin typeface="Raleway" charset="0"/>
                <a:ea typeface="Raleway" charset="0"/>
                <a:cs typeface="Raleway" charset="0"/>
              </a:rPr>
              <a:t>module for the </a:t>
            </a:r>
            <a:r>
              <a:rPr lang="en-US" b="1" dirty="0">
                <a:latin typeface="Raleway" charset="0"/>
                <a:ea typeface="Raleway" charset="0"/>
                <a:cs typeface="Raleway" charset="0"/>
              </a:rPr>
              <a:t>Pilot</a:t>
            </a:r>
          </a:p>
          <a:p>
            <a:pPr marL="285750" indent="-285750" fontAlgn="base">
              <a:buFont typeface="Arial" charset="0"/>
              <a:buChar char="•"/>
            </a:pPr>
            <a:r>
              <a:rPr lang="en-US" dirty="0" smtClean="0">
                <a:latin typeface="Raleway" charset="0"/>
                <a:ea typeface="Raleway" charset="0"/>
                <a:cs typeface="Raleway" charset="0"/>
              </a:rPr>
              <a:t>Provide access to their </a:t>
            </a:r>
            <a:r>
              <a:rPr lang="en-US" b="1" dirty="0" smtClean="0">
                <a:latin typeface="Raleway" charset="0"/>
                <a:ea typeface="Raleway" charset="0"/>
                <a:cs typeface="Raleway" charset="0"/>
              </a:rPr>
              <a:t>IoT platform</a:t>
            </a:r>
          </a:p>
          <a:p>
            <a:pPr marL="285750" indent="-285750" fontAlgn="base">
              <a:buFont typeface="Arial" charset="0"/>
              <a:buChar char="•"/>
            </a:pPr>
            <a:r>
              <a:rPr lang="en-US" dirty="0" smtClean="0">
                <a:latin typeface="Raleway" charset="0"/>
                <a:ea typeface="Raleway" charset="0"/>
                <a:cs typeface="Raleway" charset="0"/>
              </a:rPr>
              <a:t>Later access to international partners through their network</a:t>
            </a:r>
            <a:endParaRPr lang="en-US" dirty="0">
              <a:latin typeface="Raleway" charset="0"/>
              <a:ea typeface="Raleway" charset="0"/>
              <a:cs typeface="Raleway" charset="0"/>
            </a:endParaRPr>
          </a:p>
        </p:txBody>
      </p:sp>
      <p:sp>
        <p:nvSpPr>
          <p:cNvPr id="22" name="Rectangle 21"/>
          <p:cNvSpPr/>
          <p:nvPr/>
        </p:nvSpPr>
        <p:spPr>
          <a:xfrm>
            <a:off x="2773680" y="3147373"/>
            <a:ext cx="8260080" cy="1000274"/>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a:t>
            </a:r>
          </a:p>
          <a:p>
            <a:pPr marL="285750" indent="-285750" fontAlgn="base">
              <a:buFont typeface="Arial" charset="0"/>
              <a:buChar char="•"/>
            </a:pPr>
            <a:r>
              <a:rPr lang="en-US" dirty="0" smtClean="0">
                <a:latin typeface="Raleway" charset="0"/>
                <a:ea typeface="Raleway" charset="0"/>
                <a:cs typeface="Raleway" charset="0"/>
              </a:rPr>
              <a:t>Provide access to </a:t>
            </a:r>
            <a:r>
              <a:rPr lang="en-US" b="1" dirty="0" smtClean="0">
                <a:latin typeface="Raleway" charset="0"/>
                <a:ea typeface="Raleway" charset="0"/>
                <a:cs typeface="Raleway" charset="0"/>
              </a:rPr>
              <a:t>validated</a:t>
            </a:r>
            <a:r>
              <a:rPr lang="en-US" dirty="0" smtClean="0">
                <a:latin typeface="Raleway" charset="0"/>
                <a:ea typeface="Raleway" charset="0"/>
                <a:cs typeface="Raleway" charset="0"/>
              </a:rPr>
              <a:t> suppliers for strain gauge</a:t>
            </a:r>
          </a:p>
          <a:p>
            <a:pPr marL="285750" indent="-285750" fontAlgn="base">
              <a:buFont typeface="Arial" charset="0"/>
              <a:buChar char="•"/>
            </a:pPr>
            <a:r>
              <a:rPr lang="en-US" dirty="0" smtClean="0">
                <a:latin typeface="Raleway" charset="0"/>
                <a:ea typeface="Raleway" charset="0"/>
                <a:cs typeface="Raleway" charset="0"/>
              </a:rPr>
              <a:t>Open to be the partner for </a:t>
            </a:r>
            <a:r>
              <a:rPr lang="en-US" b="1" dirty="0" smtClean="0">
                <a:latin typeface="Raleway" charset="0"/>
                <a:ea typeface="Raleway" charset="0"/>
                <a:cs typeface="Raleway" charset="0"/>
              </a:rPr>
              <a:t>industrialization</a:t>
            </a:r>
            <a:r>
              <a:rPr lang="en-US" dirty="0" smtClean="0">
                <a:latin typeface="Raleway" charset="0"/>
                <a:ea typeface="Raleway" charset="0"/>
                <a:cs typeface="Raleway" charset="0"/>
              </a:rPr>
              <a:t> (facilities in </a:t>
            </a:r>
            <a:r>
              <a:rPr lang="en-US" dirty="0" smtClean="0">
                <a:latin typeface="Raleway" charset="0"/>
                <a:ea typeface="Raleway" charset="0"/>
                <a:cs typeface="Raleway" charset="0"/>
                <a:hlinkClick r:id="rId8"/>
              </a:rPr>
              <a:t>Ningbo</a:t>
            </a:r>
            <a:r>
              <a:rPr lang="en-US" dirty="0" smtClean="0">
                <a:latin typeface="Raleway" charset="0"/>
                <a:ea typeface="Raleway" charset="0"/>
                <a:cs typeface="Raleway" charset="0"/>
              </a:rPr>
              <a:t>, China)</a:t>
            </a:r>
          </a:p>
        </p:txBody>
      </p:sp>
      <p:sp>
        <p:nvSpPr>
          <p:cNvPr id="23" name="Rectangle 22"/>
          <p:cNvSpPr/>
          <p:nvPr/>
        </p:nvSpPr>
        <p:spPr>
          <a:xfrm>
            <a:off x="2773680" y="4389441"/>
            <a:ext cx="6644640" cy="723275"/>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 &amp; Former relationship</a:t>
            </a:r>
          </a:p>
          <a:p>
            <a:pPr marL="285750" indent="-285750" fontAlgn="base">
              <a:buFont typeface="Arial" charset="0"/>
              <a:buChar char="•"/>
            </a:pPr>
            <a:r>
              <a:rPr lang="en-US" dirty="0" smtClean="0">
                <a:latin typeface="Raleway" charset="0"/>
                <a:ea typeface="Raleway" charset="0"/>
                <a:cs typeface="Raleway" charset="0"/>
              </a:rPr>
              <a:t>Will provide the route optimization of the pilot for free</a:t>
            </a:r>
          </a:p>
        </p:txBody>
      </p:sp>
      <p:sp>
        <p:nvSpPr>
          <p:cNvPr id="25" name="Rectangle 24"/>
          <p:cNvSpPr/>
          <p:nvPr/>
        </p:nvSpPr>
        <p:spPr>
          <a:xfrm>
            <a:off x="5410200" y="5509302"/>
            <a:ext cx="6644640" cy="1000274"/>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a:t>
            </a:r>
            <a:endParaRPr lang="en-US" dirty="0" smtClean="0">
              <a:latin typeface="Raleway" charset="0"/>
              <a:ea typeface="Raleway" charset="0"/>
              <a:cs typeface="Raleway" charset="0"/>
            </a:endParaRPr>
          </a:p>
          <a:p>
            <a:pPr marL="285750" indent="-285750" fontAlgn="base">
              <a:buFont typeface="Arial" charset="0"/>
              <a:buChar char="•"/>
            </a:pPr>
            <a:r>
              <a:rPr lang="en-US" dirty="0" smtClean="0">
                <a:latin typeface="Raleway" charset="0"/>
                <a:ea typeface="Raleway" charset="0"/>
                <a:cs typeface="Raleway" charset="0"/>
              </a:rPr>
              <a:t>Proposal to raise defensibility of the product by integrating nanotechnology for cheap weight sensing</a:t>
            </a:r>
          </a:p>
        </p:txBody>
      </p:sp>
    </p:spTree>
    <p:extLst>
      <p:ext uri="{BB962C8B-B14F-4D97-AF65-F5344CB8AC3E}">
        <p14:creationId xmlns:p14="http://schemas.microsoft.com/office/powerpoint/2010/main" val="18121438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0000" y="479345"/>
            <a:ext cx="10571998" cy="970450"/>
          </a:xfrm>
        </p:spPr>
        <p:txBody>
          <a:bodyPr/>
          <a:lstStyle/>
          <a:p>
            <a:r>
              <a:rPr lang="en-GB" dirty="0"/>
              <a:t>T</a:t>
            </a:r>
            <a:r>
              <a:rPr lang="en-GB" dirty="0" smtClean="0"/>
              <a:t>eam</a:t>
            </a:r>
            <a:endParaRPr lang="en-GB" dirty="0"/>
          </a:p>
        </p:txBody>
      </p:sp>
      <p:grpSp>
        <p:nvGrpSpPr>
          <p:cNvPr id="13" name="Group 12"/>
          <p:cNvGrpSpPr/>
          <p:nvPr/>
        </p:nvGrpSpPr>
        <p:grpSpPr>
          <a:xfrm>
            <a:off x="563462" y="3030281"/>
            <a:ext cx="4389537" cy="3485267"/>
            <a:chOff x="350102" y="2405441"/>
            <a:chExt cx="4389537" cy="3485267"/>
          </a:xfrm>
        </p:grpSpPr>
        <p:sp>
          <p:nvSpPr>
            <p:cNvPr id="5" name="Rectangle 4"/>
            <p:cNvSpPr/>
            <p:nvPr/>
          </p:nvSpPr>
          <p:spPr>
            <a:xfrm>
              <a:off x="350102" y="4674991"/>
              <a:ext cx="4389537" cy="1215717"/>
            </a:xfrm>
            <a:prstGeom prst="rect">
              <a:avLst/>
            </a:prstGeom>
          </p:spPr>
          <p:txBody>
            <a:bodyPr wrap="square">
              <a:spAutoFit/>
            </a:bodyPr>
            <a:lstStyle/>
            <a:p>
              <a:pPr algn="ctr" fontAlgn="base">
                <a:spcAft>
                  <a:spcPts val="600"/>
                </a:spcAft>
              </a:pPr>
              <a:r>
                <a:rPr lang="en-US" sz="2000" b="1" dirty="0">
                  <a:solidFill>
                    <a:srgbClr val="57CABF"/>
                  </a:solidFill>
                  <a:latin typeface="Raleway" charset="0"/>
                  <a:ea typeface="Raleway" charset="0"/>
                  <a:cs typeface="Raleway" charset="0"/>
                </a:rPr>
                <a:t>Andre </a:t>
              </a:r>
              <a:r>
                <a:rPr lang="en-US" sz="2000" b="1" dirty="0" smtClean="0">
                  <a:solidFill>
                    <a:srgbClr val="57CABF"/>
                  </a:solidFill>
                  <a:latin typeface="Raleway" charset="0"/>
                  <a:ea typeface="Raleway" charset="0"/>
                  <a:cs typeface="Raleway" charset="0"/>
                </a:rPr>
                <a:t>Marquet</a:t>
              </a:r>
              <a:endParaRPr lang="en-US" sz="1600" b="1" dirty="0">
                <a:solidFill>
                  <a:srgbClr val="57CABF"/>
                </a:solidFill>
                <a:latin typeface="Raleway" charset="0"/>
                <a:ea typeface="Raleway" charset="0"/>
                <a:cs typeface="Raleway" charset="0"/>
              </a:endParaRPr>
            </a:p>
            <a:p>
              <a:pPr algn="ctr" fontAlgn="base"/>
              <a:r>
                <a:rPr lang="en-US" sz="1600" dirty="0">
                  <a:latin typeface="Raleway" charset="0"/>
                  <a:ea typeface="Raleway" charset="0"/>
                  <a:cs typeface="Raleway" charset="0"/>
                </a:rPr>
                <a:t>Engineer. Product manager. </a:t>
              </a:r>
              <a:r>
                <a:rPr lang="en-US" sz="1600" dirty="0" smtClean="0">
                  <a:latin typeface="Raleway" charset="0"/>
                  <a:ea typeface="Raleway" charset="0"/>
                  <a:cs typeface="Raleway" charset="0"/>
                </a:rPr>
                <a:t>Lecturer.</a:t>
              </a:r>
            </a:p>
            <a:p>
              <a:pPr algn="ctr" fontAlgn="base"/>
              <a:r>
                <a:rPr lang="en-US" sz="1600" dirty="0" smtClean="0">
                  <a:latin typeface="Raleway" charset="0"/>
                  <a:ea typeface="Raleway" charset="0"/>
                  <a:cs typeface="Raleway" charset="0"/>
                </a:rPr>
                <a:t>Co-founder </a:t>
              </a:r>
              <a:r>
                <a:rPr lang="en-US" sz="1600" dirty="0">
                  <a:latin typeface="Raleway" charset="0"/>
                  <a:ea typeface="Raleway" charset="0"/>
                  <a:cs typeface="Raleway" charset="0"/>
                </a:rPr>
                <a:t>of Beta-</a:t>
              </a:r>
              <a:r>
                <a:rPr lang="en-US" sz="1600" dirty="0" err="1">
                  <a:latin typeface="Raleway" charset="0"/>
                  <a:ea typeface="Raleway" charset="0"/>
                  <a:cs typeface="Raleway" charset="0"/>
                </a:rPr>
                <a:t>i</a:t>
              </a:r>
              <a:r>
                <a:rPr lang="en-US" sz="1600" dirty="0">
                  <a:latin typeface="Raleway" charset="0"/>
                  <a:ea typeface="Raleway" charset="0"/>
                  <a:cs typeface="Raleway" charset="0"/>
                </a:rPr>
                <a:t> and Producer of Productized Conf.</a:t>
              </a:r>
              <a:endParaRPr lang="en-US" sz="1600" b="0" i="0" dirty="0">
                <a:effectLst/>
                <a:latin typeface="Raleway" charset="0"/>
                <a:ea typeface="Raleway" charset="0"/>
                <a:cs typeface="Raleway"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4870" y="2405441"/>
              <a:ext cx="2160000" cy="2160000"/>
            </a:xfrm>
            <a:prstGeom prst="rect">
              <a:avLst/>
            </a:prstGeom>
            <a:effectLst>
              <a:glow rad="63500">
                <a:schemeClr val="accent1">
                  <a:satMod val="175000"/>
                  <a:alpha val="40000"/>
                </a:schemeClr>
              </a:glow>
            </a:effectLst>
          </p:spPr>
        </p:pic>
      </p:grpSp>
      <p:grpSp>
        <p:nvGrpSpPr>
          <p:cNvPr id="15" name="Group 14"/>
          <p:cNvGrpSpPr/>
          <p:nvPr/>
        </p:nvGrpSpPr>
        <p:grpSpPr>
          <a:xfrm>
            <a:off x="7048165" y="3030281"/>
            <a:ext cx="4389537" cy="3485267"/>
            <a:chOff x="6834805" y="2405441"/>
            <a:chExt cx="4389537" cy="3485267"/>
          </a:xfrm>
        </p:grpSpPr>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9574" y="2405441"/>
              <a:ext cx="2160000" cy="2160000"/>
            </a:xfrm>
            <a:prstGeom prst="rect">
              <a:avLst/>
            </a:prstGeom>
            <a:effectLst>
              <a:glow rad="63500">
                <a:schemeClr val="accent1">
                  <a:satMod val="175000"/>
                  <a:alpha val="40000"/>
                </a:schemeClr>
              </a:glow>
            </a:effectLst>
          </p:spPr>
        </p:pic>
        <p:sp>
          <p:nvSpPr>
            <p:cNvPr id="11" name="Rectangle 10"/>
            <p:cNvSpPr/>
            <p:nvPr/>
          </p:nvSpPr>
          <p:spPr>
            <a:xfrm>
              <a:off x="6834805" y="4674991"/>
              <a:ext cx="4389537" cy="1215717"/>
            </a:xfrm>
            <a:prstGeom prst="rect">
              <a:avLst/>
            </a:prstGeom>
          </p:spPr>
          <p:txBody>
            <a:bodyPr wrap="square">
              <a:spAutoFit/>
            </a:bodyPr>
            <a:lstStyle/>
            <a:p>
              <a:pPr algn="ctr" fontAlgn="base">
                <a:spcAft>
                  <a:spcPts val="600"/>
                </a:spcAft>
              </a:pPr>
              <a:r>
                <a:rPr lang="en-US" sz="2000" b="1" dirty="0" smtClean="0">
                  <a:solidFill>
                    <a:srgbClr val="57CABF"/>
                  </a:solidFill>
                  <a:latin typeface="Raleway" charset="0"/>
                  <a:ea typeface="Raleway" charset="0"/>
                  <a:cs typeface="Raleway" charset="0"/>
                </a:rPr>
                <a:t>Pedro Filipe</a:t>
              </a:r>
              <a:endParaRPr lang="en-US" sz="1600" b="1" dirty="0">
                <a:solidFill>
                  <a:srgbClr val="57CABF"/>
                </a:solidFill>
                <a:latin typeface="Raleway" charset="0"/>
                <a:ea typeface="Raleway" charset="0"/>
                <a:cs typeface="Raleway" charset="0"/>
              </a:endParaRPr>
            </a:p>
            <a:p>
              <a:pPr algn="ctr" fontAlgn="base"/>
              <a:r>
                <a:rPr lang="en-US" sz="1600" dirty="0">
                  <a:latin typeface="Raleway" charset="0"/>
                  <a:ea typeface="Raleway" charset="0"/>
                  <a:cs typeface="Raleway" charset="0"/>
                </a:rPr>
                <a:t>Business </a:t>
              </a:r>
              <a:r>
                <a:rPr lang="en-US" sz="1600" dirty="0" smtClean="0">
                  <a:latin typeface="Raleway" charset="0"/>
                  <a:ea typeface="Raleway" charset="0"/>
                  <a:cs typeface="Raleway" charset="0"/>
                </a:rPr>
                <a:t>Developer with proven track of records in complex project management and Logistics </a:t>
              </a:r>
              <a:endParaRPr lang="en-US" sz="1600" b="0" i="0" dirty="0">
                <a:effectLst/>
                <a:latin typeface="Raleway" charset="0"/>
                <a:ea typeface="Raleway" charset="0"/>
                <a:cs typeface="Raleway" charset="0"/>
              </a:endParaRPr>
            </a:p>
          </p:txBody>
        </p:sp>
      </p:grpSp>
      <p:grpSp>
        <p:nvGrpSpPr>
          <p:cNvPr id="14" name="Group 13"/>
          <p:cNvGrpSpPr/>
          <p:nvPr/>
        </p:nvGrpSpPr>
        <p:grpSpPr>
          <a:xfrm>
            <a:off x="3838231" y="1086075"/>
            <a:ext cx="4389537" cy="3792755"/>
            <a:chOff x="3624871" y="369795"/>
            <a:chExt cx="4389537" cy="3792755"/>
          </a:xfrm>
        </p:grpSpPr>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07222" y="369795"/>
              <a:ext cx="2160000" cy="2160000"/>
            </a:xfrm>
            <a:prstGeom prst="rect">
              <a:avLst/>
            </a:prstGeom>
            <a:effectLst>
              <a:glow rad="63500">
                <a:schemeClr val="accent1">
                  <a:satMod val="175000"/>
                  <a:alpha val="40000"/>
                </a:schemeClr>
              </a:glow>
            </a:effectLst>
          </p:spPr>
        </p:pic>
        <p:sp>
          <p:nvSpPr>
            <p:cNvPr id="12" name="Rectangle 11"/>
            <p:cNvSpPr/>
            <p:nvPr/>
          </p:nvSpPr>
          <p:spPr>
            <a:xfrm>
              <a:off x="3624871" y="2700611"/>
              <a:ext cx="4389537" cy="1461939"/>
            </a:xfrm>
            <a:prstGeom prst="rect">
              <a:avLst/>
            </a:prstGeom>
          </p:spPr>
          <p:txBody>
            <a:bodyPr wrap="square">
              <a:spAutoFit/>
            </a:bodyPr>
            <a:lstStyle/>
            <a:p>
              <a:pPr algn="ctr" fontAlgn="base">
                <a:spcAft>
                  <a:spcPts val="600"/>
                </a:spcAft>
              </a:pPr>
              <a:r>
                <a:rPr lang="en-US" sz="2000" b="1" dirty="0" smtClean="0">
                  <a:solidFill>
                    <a:srgbClr val="57CABF"/>
                  </a:solidFill>
                  <a:latin typeface="Raleway" charset="0"/>
                  <a:ea typeface="Raleway" charset="0"/>
                  <a:cs typeface="Raleway" charset="0"/>
                </a:rPr>
                <a:t>Michaël Memeteau</a:t>
              </a:r>
              <a:endParaRPr lang="en-US" sz="1600" b="1" dirty="0">
                <a:solidFill>
                  <a:srgbClr val="57CABF"/>
                </a:solidFill>
                <a:latin typeface="Raleway" charset="0"/>
                <a:ea typeface="Raleway" charset="0"/>
                <a:cs typeface="Raleway" charset="0"/>
              </a:endParaRPr>
            </a:p>
            <a:p>
              <a:pPr algn="ctr" fontAlgn="base"/>
              <a:r>
                <a:rPr lang="en-US" sz="1600" dirty="0" smtClean="0">
                  <a:latin typeface="Raleway" charset="0"/>
                  <a:ea typeface="Raleway" charset="0"/>
                  <a:cs typeface="Raleway" charset="0"/>
                </a:rPr>
                <a:t>M2M/IoT Specialist</a:t>
              </a:r>
              <a:br>
                <a:rPr lang="en-US" sz="1600" dirty="0" smtClean="0">
                  <a:latin typeface="Raleway" charset="0"/>
                  <a:ea typeface="Raleway" charset="0"/>
                  <a:cs typeface="Raleway" charset="0"/>
                </a:rPr>
              </a:br>
              <a:r>
                <a:rPr lang="en-US" sz="1600" dirty="0" smtClean="0">
                  <a:latin typeface="Raleway" charset="0"/>
                  <a:ea typeface="Raleway" charset="0"/>
                  <a:cs typeface="Raleway" charset="0"/>
                </a:rPr>
                <a:t>Co-Founder of the first Portuguese fleet management application</a:t>
              </a:r>
              <a:br>
                <a:rPr lang="en-US" sz="1600" dirty="0" smtClean="0">
                  <a:latin typeface="Raleway" charset="0"/>
                  <a:ea typeface="Raleway" charset="0"/>
                  <a:cs typeface="Raleway" charset="0"/>
                </a:rPr>
              </a:br>
              <a:r>
                <a:rPr lang="en-US" sz="1600" dirty="0" smtClean="0">
                  <a:latin typeface="Raleway" charset="0"/>
                  <a:ea typeface="Raleway" charset="0"/>
                  <a:cs typeface="Raleway" charset="0"/>
                </a:rPr>
                <a:t>x Entrepreneur</a:t>
              </a:r>
              <a:endParaRPr lang="en-US" sz="1600" b="0" i="0" dirty="0">
                <a:effectLst/>
                <a:latin typeface="Raleway" charset="0"/>
                <a:ea typeface="Raleway" charset="0"/>
                <a:cs typeface="Raleway" charset="0"/>
              </a:endParaRPr>
            </a:p>
          </p:txBody>
        </p:sp>
      </p:grpSp>
    </p:spTree>
    <p:extLst>
      <p:ext uri="{BB962C8B-B14F-4D97-AF65-F5344CB8AC3E}">
        <p14:creationId xmlns:p14="http://schemas.microsoft.com/office/powerpoint/2010/main" val="1477131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0000" y="479345"/>
            <a:ext cx="10571998" cy="970450"/>
          </a:xfrm>
          <a:effectLst/>
        </p:spPr>
        <p:txBody>
          <a:bodyPr/>
          <a:lstStyle/>
          <a:p>
            <a:r>
              <a:rPr lang="en-GB" dirty="0" smtClean="0">
                <a:solidFill>
                  <a:schemeClr val="tx1"/>
                </a:solidFill>
              </a:rPr>
              <a:t>Next steps</a:t>
            </a:r>
            <a:endParaRPr lang="en-GB" dirty="0">
              <a:solidFill>
                <a:schemeClr val="tx1"/>
              </a:solidFill>
            </a:endParaRPr>
          </a:p>
        </p:txBody>
      </p:sp>
      <p:sp>
        <p:nvSpPr>
          <p:cNvPr id="13" name="Content Placeholder 2"/>
          <p:cNvSpPr>
            <a:spLocks noGrp="1"/>
          </p:cNvSpPr>
          <p:nvPr>
            <p:ph idx="1"/>
          </p:nvPr>
        </p:nvSpPr>
        <p:spPr>
          <a:xfrm>
            <a:off x="810000" y="2222287"/>
            <a:ext cx="4962156" cy="3636511"/>
          </a:xfrm>
          <a:effectLst/>
        </p:spPr>
        <p:txBody>
          <a:bodyPr>
            <a:normAutofit/>
          </a:bodyPr>
          <a:lstStyle/>
          <a:p>
            <a:pPr lvl="0"/>
            <a:r>
              <a:rPr lang="en-GB" sz="2400" dirty="0" smtClean="0"/>
              <a:t>Field coverage test</a:t>
            </a:r>
          </a:p>
          <a:p>
            <a:pPr lvl="0"/>
            <a:r>
              <a:rPr lang="en-GB" sz="2400" dirty="0" smtClean="0"/>
              <a:t>Pilot with a national player</a:t>
            </a:r>
          </a:p>
          <a:p>
            <a:pPr lvl="0"/>
            <a:r>
              <a:rPr lang="en-GB" sz="2400" dirty="0" smtClean="0"/>
              <a:t>Mobile app </a:t>
            </a:r>
            <a:r>
              <a:rPr lang="en-GB" sz="2400" dirty="0"/>
              <a:t>development </a:t>
            </a:r>
            <a:r>
              <a:rPr lang="en-GB" sz="2400" dirty="0" smtClean="0"/>
              <a:t>&amp; back-end integration</a:t>
            </a:r>
          </a:p>
          <a:p>
            <a:pPr lvl="0"/>
            <a:r>
              <a:rPr lang="en-GB" sz="2400" dirty="0" smtClean="0"/>
              <a:t>Product development &amp; Industrialization</a:t>
            </a:r>
          </a:p>
        </p:txBody>
      </p:sp>
      <p:sp>
        <p:nvSpPr>
          <p:cNvPr id="4" name="Content Placeholder 2"/>
          <p:cNvSpPr txBox="1">
            <a:spLocks/>
          </p:cNvSpPr>
          <p:nvPr/>
        </p:nvSpPr>
        <p:spPr>
          <a:xfrm>
            <a:off x="5966846" y="2222287"/>
            <a:ext cx="5415151" cy="3636511"/>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150000"/>
              <a:buFontTx/>
              <a:buBlip>
                <a:blip r:embed="rId3"/>
              </a:buBlip>
              <a:defRPr sz="1800" kern="1200" baseline="0">
                <a:solidFill>
                  <a:schemeClr val="tx1"/>
                </a:solidFill>
                <a:latin typeface="Raleway Light"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3"/>
              </a:buBlip>
              <a:defRPr sz="1600" kern="1200" baseline="0">
                <a:solidFill>
                  <a:schemeClr val="tx1"/>
                </a:solidFill>
                <a:latin typeface="Raleway Light"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3"/>
              </a:buBlip>
              <a:defRPr sz="1400" kern="1200" baseline="0">
                <a:solidFill>
                  <a:schemeClr val="tx1"/>
                </a:solidFill>
                <a:latin typeface="Raleway Light"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en-GB" sz="2400" dirty="0" smtClean="0"/>
              <a:t>Refine financials &amp; business model</a:t>
            </a:r>
          </a:p>
          <a:p>
            <a:r>
              <a:rPr lang="en-GB" sz="2400" dirty="0" smtClean="0"/>
              <a:t>Apply for Portugal 2020</a:t>
            </a:r>
          </a:p>
          <a:p>
            <a:r>
              <a:rPr lang="en-GB" sz="2400" dirty="0" smtClean="0"/>
              <a:t>Get customers</a:t>
            </a:r>
          </a:p>
          <a:p>
            <a:r>
              <a:rPr lang="en-GB" sz="2400" dirty="0" smtClean="0"/>
              <a:t>Get grant for research with INL</a:t>
            </a:r>
          </a:p>
          <a:p>
            <a:r>
              <a:rPr lang="en-GB" sz="2400" dirty="0" smtClean="0"/>
              <a:t>Complete IP &amp; Rise defensibility</a:t>
            </a:r>
            <a:endParaRPr lang="en-GB" sz="2400" dirty="0"/>
          </a:p>
        </p:txBody>
      </p:sp>
      <p:sp>
        <p:nvSpPr>
          <p:cNvPr id="5" name="Title 1"/>
          <p:cNvSpPr txBox="1">
            <a:spLocks/>
          </p:cNvSpPr>
          <p:nvPr/>
        </p:nvSpPr>
        <p:spPr>
          <a:xfrm>
            <a:off x="680847" y="1449795"/>
            <a:ext cx="4712563" cy="970450"/>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mtClean="0">
                <a:solidFill>
                  <a:schemeClr val="tx1"/>
                </a:solidFill>
              </a:rPr>
              <a:t>Tech</a:t>
            </a:r>
            <a:endParaRPr lang="en-GB" dirty="0">
              <a:solidFill>
                <a:schemeClr val="tx1"/>
              </a:solidFill>
            </a:endParaRPr>
          </a:p>
        </p:txBody>
      </p:sp>
      <p:sp>
        <p:nvSpPr>
          <p:cNvPr id="6" name="Title 1"/>
          <p:cNvSpPr txBox="1">
            <a:spLocks/>
          </p:cNvSpPr>
          <p:nvPr/>
        </p:nvSpPr>
        <p:spPr>
          <a:xfrm>
            <a:off x="6095999" y="1449795"/>
            <a:ext cx="4712563" cy="970450"/>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dirty="0" smtClean="0">
                <a:solidFill>
                  <a:schemeClr val="tx1"/>
                </a:solidFill>
              </a:rPr>
              <a:t>Business</a:t>
            </a:r>
            <a:endParaRPr lang="en-GB" dirty="0">
              <a:solidFill>
                <a:schemeClr val="tx1"/>
              </a:solidFill>
            </a:endParaRPr>
          </a:p>
        </p:txBody>
      </p:sp>
    </p:spTree>
    <p:extLst>
      <p:ext uri="{BB962C8B-B14F-4D97-AF65-F5344CB8AC3E}">
        <p14:creationId xmlns:p14="http://schemas.microsoft.com/office/powerpoint/2010/main" val="86930818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0000" y="533464"/>
            <a:ext cx="10571998" cy="970450"/>
          </a:xfrm>
          <a:effectLst/>
        </p:spPr>
        <p:txBody>
          <a:bodyPr/>
          <a:lstStyle/>
          <a:p>
            <a:r>
              <a:rPr lang="en-GB" dirty="0" smtClean="0">
                <a:solidFill>
                  <a:schemeClr val="tx1"/>
                </a:solidFill>
              </a:rPr>
              <a:t>Investment</a:t>
            </a:r>
            <a:endParaRPr lang="en-GB" dirty="0">
              <a:solidFill>
                <a:schemeClr val="tx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820416477"/>
              </p:ext>
            </p:extLst>
          </p:nvPr>
        </p:nvGraphicFramePr>
        <p:xfrm>
          <a:off x="810000" y="1595718"/>
          <a:ext cx="10563231" cy="3972574"/>
        </p:xfrm>
        <a:graphic>
          <a:graphicData uri="http://schemas.openxmlformats.org/drawingml/2006/table">
            <a:tbl>
              <a:tblPr firstRow="1" bandRow="1">
                <a:tableStyleId>{5C22544A-7EE6-4342-B048-85BDC9FD1C3A}</a:tableStyleId>
              </a:tblPr>
              <a:tblGrid>
                <a:gridCol w="1861763"/>
                <a:gridCol w="2771776"/>
                <a:gridCol w="1482423"/>
                <a:gridCol w="1482423"/>
                <a:gridCol w="1482423"/>
                <a:gridCol w="1482423"/>
              </a:tblGrid>
              <a:tr h="590728">
                <a:tc>
                  <a:txBody>
                    <a:bodyPr/>
                    <a:lstStyle/>
                    <a:p>
                      <a:pPr algn="ctr" fontAlgn="ctr"/>
                      <a:r>
                        <a:rPr lang="en-US" sz="1400" u="none" strike="noStrike" dirty="0" smtClean="0">
                          <a:effectLst/>
                          <a:latin typeface="Raleway" charset="0"/>
                          <a:ea typeface="Raleway" charset="0"/>
                          <a:cs typeface="Raleway" charset="0"/>
                        </a:rPr>
                        <a:t>Milestone</a:t>
                      </a:r>
                      <a:br>
                        <a:rPr lang="en-US" sz="1400" u="none" strike="noStrike" dirty="0" smtClean="0">
                          <a:effectLst/>
                          <a:latin typeface="Raleway" charset="0"/>
                          <a:ea typeface="Raleway" charset="0"/>
                          <a:cs typeface="Raleway" charset="0"/>
                        </a:rPr>
                      </a:br>
                      <a:r>
                        <a:rPr lang="en-US" sz="1400" u="none" strike="noStrike" dirty="0" smtClean="0">
                          <a:effectLst/>
                          <a:latin typeface="Raleway" charset="0"/>
                          <a:ea typeface="Raleway" charset="0"/>
                          <a:cs typeface="Raleway" charset="0"/>
                        </a:rPr>
                        <a:t>(end </a:t>
                      </a:r>
                      <a:r>
                        <a:rPr lang="en-US" sz="1400" u="none" strike="noStrike" dirty="0">
                          <a:effectLst/>
                          <a:latin typeface="Raleway" charset="0"/>
                          <a:ea typeface="Raleway" charset="0"/>
                          <a:cs typeface="Raleway" charset="0"/>
                        </a:rPr>
                        <a:t>of the month)</a:t>
                      </a:r>
                      <a:endParaRPr lang="en-US" sz="1400" b="1" i="0" u="none" strike="noStrike" dirty="0">
                        <a:solidFill>
                          <a:srgbClr val="FFFFFF"/>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Deliverables</a:t>
                      </a:r>
                      <a:endParaRPr lang="en-US" sz="1400" b="1" i="0" u="none" strike="noStrike" dirty="0">
                        <a:solidFill>
                          <a:srgbClr val="FFFFFF"/>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Funding</a:t>
                      </a:r>
                      <a:br>
                        <a:rPr lang="en-US" sz="1400" u="none" strike="noStrike" dirty="0" smtClean="0">
                          <a:effectLst/>
                          <a:latin typeface="Raleway" charset="0"/>
                          <a:ea typeface="Raleway" charset="0"/>
                          <a:cs typeface="Raleway" charset="0"/>
                        </a:rPr>
                      </a:br>
                      <a:r>
                        <a:rPr lang="en-US" sz="1400" u="none" strike="noStrike" dirty="0" smtClean="0">
                          <a:effectLst/>
                          <a:latin typeface="Raleway" charset="0"/>
                          <a:ea typeface="Raleway" charset="0"/>
                          <a:cs typeface="Raleway" charset="0"/>
                        </a:rPr>
                        <a:t>needs</a:t>
                      </a:r>
                      <a:endParaRPr lang="en-US" sz="1400" b="1" i="0" u="none" strike="noStrike" dirty="0">
                        <a:solidFill>
                          <a:srgbClr val="FFFFFF"/>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Portugal Ventures</a:t>
                      </a:r>
                      <a:br>
                        <a:rPr lang="en-US" sz="1400" u="none" strike="noStrike" dirty="0">
                          <a:effectLst/>
                          <a:latin typeface="Raleway" charset="0"/>
                          <a:ea typeface="Raleway" charset="0"/>
                          <a:cs typeface="Raleway" charset="0"/>
                        </a:rPr>
                      </a:br>
                      <a:r>
                        <a:rPr lang="en-US" sz="1400" u="none" strike="noStrike" dirty="0" smtClean="0">
                          <a:effectLst/>
                          <a:latin typeface="Raleway" charset="0"/>
                          <a:ea typeface="Raleway" charset="0"/>
                          <a:cs typeface="Raleway" charset="0"/>
                        </a:rPr>
                        <a:t>Investment</a:t>
                      </a:r>
                      <a:endParaRPr lang="en-US" sz="1400" b="1" i="0" u="none" strike="noStrike" dirty="0">
                        <a:solidFill>
                          <a:srgbClr val="FFFFFF"/>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Promotor's </a:t>
                      </a:r>
                      <a:r>
                        <a:rPr lang="en-US" sz="1400" u="none" strike="noStrike" dirty="0" smtClean="0">
                          <a:effectLst/>
                          <a:latin typeface="Raleway" charset="0"/>
                          <a:ea typeface="Raleway" charset="0"/>
                          <a:cs typeface="Raleway" charset="0"/>
                        </a:rPr>
                        <a:t>Investment</a:t>
                      </a:r>
                      <a:endParaRPr lang="en-US" sz="1400" b="1" i="0" u="none" strike="noStrike" dirty="0">
                        <a:solidFill>
                          <a:srgbClr val="FFFFFF"/>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Investment</a:t>
                      </a:r>
                      <a:br>
                        <a:rPr lang="en-US" sz="1400" u="none" strike="noStrike" dirty="0">
                          <a:effectLst/>
                          <a:latin typeface="Raleway" charset="0"/>
                          <a:ea typeface="Raleway" charset="0"/>
                          <a:cs typeface="Raleway" charset="0"/>
                        </a:rPr>
                      </a:br>
                      <a:r>
                        <a:rPr lang="en-US" sz="1400" u="none" strike="noStrike" dirty="0">
                          <a:effectLst/>
                          <a:latin typeface="Raleway" charset="0"/>
                          <a:ea typeface="Raleway" charset="0"/>
                          <a:cs typeface="Raleway" charset="0"/>
                        </a:rPr>
                        <a:t>by other Investors</a:t>
                      </a:r>
                      <a:endParaRPr lang="en-US" sz="1400" b="1" i="0" u="none" strike="noStrike" dirty="0">
                        <a:solidFill>
                          <a:srgbClr val="FFFFFF"/>
                        </a:solidFill>
                        <a:effectLst/>
                        <a:latin typeface="Raleway" charset="0"/>
                        <a:ea typeface="Raleway" charset="0"/>
                        <a:cs typeface="Raleway" charset="0"/>
                      </a:endParaRPr>
                    </a:p>
                  </a:txBody>
                  <a:tcPr marL="4431" marR="4431" marT="4431" marB="0" anchor="ctr"/>
                </a:tc>
              </a:tr>
              <a:tr h="439905">
                <a:tc>
                  <a:txBody>
                    <a:bodyPr/>
                    <a:lstStyle/>
                    <a:p>
                      <a:pPr algn="ctr" fontAlgn="ctr"/>
                      <a:r>
                        <a:rPr lang="en-US" sz="1400" u="none" strike="noStrike" dirty="0" smtClean="0">
                          <a:effectLst/>
                          <a:latin typeface="Raleway" charset="0"/>
                          <a:ea typeface="Raleway" charset="0"/>
                          <a:cs typeface="Raleway" charset="0"/>
                        </a:rPr>
                        <a:t>Dec </a:t>
                      </a:r>
                      <a:r>
                        <a:rPr lang="en-US" sz="1400" u="none" strike="noStrike" dirty="0">
                          <a:effectLst/>
                          <a:latin typeface="Raleway" charset="0"/>
                          <a:ea typeface="Raleway" charset="0"/>
                          <a:cs typeface="Raleway" charset="0"/>
                        </a:rPr>
                        <a:t>2016</a:t>
                      </a:r>
                      <a:endParaRPr lang="en-US" sz="1400" b="1"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a:effectLst/>
                          <a:latin typeface="Raleway" charset="0"/>
                          <a:ea typeface="Raleway" charset="0"/>
                          <a:cs typeface="Raleway" charset="0"/>
                        </a:rPr>
                        <a:t>Functional Prototype</a:t>
                      </a:r>
                      <a:endParaRPr lang="en-US" sz="1400" b="0" i="0" u="none" strike="noStrike">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60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40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15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5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r>
              <a:tr h="402198">
                <a:tc>
                  <a:txBody>
                    <a:bodyPr/>
                    <a:lstStyle/>
                    <a:p>
                      <a:pPr algn="ctr" fontAlgn="ctr"/>
                      <a:r>
                        <a:rPr lang="en-US" sz="1400" u="none" strike="noStrike" dirty="0" smtClean="0">
                          <a:effectLst/>
                          <a:latin typeface="Raleway" charset="0"/>
                          <a:ea typeface="Raleway" charset="0"/>
                          <a:cs typeface="Raleway" charset="0"/>
                        </a:rPr>
                        <a:t>Mar </a:t>
                      </a:r>
                      <a:r>
                        <a:rPr lang="en-US" sz="1400" u="none" strike="noStrike" dirty="0">
                          <a:effectLst/>
                          <a:latin typeface="Raleway" charset="0"/>
                          <a:ea typeface="Raleway" charset="0"/>
                          <a:cs typeface="Raleway" charset="0"/>
                        </a:rPr>
                        <a:t>2017</a:t>
                      </a:r>
                      <a:endParaRPr lang="en-US" sz="1400" b="1"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Certification (ATEX &amp; SIGFOX)</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20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20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mr-IN" sz="1400" u="none" strike="noStrike" dirty="0">
                          <a:effectLst/>
                          <a:latin typeface="Raleway" charset="0"/>
                          <a:ea typeface="Raleway" charset="0"/>
                          <a:cs typeface="Raleway" charset="0"/>
                        </a:rPr>
                        <a:t> </a:t>
                      </a:r>
                      <a:r>
                        <a:rPr lang="mr-IN" sz="1400" u="none" strike="noStrike" dirty="0" smtClean="0">
                          <a:effectLst/>
                          <a:latin typeface="Raleway" charset="0"/>
                          <a:ea typeface="Raleway" charset="0"/>
                          <a:cs typeface="Raleway" charset="0"/>
                        </a:rPr>
                        <a:t>-   </a:t>
                      </a:r>
                      <a:endParaRPr lang="mr-IN"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mr-IN" sz="1400" u="none" strike="noStrike" dirty="0">
                          <a:effectLst/>
                          <a:latin typeface="Raleway" charset="0"/>
                          <a:ea typeface="Raleway" charset="0"/>
                          <a:cs typeface="Raleway" charset="0"/>
                        </a:rPr>
                        <a:t> </a:t>
                      </a:r>
                      <a:r>
                        <a:rPr lang="mr-IN" sz="1400" u="none" strike="noStrike" dirty="0" smtClean="0">
                          <a:effectLst/>
                          <a:latin typeface="Raleway" charset="0"/>
                          <a:ea typeface="Raleway" charset="0"/>
                          <a:cs typeface="Raleway" charset="0"/>
                        </a:rPr>
                        <a:t>-   </a:t>
                      </a:r>
                      <a:endParaRPr lang="mr-IN" sz="1400" b="0" i="0" u="none" strike="noStrike" dirty="0">
                        <a:solidFill>
                          <a:srgbClr val="000000"/>
                        </a:solidFill>
                        <a:effectLst/>
                        <a:latin typeface="Raleway" charset="0"/>
                        <a:ea typeface="Raleway" charset="0"/>
                        <a:cs typeface="Raleway" charset="0"/>
                      </a:endParaRPr>
                    </a:p>
                  </a:txBody>
                  <a:tcPr marL="4431" marR="4431" marT="4431" marB="0" anchor="ctr"/>
                </a:tc>
              </a:tr>
              <a:tr h="402198">
                <a:tc>
                  <a:txBody>
                    <a:bodyPr/>
                    <a:lstStyle/>
                    <a:p>
                      <a:pPr algn="ctr" fontAlgn="ctr"/>
                      <a:r>
                        <a:rPr lang="en-US" sz="1400" u="none" strike="noStrike" dirty="0" smtClean="0">
                          <a:effectLst/>
                          <a:latin typeface="Raleway" charset="0"/>
                          <a:ea typeface="Raleway" charset="0"/>
                          <a:cs typeface="Raleway" charset="0"/>
                        </a:rPr>
                        <a:t>Jun </a:t>
                      </a:r>
                      <a:r>
                        <a:rPr lang="en-US" sz="1400" u="none" strike="noStrike" dirty="0">
                          <a:effectLst/>
                          <a:latin typeface="Raleway" charset="0"/>
                          <a:ea typeface="Raleway" charset="0"/>
                          <a:cs typeface="Raleway" charset="0"/>
                        </a:rPr>
                        <a:t>2017</a:t>
                      </a:r>
                      <a:endParaRPr lang="en-US" sz="1400" b="1"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Pilot Run </a:t>
                      </a:r>
                      <a:r>
                        <a:rPr lang="en-US" sz="1400" u="none" strike="noStrike" dirty="0" smtClean="0">
                          <a:effectLst/>
                          <a:latin typeface="Raleway" charset="0"/>
                          <a:ea typeface="Raleway" charset="0"/>
                          <a:cs typeface="Raleway" charset="0"/>
                        </a:rPr>
                        <a:t>(100 Units)</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marL="0" marR="0" indent="0" algn="ctr" defTabSz="457200" rtl="0" eaLnBrk="1" fontAlgn="ctr" latinLnBrk="0" hangingPunct="1">
                        <a:lnSpc>
                          <a:spcPct val="100000"/>
                        </a:lnSpc>
                        <a:spcBef>
                          <a:spcPts val="0"/>
                        </a:spcBef>
                        <a:spcAft>
                          <a:spcPts val="0"/>
                        </a:spcAft>
                        <a:buClrTx/>
                        <a:buSzTx/>
                        <a:buFontTx/>
                        <a:buNone/>
                        <a:tabLst/>
                        <a:defRPr/>
                      </a:pPr>
                      <a:r>
                        <a:rPr lang="en-US" sz="1400" u="none" strike="noStrike" dirty="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25 k€</a:t>
                      </a: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25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mr-IN" sz="1400" u="none" strike="noStrike" dirty="0">
                          <a:effectLst/>
                          <a:latin typeface="Raleway" charset="0"/>
                          <a:ea typeface="Raleway" charset="0"/>
                          <a:cs typeface="Raleway" charset="0"/>
                        </a:rPr>
                        <a:t> </a:t>
                      </a:r>
                      <a:r>
                        <a:rPr lang="mr-IN" sz="1400" u="none" strike="noStrike" dirty="0" smtClean="0">
                          <a:effectLst/>
                          <a:latin typeface="Raleway" charset="0"/>
                          <a:ea typeface="Raleway" charset="0"/>
                          <a:cs typeface="Raleway" charset="0"/>
                        </a:rPr>
                        <a:t>-   </a:t>
                      </a:r>
                      <a:endParaRPr lang="mr-IN"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mr-IN" sz="1400" u="none" strike="noStrike" dirty="0">
                          <a:effectLst/>
                          <a:latin typeface="Raleway" charset="0"/>
                          <a:ea typeface="Raleway" charset="0"/>
                          <a:cs typeface="Raleway" charset="0"/>
                        </a:rPr>
                        <a:t> </a:t>
                      </a:r>
                      <a:r>
                        <a:rPr lang="mr-IN" sz="1400" u="none" strike="noStrike" dirty="0" smtClean="0">
                          <a:effectLst/>
                          <a:latin typeface="Raleway" charset="0"/>
                          <a:ea typeface="Raleway" charset="0"/>
                          <a:cs typeface="Raleway" charset="0"/>
                        </a:rPr>
                        <a:t>-   </a:t>
                      </a:r>
                      <a:endParaRPr lang="mr-IN" sz="1400" b="0" i="0" u="none" strike="noStrike" dirty="0">
                        <a:solidFill>
                          <a:srgbClr val="000000"/>
                        </a:solidFill>
                        <a:effectLst/>
                        <a:latin typeface="Raleway" charset="0"/>
                        <a:ea typeface="Raleway" charset="0"/>
                        <a:cs typeface="Raleway" charset="0"/>
                      </a:endParaRPr>
                    </a:p>
                  </a:txBody>
                  <a:tcPr marL="4431" marR="4431" marT="4431" marB="0" anchor="ctr"/>
                </a:tc>
              </a:tr>
              <a:tr h="402198">
                <a:tc>
                  <a:txBody>
                    <a:bodyPr/>
                    <a:lstStyle/>
                    <a:p>
                      <a:pPr algn="ctr" fontAlgn="ctr"/>
                      <a:r>
                        <a:rPr lang="en-US" sz="1400" u="none" strike="noStrike" dirty="0" smtClean="0">
                          <a:effectLst/>
                          <a:latin typeface="Raleway" charset="0"/>
                          <a:ea typeface="Raleway" charset="0"/>
                          <a:cs typeface="Raleway" charset="0"/>
                        </a:rPr>
                        <a:t>Sep </a:t>
                      </a:r>
                      <a:r>
                        <a:rPr lang="en-US" sz="1400" u="none" strike="noStrike" dirty="0">
                          <a:effectLst/>
                          <a:latin typeface="Raleway" charset="0"/>
                          <a:ea typeface="Raleway" charset="0"/>
                          <a:cs typeface="Raleway" charset="0"/>
                        </a:rPr>
                        <a:t>2017</a:t>
                      </a:r>
                      <a:endParaRPr lang="en-US" sz="1400" b="1"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Field </a:t>
                      </a:r>
                      <a:r>
                        <a:rPr lang="en-US" sz="1400" u="none" strike="noStrike" dirty="0" smtClean="0">
                          <a:effectLst/>
                          <a:latin typeface="Raleway" charset="0"/>
                          <a:ea typeface="Raleway" charset="0"/>
                          <a:cs typeface="Raleway" charset="0"/>
                        </a:rPr>
                        <a:t>Trial &amp; Customer Approval</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30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30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mr-IN" sz="1400" u="none" strike="noStrike" dirty="0">
                          <a:effectLst/>
                          <a:latin typeface="Raleway" charset="0"/>
                          <a:ea typeface="Raleway" charset="0"/>
                          <a:cs typeface="Raleway" charset="0"/>
                        </a:rPr>
                        <a:t> </a:t>
                      </a:r>
                      <a:r>
                        <a:rPr lang="mr-IN" sz="1400" u="none" strike="noStrike" dirty="0" smtClean="0">
                          <a:effectLst/>
                          <a:latin typeface="Raleway" charset="0"/>
                          <a:ea typeface="Raleway" charset="0"/>
                          <a:cs typeface="Raleway" charset="0"/>
                        </a:rPr>
                        <a:t>-   </a:t>
                      </a:r>
                      <a:endParaRPr lang="mr-IN"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mr-IN" sz="1400" u="none" strike="noStrike" dirty="0">
                          <a:effectLst/>
                          <a:latin typeface="Raleway" charset="0"/>
                          <a:ea typeface="Raleway" charset="0"/>
                          <a:cs typeface="Raleway" charset="0"/>
                        </a:rPr>
                        <a:t> </a:t>
                      </a:r>
                      <a:r>
                        <a:rPr lang="mr-IN" sz="1400" u="none" strike="noStrike" dirty="0" smtClean="0">
                          <a:effectLst/>
                          <a:latin typeface="Raleway" charset="0"/>
                          <a:ea typeface="Raleway" charset="0"/>
                          <a:cs typeface="Raleway" charset="0"/>
                        </a:rPr>
                        <a:t>-   </a:t>
                      </a:r>
                      <a:endParaRPr lang="mr-IN" sz="1400" b="0" i="0" u="none" strike="noStrike" dirty="0">
                        <a:solidFill>
                          <a:srgbClr val="000000"/>
                        </a:solidFill>
                        <a:effectLst/>
                        <a:latin typeface="Raleway" charset="0"/>
                        <a:ea typeface="Raleway" charset="0"/>
                        <a:cs typeface="Raleway" charset="0"/>
                      </a:endParaRPr>
                    </a:p>
                  </a:txBody>
                  <a:tcPr marL="4431" marR="4431" marT="4431" marB="0" anchor="ctr"/>
                </a:tc>
              </a:tr>
              <a:tr h="438584">
                <a:tc>
                  <a:txBody>
                    <a:bodyPr/>
                    <a:lstStyle/>
                    <a:p>
                      <a:pPr algn="ctr" fontAlgn="ctr"/>
                      <a:r>
                        <a:rPr lang="en-US" sz="1400" u="none" strike="noStrike" dirty="0" smtClean="0">
                          <a:effectLst/>
                          <a:latin typeface="Raleway" charset="0"/>
                          <a:ea typeface="Raleway" charset="0"/>
                          <a:cs typeface="Raleway" charset="0"/>
                        </a:rPr>
                        <a:t>Nov </a:t>
                      </a:r>
                      <a:r>
                        <a:rPr lang="en-US" sz="1400" u="none" strike="noStrike" dirty="0">
                          <a:effectLst/>
                          <a:latin typeface="Raleway" charset="0"/>
                          <a:ea typeface="Raleway" charset="0"/>
                          <a:cs typeface="Raleway" charset="0"/>
                        </a:rPr>
                        <a:t>2017</a:t>
                      </a:r>
                      <a:endParaRPr lang="en-US" sz="1400" b="1"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Mass </a:t>
                      </a:r>
                      <a:r>
                        <a:rPr lang="en-US" sz="1400" u="none" strike="noStrike" dirty="0" smtClean="0">
                          <a:effectLst/>
                          <a:latin typeface="Raleway" charset="0"/>
                          <a:ea typeface="Raleway" charset="0"/>
                          <a:cs typeface="Raleway" charset="0"/>
                        </a:rPr>
                        <a:t>Production</a:t>
                      </a:r>
                      <a:r>
                        <a:rPr lang="en-US" sz="1400" u="none" strike="noStrike" baseline="0" dirty="0" smtClean="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500 Units)</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50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25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mr-IN" sz="1400" u="none" strike="noStrike" dirty="0">
                          <a:effectLst/>
                          <a:latin typeface="Raleway" charset="0"/>
                          <a:ea typeface="Raleway" charset="0"/>
                          <a:cs typeface="Raleway" charset="0"/>
                        </a:rPr>
                        <a:t> </a:t>
                      </a:r>
                      <a:r>
                        <a:rPr lang="mr-IN" sz="1400" u="none" strike="noStrike" dirty="0" smtClean="0">
                          <a:effectLst/>
                          <a:latin typeface="Raleway" charset="0"/>
                          <a:ea typeface="Raleway" charset="0"/>
                          <a:cs typeface="Raleway" charset="0"/>
                        </a:rPr>
                        <a:t>-   </a:t>
                      </a:r>
                      <a:endParaRPr lang="mr-IN"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25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r>
              <a:tr h="438584">
                <a:tc>
                  <a:txBody>
                    <a:bodyPr/>
                    <a:lstStyle/>
                    <a:p>
                      <a:pPr algn="ctr" fontAlgn="ctr"/>
                      <a:r>
                        <a:rPr lang="en-US" sz="1400" u="none" strike="noStrike" dirty="0" smtClean="0">
                          <a:effectLst/>
                          <a:latin typeface="Raleway" charset="0"/>
                          <a:ea typeface="Raleway" charset="0"/>
                          <a:cs typeface="Raleway" charset="0"/>
                        </a:rPr>
                        <a:t>Dec </a:t>
                      </a:r>
                      <a:r>
                        <a:rPr lang="en-US" sz="1400" u="none" strike="noStrike" dirty="0">
                          <a:effectLst/>
                          <a:latin typeface="Raleway" charset="0"/>
                          <a:ea typeface="Raleway" charset="0"/>
                          <a:cs typeface="Raleway" charset="0"/>
                        </a:rPr>
                        <a:t>2017</a:t>
                      </a:r>
                      <a:endParaRPr lang="en-US" sz="1400" b="1"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Mass </a:t>
                      </a:r>
                      <a:r>
                        <a:rPr lang="en-US" sz="1400" u="none" strike="noStrike" dirty="0" smtClean="0">
                          <a:effectLst/>
                          <a:latin typeface="Raleway" charset="0"/>
                          <a:ea typeface="Raleway" charset="0"/>
                          <a:cs typeface="Raleway" charset="0"/>
                        </a:rPr>
                        <a:t>Production (2500 Units)</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125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25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mr-IN" sz="1400" u="none" strike="noStrike" dirty="0">
                          <a:effectLst/>
                          <a:latin typeface="Raleway" charset="0"/>
                          <a:ea typeface="Raleway" charset="0"/>
                          <a:cs typeface="Raleway" charset="0"/>
                        </a:rPr>
                        <a:t> </a:t>
                      </a:r>
                      <a:r>
                        <a:rPr lang="mr-IN" sz="1400" u="none" strike="noStrike" dirty="0" smtClean="0">
                          <a:effectLst/>
                          <a:latin typeface="Raleway" charset="0"/>
                          <a:ea typeface="Raleway" charset="0"/>
                          <a:cs typeface="Raleway" charset="0"/>
                        </a:rPr>
                        <a:t>-   </a:t>
                      </a:r>
                      <a:endParaRPr lang="mr-IN"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100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r>
              <a:tr h="402198">
                <a:tc>
                  <a:txBody>
                    <a:bodyPr/>
                    <a:lstStyle/>
                    <a:p>
                      <a:pPr algn="ctr" fontAlgn="ctr"/>
                      <a:r>
                        <a:rPr lang="en-US" sz="1400" u="none" strike="noStrike" dirty="0" smtClean="0">
                          <a:effectLst/>
                          <a:latin typeface="Raleway" charset="0"/>
                          <a:ea typeface="Raleway" charset="0"/>
                          <a:cs typeface="Raleway" charset="0"/>
                        </a:rPr>
                        <a:t>Mar </a:t>
                      </a:r>
                      <a:r>
                        <a:rPr lang="en-US" sz="1400" u="none" strike="noStrike" dirty="0">
                          <a:effectLst/>
                          <a:latin typeface="Raleway" charset="0"/>
                          <a:ea typeface="Raleway" charset="0"/>
                          <a:cs typeface="Raleway" charset="0"/>
                        </a:rPr>
                        <a:t>2018</a:t>
                      </a:r>
                      <a:endParaRPr lang="en-US" sz="1400" b="1"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National </a:t>
                      </a:r>
                      <a:r>
                        <a:rPr lang="en-US" sz="1400" u="none" strike="noStrike" dirty="0" smtClean="0">
                          <a:effectLst/>
                          <a:latin typeface="Raleway" charset="0"/>
                          <a:ea typeface="Raleway" charset="0"/>
                          <a:cs typeface="Raleway" charset="0"/>
                        </a:rPr>
                        <a:t>Roll-out</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700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100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600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mr-IN" sz="1400" u="none" strike="noStrike" dirty="0" smtClean="0">
                          <a:effectLst/>
                          <a:latin typeface="Raleway" charset="0"/>
                          <a:ea typeface="Raleway" charset="0"/>
                          <a:cs typeface="Raleway" charset="0"/>
                        </a:rPr>
                        <a:t>-   </a:t>
                      </a:r>
                      <a:endParaRPr lang="mr-IN" sz="1400" b="0" i="0" u="none" strike="noStrike" dirty="0">
                        <a:solidFill>
                          <a:srgbClr val="000000"/>
                        </a:solidFill>
                        <a:effectLst/>
                        <a:latin typeface="Raleway" charset="0"/>
                        <a:ea typeface="Raleway" charset="0"/>
                        <a:cs typeface="Raleway" charset="0"/>
                      </a:endParaRPr>
                    </a:p>
                  </a:txBody>
                  <a:tcPr marL="4431" marR="4431" marT="4431" marB="0" anchor="ctr"/>
                </a:tc>
              </a:tr>
              <a:tr h="402198">
                <a:tc>
                  <a:txBody>
                    <a:bodyPr/>
                    <a:lstStyle/>
                    <a:p>
                      <a:pPr algn="ctr" fontAlgn="ctr"/>
                      <a:r>
                        <a:rPr lang="en-US" sz="1400" u="none" strike="noStrike">
                          <a:effectLst/>
                          <a:latin typeface="Raleway" charset="0"/>
                          <a:ea typeface="Raleway" charset="0"/>
                          <a:cs typeface="Raleway" charset="0"/>
                        </a:rPr>
                        <a:t>TOTAL</a:t>
                      </a:r>
                      <a:endParaRPr lang="en-US" sz="1400" b="1" i="0" u="none" strike="noStrike">
                        <a:solidFill>
                          <a:srgbClr val="000000"/>
                        </a:solidFill>
                        <a:effectLst/>
                        <a:latin typeface="Raleway" charset="0"/>
                        <a:ea typeface="Raleway" charset="0"/>
                        <a:cs typeface="Raleway" charset="0"/>
                      </a:endParaRPr>
                    </a:p>
                  </a:txBody>
                  <a:tcPr marL="4431" marR="4431" marT="4431" marB="0" anchor="ctr"/>
                </a:tc>
                <a:tc>
                  <a:txBody>
                    <a:bodyPr/>
                    <a:lstStyle/>
                    <a:p>
                      <a:pPr algn="ctr" fontAlgn="ctr"/>
                      <a:endParaRPr lang="en-US" sz="1400" b="0" i="0" u="none" strike="noStrike">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pl-PL" sz="1400" u="none" strike="noStrike" dirty="0">
                          <a:effectLst/>
                          <a:latin typeface="Raleway" charset="0"/>
                          <a:ea typeface="Raleway" charset="0"/>
                          <a:cs typeface="Raleway" charset="0"/>
                        </a:rPr>
                        <a:t> </a:t>
                      </a:r>
                      <a:r>
                        <a:rPr lang="pl-PL" sz="1400" u="none" strike="noStrike" dirty="0" smtClean="0">
                          <a:effectLst/>
                          <a:latin typeface="Raleway" charset="0"/>
                          <a:ea typeface="Raleway" charset="0"/>
                          <a:cs typeface="Raleway" charset="0"/>
                        </a:rPr>
                        <a:t>1 010 </a:t>
                      </a:r>
                      <a:r>
                        <a:rPr lang="en-US" sz="1400" u="none" strike="noStrike" dirty="0" smtClean="0">
                          <a:effectLst/>
                          <a:latin typeface="Raleway" charset="0"/>
                          <a:ea typeface="Raleway" charset="0"/>
                          <a:cs typeface="Raleway" charset="0"/>
                        </a:rPr>
                        <a:t>k€</a:t>
                      </a:r>
                      <a:endParaRPr lang="pl-PL"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a:effectLst/>
                          <a:latin typeface="Raleway" charset="0"/>
                          <a:ea typeface="Raleway" charset="0"/>
                          <a:cs typeface="Raleway" charset="0"/>
                        </a:rPr>
                        <a:t> </a:t>
                      </a:r>
                      <a:r>
                        <a:rPr lang="en-US" sz="1400" u="none" strike="noStrike" dirty="0" smtClean="0">
                          <a:effectLst/>
                          <a:latin typeface="Raleway" charset="0"/>
                          <a:ea typeface="Raleway" charset="0"/>
                          <a:cs typeface="Raleway" charset="0"/>
                        </a:rPr>
                        <a:t>265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615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c>
                  <a:txBody>
                    <a:bodyPr/>
                    <a:lstStyle/>
                    <a:p>
                      <a:pPr algn="ctr" fontAlgn="ctr"/>
                      <a:r>
                        <a:rPr lang="en-US" sz="1400" u="none" strike="noStrike" dirty="0" smtClean="0">
                          <a:effectLst/>
                          <a:latin typeface="Raleway" charset="0"/>
                          <a:ea typeface="Raleway" charset="0"/>
                          <a:cs typeface="Raleway" charset="0"/>
                        </a:rPr>
                        <a:t>130 k€</a:t>
                      </a:r>
                      <a:endParaRPr lang="en-US" sz="1400" b="0" i="0" u="none" strike="noStrike" dirty="0">
                        <a:solidFill>
                          <a:srgbClr val="000000"/>
                        </a:solidFill>
                        <a:effectLst/>
                        <a:latin typeface="Raleway" charset="0"/>
                        <a:ea typeface="Raleway" charset="0"/>
                        <a:cs typeface="Raleway" charset="0"/>
                      </a:endParaRPr>
                    </a:p>
                  </a:txBody>
                  <a:tcPr marL="4431" marR="4431" marT="4431" marB="0" anchor="ctr"/>
                </a:tc>
              </a:tr>
            </a:tbl>
          </a:graphicData>
        </a:graphic>
      </p:graphicFrame>
    </p:spTree>
    <p:extLst>
      <p:ext uri="{BB962C8B-B14F-4D97-AF65-F5344CB8AC3E}">
        <p14:creationId xmlns:p14="http://schemas.microsoft.com/office/powerpoint/2010/main" val="9117882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1"/>
                </a:solidFill>
              </a:rPr>
              <a:t>Exit</a:t>
            </a:r>
            <a:r>
              <a:rPr lang="en-GB" dirty="0" smtClean="0"/>
              <a:t> strategy</a:t>
            </a:r>
            <a:endParaRPr lang="en-GB" dirty="0"/>
          </a:p>
        </p:txBody>
      </p:sp>
      <p:sp>
        <p:nvSpPr>
          <p:cNvPr id="3" name="Content Placeholder 2"/>
          <p:cNvSpPr>
            <a:spLocks noGrp="1"/>
          </p:cNvSpPr>
          <p:nvPr>
            <p:ph idx="1"/>
          </p:nvPr>
        </p:nvSpPr>
        <p:spPr/>
        <p:txBody>
          <a:bodyPr>
            <a:noAutofit/>
          </a:bodyPr>
          <a:lstStyle/>
          <a:p>
            <a:pPr>
              <a:buFont typeface="Arial" charset="0"/>
              <a:buChar char="•"/>
            </a:pPr>
            <a:r>
              <a:rPr lang="en-GB" sz="2200" b="1" dirty="0" smtClean="0">
                <a:solidFill>
                  <a:schemeClr val="accent1"/>
                </a:solidFill>
              </a:rPr>
              <a:t>When?</a:t>
            </a:r>
            <a:r>
              <a:rPr lang="en-GB" sz="2200" b="1" dirty="0" smtClean="0"/>
              <a:t/>
            </a:r>
            <a:br>
              <a:rPr lang="en-GB" sz="2200" b="1" dirty="0" smtClean="0"/>
            </a:br>
            <a:r>
              <a:rPr lang="en-GB" sz="2200" dirty="0" smtClean="0"/>
              <a:t>Between 4 to 6 years (when consolidated in Portugal and at least one large market has been won, ex.: Mexico, Brazil, Thailand) &amp; growth rate is looking good</a:t>
            </a:r>
          </a:p>
          <a:p>
            <a:pPr>
              <a:buFont typeface="Arial" charset="0"/>
              <a:buChar char="•"/>
            </a:pPr>
            <a:r>
              <a:rPr lang="en-GB" sz="2200" b="1" dirty="0" smtClean="0">
                <a:solidFill>
                  <a:schemeClr val="accent1"/>
                </a:solidFill>
              </a:rPr>
              <a:t>How?</a:t>
            </a:r>
            <a:r>
              <a:rPr lang="en-GB" sz="2200" b="1" dirty="0" smtClean="0"/>
              <a:t/>
            </a:r>
            <a:br>
              <a:rPr lang="en-GB" sz="2200" b="1" dirty="0" smtClean="0"/>
            </a:br>
            <a:r>
              <a:rPr lang="en-GB" sz="2200" dirty="0" smtClean="0"/>
              <a:t>More likely by Acquisition (or eventually M&amp;A) than IPO</a:t>
            </a:r>
          </a:p>
          <a:p>
            <a:pPr>
              <a:buFont typeface="Arial" charset="0"/>
              <a:buChar char="•"/>
            </a:pPr>
            <a:r>
              <a:rPr lang="en-GB" sz="2200" b="1" dirty="0" smtClean="0">
                <a:solidFill>
                  <a:schemeClr val="accent1"/>
                </a:solidFill>
              </a:rPr>
              <a:t>For how much?</a:t>
            </a:r>
            <a:r>
              <a:rPr lang="en-GB" sz="2200" b="1" dirty="0" smtClean="0"/>
              <a:t/>
            </a:r>
            <a:br>
              <a:rPr lang="en-GB" sz="2200" b="1" dirty="0" smtClean="0"/>
            </a:br>
            <a:r>
              <a:rPr lang="en-GB" sz="2200" dirty="0" smtClean="0"/>
              <a:t>6M€ is a minimum according to projections</a:t>
            </a:r>
            <a:endParaRPr lang="en-GB" sz="2200" dirty="0"/>
          </a:p>
        </p:txBody>
      </p:sp>
    </p:spTree>
    <p:extLst>
      <p:ext uri="{BB962C8B-B14F-4D97-AF65-F5344CB8AC3E}">
        <p14:creationId xmlns:p14="http://schemas.microsoft.com/office/powerpoint/2010/main" val="11377519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7323" y="1223085"/>
            <a:ext cx="8154677" cy="4635713"/>
          </a:xfrm>
          <a:prstGeom prst="rect">
            <a:avLst/>
          </a:prstGeom>
        </p:spPr>
      </p:pic>
      <p:sp>
        <p:nvSpPr>
          <p:cNvPr id="2" name="Title 1"/>
          <p:cNvSpPr>
            <a:spLocks noGrp="1"/>
          </p:cNvSpPr>
          <p:nvPr>
            <p:ph type="title"/>
          </p:nvPr>
        </p:nvSpPr>
        <p:spPr>
          <a:xfrm>
            <a:off x="810000" y="473692"/>
            <a:ext cx="10571998" cy="970450"/>
          </a:xfrm>
          <a:effectLst/>
        </p:spPr>
        <p:txBody>
          <a:bodyPr/>
          <a:lstStyle/>
          <a:p>
            <a:r>
              <a:rPr lang="en-GB" dirty="0" smtClean="0">
                <a:solidFill>
                  <a:schemeClr val="bg1"/>
                </a:solidFill>
              </a:rPr>
              <a:t>Contact</a:t>
            </a:r>
            <a:endParaRPr lang="en-GB" dirty="0">
              <a:solidFill>
                <a:schemeClr val="bg1"/>
              </a:solidFill>
            </a:endParaRPr>
          </a:p>
        </p:txBody>
      </p:sp>
      <p:sp>
        <p:nvSpPr>
          <p:cNvPr id="3" name="Content Placeholder 2"/>
          <p:cNvSpPr>
            <a:spLocks noGrp="1"/>
          </p:cNvSpPr>
          <p:nvPr>
            <p:ph idx="1"/>
          </p:nvPr>
        </p:nvSpPr>
        <p:spPr/>
        <p:txBody>
          <a:bodyPr>
            <a:normAutofit/>
          </a:bodyPr>
          <a:lstStyle/>
          <a:p>
            <a:pPr marL="0" indent="0">
              <a:buNone/>
            </a:pPr>
            <a:r>
              <a:rPr lang="pt-PT" sz="2400" dirty="0" smtClean="0">
                <a:solidFill>
                  <a:schemeClr val="bg1"/>
                </a:solidFill>
              </a:rPr>
              <a:t>Michaël MEMETEAU</a:t>
            </a:r>
          </a:p>
          <a:p>
            <a:pPr marL="0" indent="0">
              <a:buNone/>
            </a:pPr>
            <a:r>
              <a:rPr lang="en-US" sz="2400" dirty="0" smtClean="0">
                <a:solidFill>
                  <a:schemeClr val="bg1"/>
                </a:solidFill>
              </a:rPr>
              <a:t>mmemetea@gmail.pt</a:t>
            </a:r>
            <a:endParaRPr lang="en-US" sz="2400" dirty="0">
              <a:solidFill>
                <a:schemeClr val="bg1"/>
              </a:solidFill>
            </a:endParaRPr>
          </a:p>
          <a:p>
            <a:pPr marL="0" indent="0">
              <a:buNone/>
            </a:pPr>
            <a:r>
              <a:rPr lang="en-US" sz="2400" dirty="0">
                <a:solidFill>
                  <a:schemeClr val="bg1"/>
                </a:solidFill>
              </a:rPr>
              <a:t>+351 91 225 87 </a:t>
            </a:r>
            <a:r>
              <a:rPr lang="en-US" sz="2400" dirty="0" smtClean="0">
                <a:solidFill>
                  <a:schemeClr val="bg1"/>
                </a:solidFill>
              </a:rPr>
              <a:t>14</a:t>
            </a:r>
            <a:endParaRPr lang="en-GB" sz="2400" dirty="0" smtClean="0">
              <a:solidFill>
                <a:schemeClr val="bg1"/>
              </a:solidFill>
            </a:endParaRPr>
          </a:p>
          <a:p>
            <a:pPr marL="0" indent="0">
              <a:buNone/>
            </a:pPr>
            <a:r>
              <a:rPr lang="en-GB" sz="2400" dirty="0" smtClean="0">
                <a:solidFill>
                  <a:schemeClr val="bg1"/>
                </a:solidFill>
              </a:rPr>
              <a:t>+351 21 887 04 87</a:t>
            </a:r>
            <a:endParaRPr lang="en-US" sz="2400" dirty="0">
              <a:solidFill>
                <a:schemeClr val="bg1"/>
              </a:solidFill>
            </a:endParaRPr>
          </a:p>
        </p:txBody>
      </p:sp>
    </p:spTree>
    <p:extLst>
      <p:ext uri="{BB962C8B-B14F-4D97-AF65-F5344CB8AC3E}">
        <p14:creationId xmlns:p14="http://schemas.microsoft.com/office/powerpoint/2010/main" val="8782742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810000" y="447187"/>
            <a:ext cx="10571998" cy="5971541"/>
          </a:xfrm>
          <a:effectLst/>
        </p:spPr>
        <p:txBody>
          <a:bodyPr anchor="ctr"/>
          <a:lstStyle/>
          <a:p>
            <a:pPr algn="ctr"/>
            <a:r>
              <a:rPr lang="en-GB" dirty="0" smtClean="0">
                <a:solidFill>
                  <a:schemeClr val="bg1"/>
                </a:solidFill>
              </a:rPr>
              <a:t>Additional Support Material</a:t>
            </a:r>
            <a:endParaRPr lang="en-GB" dirty="0">
              <a:solidFill>
                <a:schemeClr val="bg1"/>
              </a:solidFill>
            </a:endParaRPr>
          </a:p>
        </p:txBody>
      </p:sp>
    </p:spTree>
    <p:extLst>
      <p:ext uri="{BB962C8B-B14F-4D97-AF65-F5344CB8AC3E}">
        <p14:creationId xmlns:p14="http://schemas.microsoft.com/office/powerpoint/2010/main" val="14700861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130" y="542470"/>
            <a:ext cx="11138570" cy="5535118"/>
          </a:xfrm>
          <a:prstGeom prst="rect">
            <a:avLst/>
          </a:prstGeom>
        </p:spPr>
      </p:pic>
    </p:spTree>
    <p:extLst>
      <p:ext uri="{BB962C8B-B14F-4D97-AF65-F5344CB8AC3E}">
        <p14:creationId xmlns:p14="http://schemas.microsoft.com/office/powerpoint/2010/main" val="6372094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Europe</a:t>
            </a:r>
            <a:br>
              <a:rPr lang="en-GB" dirty="0" smtClean="0"/>
            </a:br>
            <a:r>
              <a:rPr lang="en-GB" dirty="0" smtClean="0"/>
              <a:t>Market</a:t>
            </a:r>
            <a:endParaRPr lang="en-GB" dirty="0"/>
          </a:p>
        </p:txBody>
      </p:sp>
      <p:pic>
        <p:nvPicPr>
          <p:cNvPr id="4" name="Content Placeholder 3"/>
          <p:cNvPicPr>
            <a:picLocks noGrp="1" noChangeAspect="1"/>
          </p:cNvPicPr>
          <p:nvPr>
            <p:ph idx="1"/>
          </p:nvPr>
        </p:nvPicPr>
        <p:blipFill>
          <a:blip r:embed="rId3"/>
          <a:stretch>
            <a:fillRect/>
          </a:stretch>
        </p:blipFill>
        <p:spPr>
          <a:xfrm>
            <a:off x="3192250" y="552196"/>
            <a:ext cx="8458363" cy="559257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930" y="1703294"/>
            <a:ext cx="3933138" cy="2657288"/>
          </a:xfrm>
          <a:prstGeom prst="rect">
            <a:avLst/>
          </a:prstGeom>
        </p:spPr>
      </p:pic>
    </p:spTree>
    <p:extLst>
      <p:ext uri="{BB962C8B-B14F-4D97-AF65-F5344CB8AC3E}">
        <p14:creationId xmlns:p14="http://schemas.microsoft.com/office/powerpoint/2010/main" val="20554322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GB" dirty="0" smtClean="0"/>
              <a:t>LPG Cost</a:t>
            </a:r>
            <a:br>
              <a:rPr lang="en-GB" dirty="0" smtClean="0"/>
            </a:br>
            <a:r>
              <a:rPr lang="en-GB" dirty="0" smtClean="0">
                <a:solidFill>
                  <a:srgbClr val="57CABF"/>
                </a:solidFill>
              </a:rPr>
              <a:t>structure</a:t>
            </a:r>
            <a:endParaRPr lang="en-GB" dirty="0">
              <a:solidFill>
                <a:srgbClr val="57CABF"/>
              </a:solidFill>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10795" y="0"/>
            <a:ext cx="7581206" cy="6858000"/>
          </a:xfrm>
        </p:spPr>
      </p:pic>
    </p:spTree>
    <p:extLst>
      <p:ext uri="{BB962C8B-B14F-4D97-AF65-F5344CB8AC3E}">
        <p14:creationId xmlns:p14="http://schemas.microsoft.com/office/powerpoint/2010/main" val="8668559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57CABF"/>
                </a:solidFill>
              </a:rPr>
              <a:t>Margins</a:t>
            </a:r>
            <a:r>
              <a:rPr lang="en-GB" dirty="0" smtClean="0"/>
              <a:t> along the Value </a:t>
            </a:r>
            <a:r>
              <a:rPr lang="en-GB" dirty="0"/>
              <a:t>C</a:t>
            </a:r>
            <a:r>
              <a:rPr lang="en-GB" dirty="0" smtClean="0"/>
              <a:t>hain</a:t>
            </a:r>
            <a:endParaRPr lang="en-GB" dirty="0"/>
          </a:p>
        </p:txBody>
      </p:sp>
      <p:pic>
        <p:nvPicPr>
          <p:cNvPr id="4" name="Content Placeholder 3"/>
          <p:cNvPicPr>
            <a:picLocks noGrp="1" noChangeAspect="1"/>
          </p:cNvPicPr>
          <p:nvPr>
            <p:ph idx="1"/>
          </p:nvPr>
        </p:nvPicPr>
        <p:blipFill>
          <a:blip r:embed="rId3"/>
          <a:stretch>
            <a:fillRect/>
          </a:stretch>
        </p:blipFill>
        <p:spPr>
          <a:xfrm>
            <a:off x="810000" y="2126314"/>
            <a:ext cx="4244260" cy="3636963"/>
          </a:xfrm>
          <a:prstGeom prst="rect">
            <a:avLst/>
          </a:prstGeom>
        </p:spPr>
      </p:pic>
      <p:sp>
        <p:nvSpPr>
          <p:cNvPr id="5" name="Rounded Rectangle 4"/>
          <p:cNvSpPr/>
          <p:nvPr/>
        </p:nvSpPr>
        <p:spPr>
          <a:xfrm>
            <a:off x="1474706" y="4987291"/>
            <a:ext cx="951470" cy="605481"/>
          </a:xfrm>
          <a:prstGeom prst="round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aphicFrame>
        <p:nvGraphicFramePr>
          <p:cNvPr id="6" name="Chart 5"/>
          <p:cNvGraphicFramePr/>
          <p:nvPr>
            <p:extLst>
              <p:ext uri="{D42A27DB-BD31-4B8C-83A1-F6EECF244321}">
                <p14:modId xmlns:p14="http://schemas.microsoft.com/office/powerpoint/2010/main" val="1052125753"/>
              </p:ext>
            </p:extLst>
          </p:nvPr>
        </p:nvGraphicFramePr>
        <p:xfrm>
          <a:off x="5748868" y="2126314"/>
          <a:ext cx="5898489" cy="3636962"/>
        </p:xfrm>
        <a:graphic>
          <a:graphicData uri="http://schemas.openxmlformats.org/drawingml/2006/chart">
            <c:chart xmlns:c="http://schemas.openxmlformats.org/drawingml/2006/chart" xmlns:r="http://schemas.openxmlformats.org/officeDocument/2006/relationships" r:id="rId4"/>
          </a:graphicData>
        </a:graphic>
      </p:graphicFrame>
      <p:sp>
        <p:nvSpPr>
          <p:cNvPr id="3" name="Rectangle 2"/>
          <p:cNvSpPr/>
          <p:nvPr/>
        </p:nvSpPr>
        <p:spPr>
          <a:xfrm>
            <a:off x="124917" y="6475789"/>
            <a:ext cx="10967803" cy="276999"/>
          </a:xfrm>
          <a:prstGeom prst="rect">
            <a:avLst/>
          </a:prstGeom>
        </p:spPr>
        <p:txBody>
          <a:bodyPr wrap="square">
            <a:spAutoFit/>
          </a:bodyPr>
          <a:lstStyle/>
          <a:p>
            <a:r>
              <a:rPr lang="en-GB" sz="1200" b="1" dirty="0">
                <a:solidFill>
                  <a:srgbClr val="57CABF"/>
                </a:solidFill>
                <a:latin typeface="Raleway" charset="0"/>
                <a:ea typeface="Raleway" charset="0"/>
                <a:cs typeface="Raleway" charset="0"/>
              </a:rPr>
              <a:t>Source</a:t>
            </a:r>
            <a:r>
              <a:rPr lang="en-GB" sz="1200" dirty="0">
                <a:solidFill>
                  <a:srgbClr val="57CABF"/>
                </a:solidFill>
                <a:latin typeface="Raleway" charset="0"/>
                <a:ea typeface="Raleway" charset="0"/>
                <a:cs typeface="Raleway" charset="0"/>
              </a:rPr>
              <a:t>:</a:t>
            </a:r>
            <a:r>
              <a:rPr lang="en-GB" sz="1200" dirty="0">
                <a:latin typeface="Raleway" charset="0"/>
                <a:ea typeface="Raleway" charset="0"/>
                <a:cs typeface="Raleway" charset="0"/>
              </a:rPr>
              <a:t> Detailed analysis of the liquid fuel and bottled gas sectors in Portugal (2007-2009) - Final Report - </a:t>
            </a:r>
            <a:r>
              <a:rPr lang="pt-PT" sz="1200" dirty="0" smtClean="0">
                <a:latin typeface="Raleway" charset="0"/>
                <a:ea typeface="Raleway" charset="0"/>
                <a:cs typeface="Raleway" charset="0"/>
              </a:rPr>
              <a:t>Autoridade da Concorrência</a:t>
            </a:r>
            <a:endParaRPr lang="pt-PT" sz="1200" dirty="0">
              <a:latin typeface="Raleway" charset="0"/>
              <a:ea typeface="Raleway" charset="0"/>
              <a:cs typeface="Raleway" charset="0"/>
            </a:endParaRPr>
          </a:p>
        </p:txBody>
      </p:sp>
      <p:sp>
        <p:nvSpPr>
          <p:cNvPr id="7" name="Rectangle 6"/>
          <p:cNvSpPr/>
          <p:nvPr/>
        </p:nvSpPr>
        <p:spPr>
          <a:xfrm>
            <a:off x="7949381" y="2241758"/>
            <a:ext cx="1460090" cy="3392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379613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8071945" y="0"/>
            <a:ext cx="412005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483828" y="5649810"/>
            <a:ext cx="9259262" cy="970450"/>
          </a:xfrm>
          <a:effectLst>
            <a:outerShdw blurRad="50800" dist="76200" dir="2700000" algn="tl" rotWithShape="0">
              <a:prstClr val="black">
                <a:alpha val="40000"/>
              </a:prstClr>
            </a:outerShdw>
          </a:effectLst>
        </p:spPr>
        <p:txBody>
          <a:bodyPr/>
          <a:lstStyle/>
          <a:p>
            <a:r>
              <a:rPr lang="en-GB" smtClean="0">
                <a:solidFill>
                  <a:srgbClr val="57CABF"/>
                </a:solidFill>
              </a:rPr>
              <a:t>App &amp; Front-end </a:t>
            </a:r>
            <a:r>
              <a:rPr lang="en-GB" smtClean="0"/>
              <a:t>for Distributors (*</a:t>
            </a:r>
            <a:r>
              <a:rPr lang="is-IS" smtClean="0"/>
              <a:t>)</a:t>
            </a:r>
            <a:endParaRPr lang="en-GB"/>
          </a:p>
        </p:txBody>
      </p:sp>
      <p:sp>
        <p:nvSpPr>
          <p:cNvPr id="10" name="Content Placeholder 2"/>
          <p:cNvSpPr>
            <a:spLocks noGrp="1"/>
          </p:cNvSpPr>
          <p:nvPr>
            <p:ph idx="1"/>
          </p:nvPr>
        </p:nvSpPr>
        <p:spPr>
          <a:xfrm>
            <a:off x="8387253" y="0"/>
            <a:ext cx="3804746" cy="6857999"/>
          </a:xfrm>
        </p:spPr>
        <p:txBody>
          <a:bodyPr>
            <a:normAutofit/>
          </a:bodyPr>
          <a:lstStyle/>
          <a:p>
            <a:pPr>
              <a:spcBef>
                <a:spcPts val="0"/>
              </a:spcBef>
              <a:spcAft>
                <a:spcPts val="3600"/>
              </a:spcAft>
            </a:pPr>
            <a:r>
              <a:rPr lang="en-US" sz="2000" smtClean="0"/>
              <a:t>Dynamic deliveries </a:t>
            </a:r>
            <a:r>
              <a:rPr lang="en-US" sz="2000" smtClean="0">
                <a:solidFill>
                  <a:srgbClr val="57CABF"/>
                </a:solidFill>
              </a:rPr>
              <a:t>optimization</a:t>
            </a:r>
            <a:endParaRPr lang="en-US" sz="2000" smtClean="0"/>
          </a:p>
          <a:p>
            <a:pPr>
              <a:spcBef>
                <a:spcPts val="0"/>
              </a:spcBef>
              <a:spcAft>
                <a:spcPts val="3600"/>
              </a:spcAft>
            </a:pPr>
            <a:r>
              <a:rPr lang="en-US" sz="2000" smtClean="0"/>
              <a:t>Distributor </a:t>
            </a:r>
            <a:r>
              <a:rPr lang="en-US" sz="2000" b="1" smtClean="0">
                <a:solidFill>
                  <a:srgbClr val="57CABF"/>
                </a:solidFill>
              </a:rPr>
              <a:t>scorecard</a:t>
            </a:r>
            <a:endParaRPr lang="en-US" sz="2000" smtClean="0"/>
          </a:p>
          <a:p>
            <a:pPr>
              <a:spcBef>
                <a:spcPts val="0"/>
              </a:spcBef>
              <a:spcAft>
                <a:spcPts val="3600"/>
              </a:spcAft>
            </a:pPr>
            <a:r>
              <a:rPr lang="en-US" sz="2000" smtClean="0"/>
              <a:t>Easy </a:t>
            </a:r>
            <a:r>
              <a:rPr lang="en-US" sz="2000" smtClean="0">
                <a:solidFill>
                  <a:srgbClr val="57CABF"/>
                </a:solidFill>
              </a:rPr>
              <a:t>satisfaction</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29" y="555527"/>
            <a:ext cx="7333396" cy="4583373"/>
          </a:xfrm>
          <a:prstGeom prst="rect">
            <a:avLst/>
          </a:prstGeom>
        </p:spPr>
      </p:pic>
    </p:spTree>
    <p:extLst>
      <p:ext uri="{BB962C8B-B14F-4D97-AF65-F5344CB8AC3E}">
        <p14:creationId xmlns:p14="http://schemas.microsoft.com/office/powerpoint/2010/main" val="262234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Century Gothic-Palatino Lino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Quotable</Template>
  <TotalTime>19181</TotalTime>
  <Words>2227</Words>
  <Application>Microsoft Macintosh PowerPoint</Application>
  <PresentationFormat>Widescreen</PresentationFormat>
  <Paragraphs>352</Paragraphs>
  <Slides>28</Slides>
  <Notes>28</Notes>
  <HiddenSlides>4</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Arial</vt:lpstr>
      <vt:lpstr>Calibri</vt:lpstr>
      <vt:lpstr>Comfortaa</vt:lpstr>
      <vt:lpstr>Comfortaa Thin</vt:lpstr>
      <vt:lpstr>Mangal</vt:lpstr>
      <vt:lpstr>Palatino Linotype</vt:lpstr>
      <vt:lpstr>raleway</vt:lpstr>
      <vt:lpstr>raleway</vt:lpstr>
      <vt:lpstr>Raleway Light</vt:lpstr>
      <vt:lpstr>Wingdings 2</vt:lpstr>
      <vt:lpstr>Quotable</vt:lpstr>
      <vt:lpstr>NESTO Gas Digitalization of the bottled LPG value chain</vt:lpstr>
      <vt:lpstr>Can you tell the difference?</vt:lpstr>
      <vt:lpstr>Neither does she… Cold shower syndrome</vt:lpstr>
      <vt:lpstr>LPG companies want you to think they are like this …</vt:lpstr>
      <vt:lpstr>What they really are like</vt:lpstr>
      <vt:lpstr>Never run out of gas ever again…</vt:lpstr>
      <vt:lpstr>App for End-Consumers   </vt:lpstr>
      <vt:lpstr>Added Value Everywhere</vt:lpstr>
      <vt:lpstr>Business model</vt:lpstr>
      <vt:lpstr>World – 266 B€</vt:lpstr>
      <vt:lpstr>Some Figures for Portugal</vt:lpstr>
      <vt:lpstr>PowerPoint Presentation</vt:lpstr>
      <vt:lpstr>Differentiator</vt:lpstr>
      <vt:lpstr>Go to Market Strategy</vt:lpstr>
      <vt:lpstr>The secret sauce</vt:lpstr>
      <vt:lpstr>Traction</vt:lpstr>
      <vt:lpstr>SCTN / Industry Partner</vt:lpstr>
      <vt:lpstr>Team</vt:lpstr>
      <vt:lpstr>Next steps</vt:lpstr>
      <vt:lpstr>Investment</vt:lpstr>
      <vt:lpstr>Exit strategy</vt:lpstr>
      <vt:lpstr>Contact</vt:lpstr>
      <vt:lpstr>Additional Support Material</vt:lpstr>
      <vt:lpstr>PowerPoint Presentation</vt:lpstr>
      <vt:lpstr>Europe Market</vt:lpstr>
      <vt:lpstr>LPG Cost structure</vt:lpstr>
      <vt:lpstr>Margins along the Value Chain</vt:lpstr>
      <vt:lpstr>App &amp; Front-end for Distributors (*)</vt:lpstr>
    </vt:vector>
  </TitlesOfParts>
  <Company/>
  <LinksUpToDate>false</LinksUpToDate>
  <SharedDoc>false</SharedDoc>
  <HyperlinksChanged>false</HyperlinksChanged>
  <AppVersion>15.0030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Connected Keg</dc:title>
  <dc:creator>Michaël Memeteau</dc:creator>
  <cp:lastModifiedBy>Microsoft Office User</cp:lastModifiedBy>
  <cp:revision>356</cp:revision>
  <cp:lastPrinted>2016-09-26T16:30:23Z</cp:lastPrinted>
  <dcterms:created xsi:type="dcterms:W3CDTF">2016-04-21T22:09:15Z</dcterms:created>
  <dcterms:modified xsi:type="dcterms:W3CDTF">2017-01-13T17:22:40Z</dcterms:modified>
</cp:coreProperties>
</file>