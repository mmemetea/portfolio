
<file path=[Content_Types].xml><?xml version="1.0" encoding="utf-8"?>
<Types xmlns="http://schemas.openxmlformats.org/package/2006/content-types">
  <Default Extension="xml" ContentType="application/xml"/>
  <Default Extension="jpeg" ContentType="image/jpeg"/>
  <Default Extension="jpg" ContentType="image/jpeg"/>
  <Default Extension="emf" ContentType="image/x-emf"/>
  <Default Extension="xlsx" ContentType="application/vnd.openxmlformats-officedocument.spreadsheetml.sheet"/>
  <Default Extension="tiff" ContentType="image/tiff"/>
  <Default Extension="rels" ContentType="application/vnd.openxmlformats-package.relationships+xml"/>
  <Default Extension="png" ContentType="image/pn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charts/chart1.xml" ContentType="application/vnd.openxmlformats-officedocument.drawingml.chart+xml"/>
  <Override PartName="/ppt/charts/style1.xml" ContentType="application/vnd.ms-office.chartstyle+xml"/>
  <Override PartName="/ppt/charts/colors1.xml" ContentType="application/vnd.ms-office.chartcolorstyle+xml"/>
  <Override PartName="/ppt/charts/chart2.xml" ContentType="application/vnd.openxmlformats-officedocument.drawingml.chart+xml"/>
  <Override PartName="/ppt/charts/style2.xml" ContentType="application/vnd.ms-office.chartstyle+xml"/>
  <Override PartName="/ppt/charts/colors2.xml" ContentType="application/vnd.ms-office.chartcolorstyl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8"/>
  </p:notesMasterIdLst>
  <p:sldIdLst>
    <p:sldId id="256" r:id="rId2"/>
    <p:sldId id="325" r:id="rId3"/>
    <p:sldId id="322" r:id="rId4"/>
    <p:sldId id="329" r:id="rId5"/>
    <p:sldId id="330" r:id="rId6"/>
    <p:sldId id="305" r:id="rId7"/>
    <p:sldId id="278" r:id="rId8"/>
    <p:sldId id="343" r:id="rId9"/>
    <p:sldId id="283" r:id="rId10"/>
    <p:sldId id="266" r:id="rId11"/>
    <p:sldId id="334" r:id="rId12"/>
    <p:sldId id="339" r:id="rId13"/>
    <p:sldId id="332" r:id="rId14"/>
    <p:sldId id="344" r:id="rId15"/>
    <p:sldId id="323" r:id="rId16"/>
    <p:sldId id="274" r:id="rId17"/>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Microsoft Office User" initials="MMU" lastIdx="1" clrIdx="0">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loop="1" useTimings="0">
    <p:kiosk/>
    <p:sldAll/>
    <p:penClr>
      <a:prstClr val="red"/>
    </p:penClr>
    <p:extLst>
      <p:ext uri="{EC167BDD-8182-4AB7-AECC-EB403E3ABB37}">
        <p14:laserClr xmlns:p14="http://schemas.microsoft.com/office/powerpoint/2010/main">
          <a:srgbClr val="000000"/>
        </p14:laserClr>
      </p:ext>
      <p:ext uri="{2FDB2607-1784-4EEB-B798-7EB5836EED8A}">
        <p14:showMediaCtrls xmlns:p14="http://schemas.microsoft.com/office/powerpoint/2010/main" val="0"/>
      </p:ext>
    </p:extLst>
  </p:showPr>
  <p:clrMru>
    <a:srgbClr val="4199AB"/>
    <a:srgbClr val="544233"/>
    <a:srgbClr val="4B382A"/>
    <a:srgbClr val="57CABF"/>
    <a:srgbClr val="3F3E44"/>
    <a:srgbClr val="FF7D01"/>
    <a:srgbClr val="CF1C00"/>
    <a:srgbClr val="54C0E6"/>
    <a:srgbClr val="CCEBE7"/>
    <a:srgbClr val="7A81FF"/>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 styleId="{B301B821-A1FF-4177-AEE7-76D212191A09}" styleName="Medium Style 1 - Accent 1">
    <a:wholeTbl>
      <a:tcTxStyle>
        <a:fontRef idx="minor">
          <a:scrgbClr r="0" g="0" b="0"/>
        </a:fontRef>
        <a:schemeClr val="dk1"/>
      </a:tcTxStyle>
      <a:tcStyle>
        <a:tcBdr>
          <a:left>
            <a:ln w="12700" cmpd="sng">
              <a:solidFill>
                <a:schemeClr val="accent1"/>
              </a:solidFill>
            </a:ln>
          </a:left>
          <a:right>
            <a:ln w="12700" cmpd="sng">
              <a:solidFill>
                <a:schemeClr val="accent1"/>
              </a:solidFill>
            </a:ln>
          </a:right>
          <a:top>
            <a:ln w="12700" cmpd="sng">
              <a:solidFill>
                <a:schemeClr val="accent1"/>
              </a:solidFill>
            </a:ln>
          </a:top>
          <a:bottom>
            <a:ln w="12700" cmpd="sng">
              <a:solidFill>
                <a:schemeClr val="accent1"/>
              </a:solidFill>
            </a:ln>
          </a:bottom>
          <a:insideH>
            <a:ln w="12700" cmpd="sng">
              <a:solidFill>
                <a:schemeClr val="accent1"/>
              </a:solidFill>
            </a:ln>
          </a:insideH>
          <a:insideV>
            <a:ln>
              <a:noFill/>
            </a:ln>
          </a:insideV>
        </a:tcBdr>
        <a:fill>
          <a:solidFill>
            <a:schemeClr val="lt1"/>
          </a:solidFill>
        </a:fill>
      </a:tcStyle>
    </a:wholeTbl>
    <a:band1H>
      <a:tcStyle>
        <a:tcBdr/>
        <a:fill>
          <a:solidFill>
            <a:schemeClr val="accent1">
              <a:tint val="20000"/>
            </a:schemeClr>
          </a:solidFill>
        </a:fill>
      </a:tcStyle>
    </a:band1H>
    <a:band1V>
      <a:tcStyle>
        <a:tcBdr/>
        <a:fill>
          <a:solidFill>
            <a:schemeClr val="accent1">
              <a:tint val="20000"/>
            </a:schemeClr>
          </a:solidFill>
        </a:fill>
      </a:tcStyle>
    </a:band1V>
    <a:lastCol>
      <a:tcTxStyle b="on"/>
      <a:tcStyle>
        <a:tcBdr/>
      </a:tcStyle>
    </a:lastCol>
    <a:firstCol>
      <a:tcTxStyle b="on"/>
      <a:tcStyle>
        <a:tcBdr/>
      </a:tcStyle>
    </a:firstCol>
    <a:lastRow>
      <a:tcTxStyle b="on"/>
      <a:tcStyle>
        <a:tcBdr>
          <a:top>
            <a:ln w="50800" cmpd="dbl">
              <a:solidFill>
                <a:schemeClr val="accent1"/>
              </a:solidFill>
            </a:ln>
          </a:top>
        </a:tcBdr>
        <a:fill>
          <a:solidFill>
            <a:schemeClr val="lt1"/>
          </a:solidFill>
        </a:fill>
      </a:tcStyle>
    </a:lastRow>
    <a:firstRow>
      <a:tcTxStyle b="on">
        <a:fontRef idx="minor">
          <a:scrgbClr r="0" g="0" b="0"/>
        </a:fontRef>
        <a:schemeClr val="lt1"/>
      </a:tcTxStyle>
      <a:tcStyle>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7805"/>
    <p:restoredTop sz="78177"/>
  </p:normalViewPr>
  <p:slideViewPr>
    <p:cSldViewPr snapToGrid="0" snapToObjects="1">
      <p:cViewPr varScale="1">
        <p:scale>
          <a:sx n="97" d="100"/>
          <a:sy n="97" d="100"/>
        </p:scale>
        <p:origin x="1032" y="192"/>
      </p:cViewPr>
      <p:guideLst/>
    </p:cSldViewPr>
  </p:slideViewPr>
  <p:outlineViewPr>
    <p:cViewPr>
      <p:scale>
        <a:sx n="33" d="100"/>
        <a:sy n="33" d="100"/>
      </p:scale>
      <p:origin x="0" y="-10616"/>
    </p:cViewPr>
  </p:outlineViewPr>
  <p:notesTextViewPr>
    <p:cViewPr>
      <p:scale>
        <a:sx n="1" d="1"/>
        <a:sy n="1" d="1"/>
      </p:scale>
      <p:origin x="0" y="0"/>
    </p:cViewPr>
  </p:notesTextViewPr>
  <p:sorterViewPr>
    <p:cViewPr>
      <p:scale>
        <a:sx n="80" d="100"/>
        <a:sy n="80" d="100"/>
      </p:scale>
      <p:origin x="0" y="0"/>
    </p:cViewPr>
  </p:sorterViewPr>
  <p:notesViewPr>
    <p:cSldViewPr snapToGrid="0" snapToObjects="1">
      <p:cViewPr varScale="1">
        <p:scale>
          <a:sx n="95" d="100"/>
          <a:sy n="95" d="100"/>
        </p:scale>
        <p:origin x="3720" y="19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8.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notesMaster" Target="notesMasters/notesMaster1.xml"/><Relationship Id="rId19" Type="http://schemas.openxmlformats.org/officeDocument/2006/relationships/commentAuthors" Target="commentAuthors.xml"/><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s>
</file>

<file path=ppt/charts/_rels/chart1.xml.rels><?xml version="1.0" encoding="UTF-8" standalone="yes"?>
<Relationships xmlns="http://schemas.openxmlformats.org/package/2006/relationships"><Relationship Id="rId1" Type="http://schemas.microsoft.com/office/2011/relationships/chartStyle" Target="style1.xml"/><Relationship Id="rId2" Type="http://schemas.microsoft.com/office/2011/relationships/chartColorStyle" Target="colors1.xml"/><Relationship Id="rId3" Type="http://schemas.openxmlformats.org/officeDocument/2006/relationships/package" Target="../embeddings/Microsoft_Excel_Worksheet1.xlsx"/></Relationships>
</file>

<file path=ppt/charts/_rels/chart2.xml.rels><?xml version="1.0" encoding="UTF-8" standalone="yes"?>
<Relationships xmlns="http://schemas.openxmlformats.org/package/2006/relationships"><Relationship Id="rId1" Type="http://schemas.microsoft.com/office/2011/relationships/chartStyle" Target="style2.xml"/><Relationship Id="rId2" Type="http://schemas.microsoft.com/office/2011/relationships/chartColorStyle" Target="colors2.xml"/><Relationship Id="rId3"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pieChart>
        <c:varyColors val="1"/>
        <c:ser>
          <c:idx val="0"/>
          <c:order val="0"/>
          <c:tx>
            <c:strRef>
              <c:f>Sheet1!$B$1</c:f>
              <c:strCache>
                <c:ptCount val="1"/>
                <c:pt idx="0">
                  <c:v>Sales</c:v>
                </c:pt>
              </c:strCache>
            </c:strRef>
          </c:tx>
          <c:explosion val="2"/>
          <c:dPt>
            <c:idx val="0"/>
            <c:bubble3D val="0"/>
            <c:explosion val="0"/>
            <c:spPr>
              <a:solidFill>
                <a:schemeClr val="accent1"/>
              </a:solidFill>
              <a:ln>
                <a:noFill/>
              </a:ln>
              <a:effectLst>
                <a:outerShdw blurRad="254000" sx="102000" sy="102000" algn="ctr" rotWithShape="0">
                  <a:prstClr val="black">
                    <a:alpha val="20000"/>
                  </a:prstClr>
                </a:outerShdw>
              </a:effectLst>
            </c:spPr>
          </c:dPt>
          <c:dPt>
            <c:idx val="1"/>
            <c:bubble3D val="0"/>
            <c:explosion val="0"/>
            <c:spPr>
              <a:solidFill>
                <a:schemeClr val="accent2"/>
              </a:solidFill>
              <a:ln>
                <a:noFill/>
              </a:ln>
              <a:effectLst>
                <a:outerShdw blurRad="254000" sx="102000" sy="102000" algn="ctr" rotWithShape="0">
                  <a:prstClr val="black">
                    <a:alpha val="20000"/>
                  </a:prstClr>
                </a:outerShdw>
              </a:effectLst>
            </c:spPr>
          </c:dPt>
          <c:dPt>
            <c:idx val="2"/>
            <c:bubble3D val="0"/>
            <c:explosion val="0"/>
            <c:spPr>
              <a:solidFill>
                <a:schemeClr val="accent3"/>
              </a:solidFill>
              <a:ln>
                <a:noFill/>
              </a:ln>
              <a:effectLst>
                <a:outerShdw blurRad="254000" sx="102000" sy="102000" algn="ctr" rotWithShape="0">
                  <a:prstClr val="black">
                    <a:alpha val="20000"/>
                  </a:prstClr>
                </a:outerShdw>
              </a:effectLst>
            </c:spPr>
          </c:dPt>
          <c:dPt>
            <c:idx val="3"/>
            <c:bubble3D val="0"/>
            <c:explosion val="0"/>
            <c:spPr>
              <a:solidFill>
                <a:schemeClr val="accent4"/>
              </a:solidFill>
              <a:ln>
                <a:noFill/>
              </a:ln>
              <a:effectLst>
                <a:outerShdw blurRad="254000" sx="102000" sy="102000" algn="ctr" rotWithShape="0">
                  <a:prstClr val="black">
                    <a:alpha val="20000"/>
                  </a:prstClr>
                </a:outerShdw>
              </a:effectLst>
            </c:spPr>
          </c:dPt>
          <c:dPt>
            <c:idx val="4"/>
            <c:bubble3D val="0"/>
            <c:explosion val="0"/>
            <c:spPr>
              <a:solidFill>
                <a:schemeClr val="accent5"/>
              </a:solidFill>
              <a:ln>
                <a:noFill/>
              </a:ln>
              <a:effectLst>
                <a:outerShdw blurRad="254000" sx="102000" sy="102000" algn="ctr" rotWithShape="0">
                  <a:prstClr val="black">
                    <a:alpha val="20000"/>
                  </a:prstClr>
                </a:outerShdw>
              </a:effectLst>
            </c:spPr>
          </c:dPt>
          <c:dPt>
            <c:idx val="5"/>
            <c:bubble3D val="0"/>
            <c:explosion val="0"/>
            <c:spPr>
              <a:solidFill>
                <a:schemeClr val="accent6"/>
              </a:solidFill>
              <a:ln>
                <a:noFill/>
              </a:ln>
              <a:effectLst>
                <a:outerShdw blurRad="254000" sx="102000" sy="102000" algn="ctr" rotWithShape="0">
                  <a:prstClr val="black">
                    <a:alpha val="20000"/>
                  </a:prstClr>
                </a:outerShdw>
              </a:effectLst>
            </c:spPr>
          </c:dPt>
          <c:dLbls>
            <c:dLbl>
              <c:idx val="0"/>
              <c:layout>
                <c:manualLayout>
                  <c:x val="-0.0883095472440944"/>
                  <c:y val="-0.216184861217672"/>
                </c:manualLayout>
              </c:layout>
              <c:dLblPos val="bestFit"/>
              <c:showLegendKey val="0"/>
              <c:showVal val="0"/>
              <c:showCatName val="0"/>
              <c:showSerName val="0"/>
              <c:showPercent val="1"/>
              <c:showBubbleSize val="0"/>
              <c:extLst>
                <c:ext xmlns:c15="http://schemas.microsoft.com/office/drawing/2012/chart" uri="{CE6537A1-D6FC-4f65-9D91-7224C49458BB}">
                  <c15:layout/>
                </c:ext>
              </c:extLst>
            </c:dLbl>
            <c:dLbl>
              <c:idx val="1"/>
              <c:layout>
                <c:manualLayout>
                  <c:x val="0.239422244094488"/>
                  <c:y val="0.147118994853755"/>
                </c:manualLayout>
              </c:layout>
              <c:dLblPos val="bestFit"/>
              <c:showLegendKey val="0"/>
              <c:showVal val="0"/>
              <c:showCatName val="0"/>
              <c:showSerName val="0"/>
              <c:showPercent val="1"/>
              <c:showBubbleSize val="0"/>
              <c:extLst>
                <c:ext xmlns:c15="http://schemas.microsoft.com/office/drawing/2012/chart" uri="{CE6537A1-D6FC-4f65-9D91-7224C49458BB}">
                  <c15:layout/>
                </c:ext>
              </c:extLst>
            </c:dLbl>
            <c:dLbl>
              <c:idx val="2"/>
              <c:layout>
                <c:manualLayout>
                  <c:x val="-0.0120223097112861"/>
                  <c:y val="0.173165225091202"/>
                </c:manualLayout>
              </c:layout>
              <c:dLblPos val="bestFit"/>
              <c:showLegendKey val="0"/>
              <c:showVal val="0"/>
              <c:showCatName val="0"/>
              <c:showSerName val="0"/>
              <c:showPercent val="1"/>
              <c:showBubbleSize val="0"/>
              <c:extLst>
                <c:ext xmlns:c15="http://schemas.microsoft.com/office/drawing/2012/chart" uri="{CE6537A1-D6FC-4f65-9D91-7224C49458BB}">
                  <c15:layout/>
                </c:ext>
              </c:extLst>
            </c:dLbl>
            <c:numFmt formatCode="0.0%" sourceLinked="0"/>
            <c:spPr>
              <a:pattFill prst="pct75">
                <a:fgClr>
                  <a:schemeClr val="dk1">
                    <a:lumMod val="75000"/>
                    <a:lumOff val="25000"/>
                  </a:schemeClr>
                </a:fgClr>
                <a:bgClr>
                  <a:schemeClr val="dk1">
                    <a:lumMod val="65000"/>
                    <a:lumOff val="35000"/>
                  </a:schemeClr>
                </a:bgClr>
              </a:pattFill>
              <a:ln>
                <a:noFill/>
              </a:ln>
              <a:effectLst>
                <a:outerShdw blurRad="50800" dist="38100" dir="2700000" algn="tl" rotWithShape="0">
                  <a:prstClr val="black">
                    <a:alpha val="40000"/>
                  </a:prstClr>
                </a:outerShdw>
              </a:effectLst>
            </c:spPr>
            <c:txPr>
              <a:bodyPr rot="0" spcFirstLastPara="1" vertOverflow="ellipsis" vert="horz" wrap="square" lIns="38100" tIns="19050" rIns="38100" bIns="19050" anchor="ctr" anchorCtr="1">
                <a:spAutoFit/>
              </a:bodyPr>
              <a:lstStyle/>
              <a:p>
                <a:pPr>
                  <a:defRPr sz="1330" b="1" i="0" u="none" strike="noStrike" kern="1200" baseline="0">
                    <a:solidFill>
                      <a:schemeClr val="lt1"/>
                    </a:solidFill>
                    <a:latin typeface="Raleway" charset="0"/>
                    <a:ea typeface="Raleway" charset="0"/>
                    <a:cs typeface="Raleway" charset="0"/>
                  </a:defRPr>
                </a:pPr>
                <a:endParaRPr lang="en-US"/>
              </a:p>
            </c:txPr>
            <c:dLblPos val="ctr"/>
            <c:showLegendKey val="0"/>
            <c:showVal val="0"/>
            <c:showCatName val="0"/>
            <c:showSerName val="0"/>
            <c:showPercent val="1"/>
            <c:showBubbleSize val="0"/>
            <c:showLeaderLines val="1"/>
            <c:leaderLines>
              <c:spPr>
                <a:ln w="9525">
                  <a:solidFill>
                    <a:schemeClr val="dk1">
                      <a:lumMod val="50000"/>
                      <a:lumOff val="50000"/>
                    </a:schemeClr>
                  </a:solidFill>
                </a:ln>
                <a:effectLst/>
              </c:spPr>
            </c:leaderLines>
            <c:extLst>
              <c:ext xmlns:c15="http://schemas.microsoft.com/office/drawing/2012/chart" uri="{CE6537A1-D6FC-4f65-9D91-7224C49458BB}">
                <c15:layout/>
              </c:ext>
            </c:extLst>
          </c:dLbls>
          <c:cat>
            <c:strRef>
              <c:f>Sheet1!$A$2:$A$7</c:f>
              <c:strCache>
                <c:ptCount val="6"/>
                <c:pt idx="0">
                  <c:v>Galp</c:v>
                </c:pt>
                <c:pt idx="1">
                  <c:v>Rubis Gás</c:v>
                </c:pt>
                <c:pt idx="2">
                  <c:v>Repsol</c:v>
                </c:pt>
                <c:pt idx="3">
                  <c:v>OZ</c:v>
                </c:pt>
                <c:pt idx="4">
                  <c:v>Prio</c:v>
                </c:pt>
                <c:pt idx="5">
                  <c:v>Others</c:v>
                </c:pt>
              </c:strCache>
            </c:strRef>
          </c:cat>
          <c:val>
            <c:numRef>
              <c:f>Sheet1!$B$2:$B$7</c:f>
              <c:numCache>
                <c:formatCode>General</c:formatCode>
                <c:ptCount val="6"/>
                <c:pt idx="0">
                  <c:v>40.0</c:v>
                </c:pt>
                <c:pt idx="1">
                  <c:v>29.0</c:v>
                </c:pt>
                <c:pt idx="2">
                  <c:v>13.5</c:v>
                </c:pt>
                <c:pt idx="3">
                  <c:v>7.5</c:v>
                </c:pt>
                <c:pt idx="4">
                  <c:v>2.5</c:v>
                </c:pt>
                <c:pt idx="5">
                  <c:v>7.5</c:v>
                </c:pt>
              </c:numCache>
            </c:numRef>
          </c:val>
        </c:ser>
        <c:dLbls>
          <c:dLblPos val="ctr"/>
          <c:showLegendKey val="0"/>
          <c:showVal val="0"/>
          <c:showCatName val="0"/>
          <c:showSerName val="0"/>
          <c:showPercent val="1"/>
          <c:showBubbleSize val="0"/>
          <c:showLeaderLines val="1"/>
        </c:dLbls>
        <c:firstSliceAng val="89"/>
      </c:pieChart>
      <c:spPr>
        <a:noFill/>
        <a:ln>
          <a:noFill/>
        </a:ln>
        <a:effectLst/>
      </c:spPr>
    </c:plotArea>
    <c:plotVisOnly val="1"/>
    <c:dispBlanksAs val="gap"/>
    <c:showDLblsOverMax val="0"/>
  </c:chart>
  <c:spPr>
    <a:noFill/>
    <a:ln w="9525" cap="flat" cmpd="sng" algn="ctr">
      <a:noFill/>
      <a:round/>
    </a:ln>
    <a:effectLst/>
  </c:spPr>
  <c:txPr>
    <a:bodyPr/>
    <a:lstStyle/>
    <a:p>
      <a:pPr>
        <a:defRPr/>
      </a:pPr>
      <a:endParaRPr lang="en-US"/>
    </a:p>
  </c:txPr>
  <c:externalData r:id="rId3">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barChart>
        <c:barDir val="col"/>
        <c:grouping val="clustered"/>
        <c:varyColors val="0"/>
        <c:ser>
          <c:idx val="0"/>
          <c:order val="0"/>
          <c:tx>
            <c:strRef>
              <c:f>Sheet1!$B$1</c:f>
              <c:strCache>
                <c:ptCount val="1"/>
                <c:pt idx="0">
                  <c:v>2014</c:v>
                </c:pt>
              </c:strCache>
            </c:strRef>
          </c:tx>
          <c:spPr>
            <a:solidFill>
              <a:schemeClr val="accent1"/>
            </a:solidFill>
            <a:ln>
              <a:noFill/>
            </a:ln>
            <a:effectLst/>
          </c:spPr>
          <c:invertIfNegative val="0"/>
          <c:dLbls>
            <c:dLbl>
              <c:idx val="0"/>
              <c:delete val="1"/>
              <c:extLst>
                <c:ext xmlns:c15="http://schemas.microsoft.com/office/drawing/2012/chart" uri="{CE6537A1-D6FC-4f65-9D91-7224C49458BB}"/>
              </c:extLst>
            </c:dLbl>
            <c:dLbl>
              <c:idx val="1"/>
              <c:delete val="1"/>
              <c:extLst>
                <c:ext xmlns:c15="http://schemas.microsoft.com/office/drawing/2012/chart" uri="{CE6537A1-D6FC-4f65-9D91-7224C49458BB}"/>
              </c:extLst>
            </c:dLbl>
            <c:dLbl>
              <c:idx val="2"/>
              <c:delete val="1"/>
              <c:extLst>
                <c:ext xmlns:c15="http://schemas.microsoft.com/office/drawing/2012/chart" uri="{CE6537A1-D6FC-4f65-9D91-7224C49458BB}"/>
              </c:extLst>
            </c:dLbl>
            <c:dLbl>
              <c:idx val="3"/>
              <c:delete val="1"/>
              <c:extLst>
                <c:ext xmlns:c15="http://schemas.microsoft.com/office/drawing/2012/chart" uri="{CE6537A1-D6FC-4f65-9D91-7224C49458BB}"/>
              </c:extLst>
            </c:dLbl>
            <c:dLbl>
              <c:idx val="4"/>
              <c:delete val="1"/>
              <c:extLst>
                <c:ext xmlns:c15="http://schemas.microsoft.com/office/drawing/2012/chart" uri="{CE6537A1-D6FC-4f65-9D91-7224C49458BB}"/>
              </c:extLst>
            </c:dLbl>
            <c:dLbl>
              <c:idx val="5"/>
              <c:delete val="1"/>
              <c:extLst>
                <c:ext xmlns:c15="http://schemas.microsoft.com/office/drawing/2012/chart" uri="{CE6537A1-D6FC-4f65-9D91-7224C49458BB}"/>
              </c:extLst>
            </c:dLbl>
            <c:dLbl>
              <c:idx val="6"/>
              <c:delete val="1"/>
              <c:extLst>
                <c:ext xmlns:c15="http://schemas.microsoft.com/office/drawing/2012/chart" uri="{CE6537A1-D6FC-4f65-9D91-7224C49458BB}"/>
              </c:extLst>
            </c:dLbl>
            <c:dLbl>
              <c:idx val="7"/>
              <c:delete val="1"/>
              <c:extLst>
                <c:ext xmlns:c15="http://schemas.microsoft.com/office/drawing/2012/chart" uri="{CE6537A1-D6FC-4f65-9D91-7224C49458BB}"/>
              </c:extLst>
            </c:dLbl>
            <c:dLbl>
              <c:idx val="8"/>
              <c:delete val="1"/>
              <c:extLst>
                <c:ext xmlns:c15="http://schemas.microsoft.com/office/drawing/2012/chart" uri="{CE6537A1-D6FC-4f65-9D91-7224C49458BB}"/>
              </c:extLst>
            </c:dLbl>
            <c:dLbl>
              <c:idx val="9"/>
              <c:delete val="1"/>
              <c:extLst>
                <c:ext xmlns:c15="http://schemas.microsoft.com/office/drawing/2012/chart" uri="{CE6537A1-D6FC-4f65-9D91-7224C49458BB}"/>
              </c:extLst>
            </c:dLbl>
            <c:spPr>
              <a:noFill/>
              <a:ln>
                <a:noFill/>
              </a:ln>
              <a:effectLst/>
            </c:spPr>
            <c:txPr>
              <a:bodyPr rot="-5400000" spcFirstLastPara="1" vertOverflow="ellipsis" wrap="square" lIns="38100" tIns="19050" rIns="38100" bIns="19050" anchor="ctr" anchorCtr="1">
                <a:spAutoFit/>
              </a:bodyPr>
              <a:lstStyle/>
              <a:p>
                <a:pPr>
                  <a:defRPr sz="1197" b="0" i="0" u="none" strike="noStrike" kern="1200" baseline="0">
                    <a:solidFill>
                      <a:schemeClr val="tx1">
                        <a:lumMod val="75000"/>
                        <a:lumOff val="25000"/>
                      </a:schemeClr>
                    </a:solidFill>
                    <a:latin typeface="Raleway" charset="0"/>
                    <a:ea typeface="Raleway" charset="0"/>
                    <a:cs typeface="Raleway" charset="0"/>
                  </a:defRPr>
                </a:pPr>
                <a:endParaRPr lang="en-US"/>
              </a:p>
            </c:txPr>
            <c:showLegendKey val="0"/>
            <c:showVal val="1"/>
            <c:showCatName val="0"/>
            <c:showSerName val="0"/>
            <c:showPercent val="0"/>
            <c:showBubbleSize val="0"/>
            <c:showLeaderLines val="0"/>
            <c:extLst>
              <c:ext xmlns:c15="http://schemas.microsoft.com/office/drawing/2012/chart" uri="{CE6537A1-D6FC-4f65-9D91-7224C49458BB}">
                <c15:layout/>
                <c15:showLeaderLines val="1"/>
                <c15:leaderLines>
                  <c:spPr>
                    <a:ln w="9525" cap="flat" cmpd="sng" algn="ctr">
                      <a:solidFill>
                        <a:schemeClr val="tx1">
                          <a:lumMod val="35000"/>
                          <a:lumOff val="65000"/>
                        </a:schemeClr>
                      </a:solidFill>
                      <a:round/>
                    </a:ln>
                    <a:effectLst/>
                  </c:spPr>
                </c15:leaderLines>
              </c:ext>
            </c:extLst>
          </c:dLbls>
          <c:cat>
            <c:strRef>
              <c:f>Sheet1!$A$2:$A$12</c:f>
              <c:strCache>
                <c:ptCount val="11"/>
                <c:pt idx="0">
                  <c:v>United States</c:v>
                </c:pt>
                <c:pt idx="1">
                  <c:v>China</c:v>
                </c:pt>
                <c:pt idx="2">
                  <c:v>Saudi Arabia</c:v>
                </c:pt>
                <c:pt idx="3">
                  <c:v>Japan</c:v>
                </c:pt>
                <c:pt idx="4">
                  <c:v>India</c:v>
                </c:pt>
                <c:pt idx="5">
                  <c:v>Russia</c:v>
                </c:pt>
                <c:pt idx="6">
                  <c:v>México</c:v>
                </c:pt>
                <c:pt idx="7">
                  <c:v>South Korea</c:v>
                </c:pt>
                <c:pt idx="8">
                  <c:v>Brazil</c:v>
                </c:pt>
                <c:pt idx="9">
                  <c:v>Thailand</c:v>
                </c:pt>
                <c:pt idx="10">
                  <c:v>Portugal</c:v>
                </c:pt>
              </c:strCache>
            </c:strRef>
          </c:cat>
          <c:val>
            <c:numRef>
              <c:f>Sheet1!$B$2:$B$12</c:f>
              <c:numCache>
                <c:formatCode>General</c:formatCode>
                <c:ptCount val="11"/>
                <c:pt idx="0">
                  <c:v>56847.0</c:v>
                </c:pt>
                <c:pt idx="1">
                  <c:v>30282.0</c:v>
                </c:pt>
                <c:pt idx="2">
                  <c:v>18759.0</c:v>
                </c:pt>
                <c:pt idx="3">
                  <c:v>18289.0</c:v>
                </c:pt>
                <c:pt idx="4">
                  <c:v>18019.0</c:v>
                </c:pt>
                <c:pt idx="5">
                  <c:v>8997.0</c:v>
                </c:pt>
                <c:pt idx="6">
                  <c:v>8349.0</c:v>
                </c:pt>
                <c:pt idx="7">
                  <c:v>7844.0</c:v>
                </c:pt>
                <c:pt idx="8">
                  <c:v>7605.0</c:v>
                </c:pt>
                <c:pt idx="9">
                  <c:v>7515.0</c:v>
                </c:pt>
                <c:pt idx="10">
                  <c:v>557.0</c:v>
                </c:pt>
              </c:numCache>
            </c:numRef>
          </c:val>
        </c:ser>
        <c:dLbls>
          <c:showLegendKey val="0"/>
          <c:showVal val="0"/>
          <c:showCatName val="0"/>
          <c:showSerName val="0"/>
          <c:showPercent val="0"/>
          <c:showBubbleSize val="0"/>
        </c:dLbls>
        <c:gapWidth val="50"/>
        <c:axId val="606215376"/>
        <c:axId val="606217584"/>
      </c:barChart>
      <c:catAx>
        <c:axId val="606215376"/>
        <c:scaling>
          <c:orientation val="minMax"/>
        </c:scaling>
        <c:delete val="0"/>
        <c:axPos val="b"/>
        <c:numFmt formatCode="General" sourceLinked="1"/>
        <c:majorTickMark val="none"/>
        <c:minorTickMark val="none"/>
        <c:tickLblPos val="nextTo"/>
        <c:spPr>
          <a:noFill/>
          <a:ln w="9525" cap="flat" cmpd="sng" algn="ctr">
            <a:solidFill>
              <a:schemeClr val="tx1">
                <a:lumMod val="15000"/>
                <a:lumOff val="85000"/>
              </a:schemeClr>
            </a:solidFill>
            <a:round/>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Raleway" charset="0"/>
                <a:ea typeface="Raleway" charset="0"/>
                <a:cs typeface="Raleway" charset="0"/>
              </a:defRPr>
            </a:pPr>
            <a:endParaRPr lang="en-US"/>
          </a:p>
        </c:txPr>
        <c:crossAx val="606217584"/>
        <c:crosses val="autoZero"/>
        <c:auto val="1"/>
        <c:lblAlgn val="ctr"/>
        <c:lblOffset val="100"/>
        <c:noMultiLvlLbl val="0"/>
      </c:catAx>
      <c:valAx>
        <c:axId val="606217584"/>
        <c:scaling>
          <c:orientation val="minMax"/>
        </c:scaling>
        <c:delete val="0"/>
        <c:axPos val="l"/>
        <c:majorGridlines>
          <c:spPr>
            <a:ln w="9525" cap="flat" cmpd="sng" algn="ctr">
              <a:solidFill>
                <a:schemeClr val="tx1">
                  <a:alpha val="50000"/>
                </a:schemeClr>
              </a:solidFill>
              <a:round/>
            </a:ln>
            <a:effectLst/>
          </c:spPr>
        </c:majorGridlines>
        <c:title>
          <c:tx>
            <c:rich>
              <a:bodyPr rot="-5400000" spcFirstLastPara="1" vertOverflow="ellipsis" vert="horz" wrap="square" anchor="ctr" anchorCtr="1"/>
              <a:lstStyle/>
              <a:p>
                <a:pPr>
                  <a:defRPr sz="1330" b="0" i="0" u="none" strike="noStrike" kern="1200" baseline="0">
                    <a:solidFill>
                      <a:schemeClr val="tx1">
                        <a:lumMod val="65000"/>
                        <a:lumOff val="35000"/>
                      </a:schemeClr>
                    </a:solidFill>
                    <a:latin typeface="Raleway" charset="0"/>
                    <a:ea typeface="Raleway" charset="0"/>
                    <a:cs typeface="Raleway" charset="0"/>
                  </a:defRPr>
                </a:pPr>
                <a:r>
                  <a:rPr lang="en-GB" dirty="0" smtClean="0">
                    <a:latin typeface="Raleway" charset="0"/>
                    <a:ea typeface="Raleway" charset="0"/>
                    <a:cs typeface="Raleway" charset="0"/>
                  </a:rPr>
                  <a:t>Consumption 000’s</a:t>
                </a:r>
                <a:r>
                  <a:rPr lang="en-GB" baseline="0" dirty="0" smtClean="0">
                    <a:latin typeface="Raleway" charset="0"/>
                    <a:ea typeface="Raleway" charset="0"/>
                    <a:cs typeface="Raleway" charset="0"/>
                  </a:rPr>
                  <a:t> tons</a:t>
                </a:r>
                <a:endParaRPr lang="en-GB" dirty="0">
                  <a:latin typeface="Raleway" charset="0"/>
                  <a:ea typeface="Raleway" charset="0"/>
                  <a:cs typeface="Raleway" charset="0"/>
                </a:endParaRPr>
              </a:p>
            </c:rich>
          </c:tx>
          <c:layout/>
          <c:overlay val="0"/>
          <c:spPr>
            <a:noFill/>
            <a:ln>
              <a:noFill/>
            </a:ln>
            <a:effectLst/>
          </c:spPr>
          <c:txPr>
            <a:bodyPr rot="-5400000" spcFirstLastPara="1" vertOverflow="ellipsis" vert="horz" wrap="square" anchor="ctr" anchorCtr="1"/>
            <a:lstStyle/>
            <a:p>
              <a:pPr>
                <a:defRPr sz="1330" b="0" i="0" u="none" strike="noStrike" kern="1200" baseline="0">
                  <a:solidFill>
                    <a:schemeClr val="tx1">
                      <a:lumMod val="65000"/>
                      <a:lumOff val="35000"/>
                    </a:schemeClr>
                  </a:solidFill>
                  <a:latin typeface="Raleway" charset="0"/>
                  <a:ea typeface="Raleway" charset="0"/>
                  <a:cs typeface="Raleway" charset="0"/>
                </a:defRPr>
              </a:pPr>
              <a:endParaRPr lang="en-US"/>
            </a:p>
          </c:txPr>
        </c:title>
        <c:numFmt formatCode="General" sourceLinked="0"/>
        <c:majorTickMark val="none"/>
        <c:minorTickMark val="none"/>
        <c:tickLblPos val="nextTo"/>
        <c:spPr>
          <a:noFill/>
          <a:ln>
            <a:noFill/>
          </a:ln>
          <a:effectLst/>
        </c:spPr>
        <c:txPr>
          <a:bodyPr rot="-60000000" spcFirstLastPara="1" vertOverflow="ellipsis" vert="horz" wrap="square" anchor="ctr" anchorCtr="1"/>
          <a:lstStyle/>
          <a:p>
            <a:pPr>
              <a:defRPr sz="1197" b="0" i="0" u="none" strike="noStrike" kern="1200" baseline="0">
                <a:solidFill>
                  <a:schemeClr val="tx1">
                    <a:lumMod val="65000"/>
                    <a:lumOff val="35000"/>
                  </a:schemeClr>
                </a:solidFill>
                <a:latin typeface="Raleway" charset="0"/>
                <a:ea typeface="Raleway" charset="0"/>
                <a:cs typeface="Raleway" charset="0"/>
              </a:defRPr>
            </a:pPr>
            <a:endParaRPr lang="en-US"/>
          </a:p>
        </c:txPr>
        <c:crossAx val="606215376"/>
        <c:crosses val="autoZero"/>
        <c:crossBetween val="between"/>
      </c:valAx>
      <c:spPr>
        <a:noFill/>
        <a:ln>
          <a:noFill/>
        </a:ln>
        <a:effectLst/>
      </c:spPr>
    </c:plotArea>
    <c:plotVisOnly val="1"/>
    <c:dispBlanksAs val="gap"/>
    <c:showDLblsOverMax val="0"/>
  </c:chart>
  <c:spPr>
    <a:noFill/>
    <a:ln>
      <a:noFill/>
    </a:ln>
    <a:effectLst/>
  </c:spPr>
  <c:txPr>
    <a:bodyPr/>
    <a:lstStyle/>
    <a:p>
      <a:pPr>
        <a:defRPr/>
      </a:pPr>
      <a:endParaRPr lang="en-US"/>
    </a:p>
  </c:txPr>
  <c:externalData r:id="rId3">
    <c:autoUpdate val="0"/>
  </c:externalData>
</c:chartSpace>
</file>

<file path=ppt/charts/colors1.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colors2.xml><?xml version="1.0" encoding="utf-8"?>
<cs:colorStyle xmlns:cs="http://schemas.microsoft.com/office/drawing/2012/chartStyle" xmlns:a="http://schemas.openxmlformats.org/drawingml/2006/main" meth="cycle" id="10">
  <a:schemeClr val="accent1"/>
  <a:schemeClr val="accent2"/>
  <a:schemeClr val="accent3"/>
  <a:schemeClr val="accent4"/>
  <a:schemeClr val="accent5"/>
  <a:schemeClr val="accent6"/>
  <cs:variation/>
  <cs:variation>
    <a:lumMod val="60000"/>
  </cs:variation>
  <cs:variation>
    <a:lumMod val="80000"/>
    <a:lumOff val="20000"/>
  </cs:variation>
  <cs:variation>
    <a:lumMod val="80000"/>
  </cs:variation>
  <cs:variation>
    <a:lumMod val="60000"/>
    <a:lumOff val="40000"/>
  </cs:variation>
  <cs:variation>
    <a:lumMod val="50000"/>
  </cs:variation>
  <cs:variation>
    <a:lumMod val="70000"/>
    <a:lumOff val="30000"/>
  </cs:variation>
  <cs:variation>
    <a:lumMod val="70000"/>
  </cs:variation>
  <cs:variation>
    <a:lumMod val="50000"/>
    <a:lumOff val="50000"/>
  </cs:variation>
</cs:colorStyle>
</file>

<file path=ppt/charts/style1.xml><?xml version="1.0" encoding="utf-8"?>
<cs:chartStyle xmlns:cs="http://schemas.microsoft.com/office/drawing/2012/chartStyle" xmlns:a="http://schemas.openxmlformats.org/drawingml/2006/main" id="253">
  <cs:axisTitle>
    <cs:lnRef idx="0"/>
    <cs:fillRef idx="0"/>
    <cs:effectRef idx="0"/>
    <cs:fontRef idx="minor">
      <a:schemeClr val="dk1">
        <a:lumMod val="75000"/>
        <a:lumOff val="25000"/>
      </a:schemeClr>
    </cs:fontRef>
    <cs:defRPr sz="1197" b="1" kern="1200"/>
  </cs:axisTitle>
  <cs:categoryAxis>
    <cs:lnRef idx="0"/>
    <cs:fillRef idx="0"/>
    <cs:effectRef idx="0"/>
    <cs:fontRef idx="minor">
      <a:schemeClr val="dk1">
        <a:lumMod val="75000"/>
        <a:lumOff val="25000"/>
      </a:schemeClr>
    </cs:fontRef>
    <cs:spPr>
      <a:ln w="19050" cap="flat" cmpd="sng" algn="ctr">
        <a:solidFill>
          <a:schemeClr val="dk1">
            <a:lumMod val="75000"/>
            <a:lumOff val="25000"/>
          </a:schemeClr>
        </a:solidFill>
        <a:round/>
      </a:ln>
    </cs:spPr>
    <cs:defRPr sz="1197" kern="1200" cap="all" baseline="0"/>
  </cs:categoryAxis>
  <cs:chartArea>
    <cs:lnRef idx="0"/>
    <cs:fillRef idx="0"/>
    <cs:effectRef idx="0"/>
    <cs:fontRef idx="minor">
      <a:schemeClr val="dk1"/>
    </cs:fontRef>
    <cs:spPr>
      <a:gradFill flip="none" rotWithShape="1">
        <a:gsLst>
          <a:gs pos="0">
            <a:schemeClr val="lt1"/>
          </a:gs>
          <a:gs pos="39000">
            <a:schemeClr val="lt1"/>
          </a:gs>
          <a:gs pos="100000">
            <a:schemeClr val="lt1">
              <a:lumMod val="75000"/>
            </a:schemeClr>
          </a:gs>
        </a:gsLst>
        <a:path path="circle">
          <a:fillToRect l="50000" t="-80000" r="50000" b="180000"/>
        </a:path>
        <a:tileRect/>
      </a:gradFill>
      <a:ln w="9525" cap="flat" cmpd="sng" algn="ctr">
        <a:solidFill>
          <a:schemeClr val="dk1">
            <a:lumMod val="25000"/>
            <a:lumOff val="75000"/>
          </a:schemeClr>
        </a:solidFill>
        <a:round/>
      </a:ln>
    </cs:spPr>
    <cs:defRPr sz="1197" kern="1200"/>
  </cs:chartArea>
  <cs:dataLabel>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dataLabel>
  <cs:dataLabelCallout>
    <cs:lnRef idx="0"/>
    <cs:fillRef idx="0"/>
    <cs:effectRef idx="0"/>
    <cs:fontRef idx="minor">
      <a:schemeClr val="lt1"/>
    </cs:fontRef>
    <cs:spPr>
      <a:pattFill prst="pct75">
        <a:fgClr>
          <a:schemeClr val="dk1">
            <a:lumMod val="75000"/>
            <a:lumOff val="25000"/>
          </a:schemeClr>
        </a:fgClr>
        <a:bgClr>
          <a:schemeClr val="dk1">
            <a:lumMod val="65000"/>
            <a:lumOff val="35000"/>
          </a:schemeClr>
        </a:bgClr>
      </a:pattFill>
      <a:effectLst>
        <a:outerShdw blurRad="50800" dist="38100" dir="2700000" algn="tl" rotWithShape="0">
          <a:prstClr val="black">
            <a:alpha val="40000"/>
          </a:prstClr>
        </a:outerShdw>
      </a:effectLst>
    </cs:spPr>
    <cs:defRPr sz="1330" b="1" i="0" u="none" strike="noStrike" kern="1200" baseline="0"/>
    <cs:bodyPr rot="0" spcFirstLastPara="1" vertOverflow="clip" horzOverflow="clip" vert="horz" wrap="square" lIns="36576" tIns="18288" rIns="36576" bIns="18288" anchor="ctr" anchorCtr="1">
      <a:spAutoFit/>
    </cs:bodyPr>
  </cs:dataLabelCallout>
  <cs:dataPoint>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
  <cs:dataPoint3D>
    <cs:lnRef idx="0"/>
    <cs:fillRef idx="0">
      <cs:styleClr val="auto"/>
    </cs:fillRef>
    <cs:effectRef idx="0"/>
    <cs:fontRef idx="minor">
      <a:schemeClr val="dk1"/>
    </cs:fontRef>
    <cs:spPr>
      <a:solidFill>
        <a:schemeClr val="phClr"/>
      </a:solidFill>
      <a:effectLst>
        <a:outerShdw blurRad="254000" sx="102000" sy="102000" algn="ctr" rotWithShape="0">
          <a:prstClr val="black">
            <a:alpha val="20000"/>
          </a:prstClr>
        </a:outerShdw>
      </a:effectLst>
    </cs:spPr>
  </cs:dataPoint3D>
  <cs:dataPointLine>
    <cs:lnRef idx="0">
      <cs:styleClr val="auto"/>
    </cs:lnRef>
    <cs:fillRef idx="0"/>
    <cs:effectRef idx="0"/>
    <cs:fontRef idx="minor">
      <a:schemeClr val="dk1"/>
    </cs:fontRef>
    <cs:spPr>
      <a:ln w="31750" cap="rnd">
        <a:solidFill>
          <a:schemeClr val="phClr">
            <a:alpha val="85000"/>
          </a:schemeClr>
        </a:solidFill>
        <a:round/>
      </a:ln>
    </cs:spPr>
  </cs:dataPointLine>
  <cs:dataPointMarker>
    <cs:lnRef idx="0"/>
    <cs:fillRef idx="0">
      <cs:styleClr val="auto"/>
    </cs:fillRef>
    <cs:effectRef idx="0"/>
    <cs:fontRef idx="minor">
      <a:schemeClr val="dk1"/>
    </cs:fontRef>
    <cs:spPr>
      <a:solidFill>
        <a:schemeClr val="phClr">
          <a:alpha val="85000"/>
        </a:schemeClr>
      </a:solidFill>
    </cs:spPr>
  </cs:dataPointMarker>
  <cs:dataPointMarkerLayout symbol="circle" size="6"/>
  <cs:dataPointWireframe>
    <cs:lnRef idx="0">
      <cs:styleClr val="auto"/>
    </cs:lnRef>
    <cs:fillRef idx="0"/>
    <cs:effectRef idx="0"/>
    <cs:fontRef idx="minor">
      <a:schemeClr val="dk1"/>
    </cs:fontRef>
    <cs:spPr>
      <a:ln w="9525" cap="rnd">
        <a:solidFill>
          <a:schemeClr val="phClr"/>
        </a:solidFill>
        <a:round/>
      </a:ln>
    </cs:spPr>
  </cs:dataPointWireframe>
  <cs:dataTable>
    <cs:lnRef idx="0"/>
    <cs:fillRef idx="0"/>
    <cs:effectRef idx="0"/>
    <cs:fontRef idx="minor">
      <a:schemeClr val="dk1">
        <a:lumMod val="75000"/>
        <a:lumOff val="25000"/>
      </a:schemeClr>
    </cs:fontRef>
    <cs:spPr>
      <a:ln w="9525">
        <a:solidFill>
          <a:schemeClr val="dk1">
            <a:lumMod val="35000"/>
            <a:lumOff val="65000"/>
          </a:schemeClr>
        </a:solidFill>
      </a:ln>
    </cs:spPr>
    <cs:defRPr sz="1197" kern="1200"/>
  </cs:dataTable>
  <cs:downBar>
    <cs:lnRef idx="0"/>
    <cs:fillRef idx="0"/>
    <cs:effectRef idx="0"/>
    <cs:fontRef idx="minor">
      <a:schemeClr val="dk1"/>
    </cs:fontRef>
    <cs:spPr>
      <a:solidFill>
        <a:schemeClr val="dk1">
          <a:lumMod val="50000"/>
          <a:lumOff val="50000"/>
        </a:schemeClr>
      </a:solidFill>
      <a:ln w="9525">
        <a:solidFill>
          <a:schemeClr val="dk1">
            <a:lumMod val="65000"/>
            <a:lumOff val="35000"/>
          </a:schemeClr>
        </a:solidFill>
      </a:ln>
    </cs:spPr>
  </cs:downBar>
  <cs:dropLine>
    <cs:lnRef idx="0"/>
    <cs:fillRef idx="0"/>
    <cs:effectRef idx="0"/>
    <cs:fontRef idx="minor">
      <a:schemeClr val="dk1"/>
    </cs:fontRef>
    <cs:spPr>
      <a:ln w="9525">
        <a:solidFill>
          <a:schemeClr val="dk1">
            <a:lumMod val="35000"/>
            <a:lumOff val="65000"/>
          </a:schemeClr>
        </a:solidFill>
        <a:prstDash val="dash"/>
      </a:ln>
    </cs:spPr>
  </cs:dropLine>
  <cs:errorBar>
    <cs:lnRef idx="0"/>
    <cs:fillRef idx="0"/>
    <cs:effectRef idx="0"/>
    <cs:fontRef idx="minor">
      <a:schemeClr val="dk1"/>
    </cs:fontRef>
    <cs:spPr>
      <a:ln w="9525">
        <a:solidFill>
          <a:schemeClr val="dk1">
            <a:lumMod val="65000"/>
            <a:lumOff val="35000"/>
          </a:schemeClr>
        </a:solidFill>
        <a:round/>
      </a:ln>
    </cs:spPr>
  </cs:errorBar>
  <cs:floor>
    <cs:lnRef idx="0"/>
    <cs:fillRef idx="0"/>
    <cs:effectRef idx="0"/>
    <cs:fontRef idx="minor">
      <a:schemeClr val="dk1"/>
    </cs:fontRef>
  </cs:floor>
  <cs:gridlineMajor>
    <cs:lnRef idx="0"/>
    <cs:fillRef idx="0"/>
    <cs:effectRef idx="0"/>
    <cs:fontRef idx="minor">
      <a:schemeClr val="dk1"/>
    </cs:fontRef>
    <cs:spPr>
      <a:ln w="9525" cap="flat" cmpd="sng" algn="ctr">
        <a:gradFill>
          <a:gsLst>
            <a:gs pos="100000">
              <a:schemeClr val="dk1">
                <a:lumMod val="95000"/>
                <a:lumOff val="5000"/>
                <a:alpha val="42000"/>
              </a:schemeClr>
            </a:gs>
            <a:gs pos="0">
              <a:schemeClr val="lt1">
                <a:lumMod val="75000"/>
                <a:alpha val="36000"/>
              </a:schemeClr>
            </a:gs>
          </a:gsLst>
          <a:lin ang="5400000" scaled="0"/>
        </a:gradFill>
        <a:round/>
      </a:ln>
    </cs:spPr>
  </cs:gridlineMajor>
  <cs:gridlineMinor>
    <cs:lnRef idx="0"/>
    <cs:fillRef idx="0"/>
    <cs:effectRef idx="0"/>
    <cs:fontRef idx="minor">
      <a:schemeClr val="dk1"/>
    </cs:fontRef>
    <cs:spPr>
      <a:ln>
        <a:gradFill>
          <a:gsLst>
            <a:gs pos="100000">
              <a:schemeClr val="dk1">
                <a:lumMod val="95000"/>
                <a:lumOff val="5000"/>
                <a:alpha val="42000"/>
              </a:schemeClr>
            </a:gs>
            <a:gs pos="0">
              <a:schemeClr val="lt1">
                <a:lumMod val="75000"/>
                <a:alpha val="36000"/>
              </a:schemeClr>
            </a:gs>
          </a:gsLst>
          <a:lin ang="5400000" scaled="0"/>
        </a:gradFill>
      </a:ln>
    </cs:spPr>
  </cs:gridlineMinor>
  <cs:hiLoLine>
    <cs:lnRef idx="0"/>
    <cs:fillRef idx="0"/>
    <cs:effectRef idx="0"/>
    <cs:fontRef idx="minor">
      <a:schemeClr val="dk1"/>
    </cs:fontRef>
    <cs:spPr>
      <a:ln w="9525">
        <a:solidFill>
          <a:schemeClr val="dk1">
            <a:lumMod val="35000"/>
            <a:lumOff val="65000"/>
          </a:schemeClr>
        </a:solidFill>
        <a:prstDash val="dash"/>
      </a:ln>
    </cs:spPr>
  </cs:hiLoLine>
  <cs:leaderLine>
    <cs:lnRef idx="0"/>
    <cs:fillRef idx="0"/>
    <cs:effectRef idx="0"/>
    <cs:fontRef idx="minor">
      <a:schemeClr val="dk1"/>
    </cs:fontRef>
    <cs:spPr>
      <a:ln w="9525">
        <a:solidFill>
          <a:schemeClr val="dk1">
            <a:lumMod val="50000"/>
            <a:lumOff val="50000"/>
          </a:schemeClr>
        </a:solidFill>
      </a:ln>
    </cs:spPr>
  </cs:leaderLine>
  <cs:legend>
    <cs:lnRef idx="0"/>
    <cs:fillRef idx="0"/>
    <cs:effectRef idx="0"/>
    <cs:fontRef idx="minor">
      <a:schemeClr val="dk1">
        <a:lumMod val="75000"/>
        <a:lumOff val="25000"/>
      </a:schemeClr>
    </cs:fontRef>
    <cs:spPr>
      <a:solidFill>
        <a:schemeClr val="lt1">
          <a:lumMod val="95000"/>
          <a:alpha val="39000"/>
        </a:schemeClr>
      </a:solidFill>
    </cs:spPr>
    <cs:defRPr sz="1197" kern="1200"/>
  </cs:legend>
  <cs:plotArea>
    <cs:lnRef idx="0"/>
    <cs:fillRef idx="0"/>
    <cs:effectRef idx="0"/>
    <cs:fontRef idx="minor">
      <a:schemeClr val="dk1"/>
    </cs:fontRef>
  </cs:plotArea>
  <cs:plotArea3D>
    <cs:lnRef idx="0"/>
    <cs:fillRef idx="0"/>
    <cs:effectRef idx="0"/>
    <cs:fontRef idx="minor">
      <a:schemeClr val="dk1"/>
    </cs:fontRef>
  </cs:plotArea3D>
  <cs:seriesAxis>
    <cs:lnRef idx="0"/>
    <cs:fillRef idx="0"/>
    <cs:effectRef idx="0"/>
    <cs:fontRef idx="minor">
      <a:schemeClr val="dk1">
        <a:lumMod val="75000"/>
        <a:lumOff val="25000"/>
      </a:schemeClr>
    </cs:fontRef>
    <cs:spPr>
      <a:ln w="31750" cap="flat" cmpd="sng" algn="ctr">
        <a:solidFill>
          <a:schemeClr val="dk1">
            <a:lumMod val="75000"/>
            <a:lumOff val="25000"/>
          </a:schemeClr>
        </a:solidFill>
        <a:round/>
      </a:ln>
    </cs:spPr>
    <cs:defRPr sz="1197" kern="1200"/>
  </cs:seriesAxis>
  <cs:seriesLine>
    <cs:lnRef idx="0"/>
    <cs:fillRef idx="0"/>
    <cs:effectRef idx="0"/>
    <cs:fontRef idx="minor">
      <a:schemeClr val="dk1"/>
    </cs:fontRef>
    <cs:spPr>
      <a:ln w="9525">
        <a:solidFill>
          <a:schemeClr val="dk1">
            <a:lumMod val="50000"/>
            <a:lumOff val="50000"/>
          </a:schemeClr>
        </a:solidFill>
        <a:round/>
      </a:ln>
    </cs:spPr>
  </cs:seriesLine>
  <cs:title>
    <cs:lnRef idx="0"/>
    <cs:fillRef idx="0"/>
    <cs:effectRef idx="0"/>
    <cs:fontRef idx="minor">
      <a:schemeClr val="dk1">
        <a:lumMod val="75000"/>
        <a:lumOff val="25000"/>
      </a:schemeClr>
    </cs:fontRef>
    <cs:defRPr sz="2200" b="1" kern="1200" baseline="0"/>
  </cs:title>
  <cs:trendline>
    <cs:lnRef idx="0">
      <cs:styleClr val="auto"/>
    </cs:lnRef>
    <cs:fillRef idx="0"/>
    <cs:effectRef idx="0"/>
    <cs:fontRef idx="minor">
      <a:schemeClr val="dk1"/>
    </cs:fontRef>
    <cs:spPr>
      <a:ln w="19050" cap="rnd">
        <a:solidFill>
          <a:schemeClr val="phClr"/>
        </a:solidFill>
      </a:ln>
    </cs:spPr>
  </cs:trendline>
  <cs:trendlineLabel>
    <cs:lnRef idx="0"/>
    <cs:fillRef idx="0"/>
    <cs:effectRef idx="0"/>
    <cs:fontRef idx="minor">
      <a:schemeClr val="dk1">
        <a:lumMod val="75000"/>
        <a:lumOff val="25000"/>
      </a:schemeClr>
    </cs:fontRef>
    <cs:defRPr sz="1197" kern="1200"/>
  </cs:trendlineLabel>
  <cs:upBar>
    <cs:lnRef idx="0"/>
    <cs:fillRef idx="0"/>
    <cs:effectRef idx="0"/>
    <cs:fontRef idx="minor">
      <a:schemeClr val="dk1"/>
    </cs:fontRef>
    <cs:spPr>
      <a:solidFill>
        <a:schemeClr val="lt1"/>
      </a:solidFill>
      <a:ln w="9525">
        <a:solidFill>
          <a:schemeClr val="dk1">
            <a:lumMod val="65000"/>
            <a:lumOff val="35000"/>
          </a:schemeClr>
        </a:solidFill>
      </a:ln>
    </cs:spPr>
  </cs:upBar>
  <cs:valueAxis>
    <cs:lnRef idx="0"/>
    <cs:fillRef idx="0"/>
    <cs:effectRef idx="0"/>
    <cs:fontRef idx="minor">
      <a:schemeClr val="dk1">
        <a:lumMod val="75000"/>
        <a:lumOff val="25000"/>
      </a:schemeClr>
    </cs:fontRef>
    <cs:spPr>
      <a:ln>
        <a:noFill/>
      </a:ln>
    </cs:spPr>
    <cs:defRPr sz="1197" kern="1200"/>
  </cs:valueAxis>
  <cs:wall>
    <cs:lnRef idx="0"/>
    <cs:fillRef idx="0"/>
    <cs:effectRef idx="0"/>
    <cs:fontRef idx="minor">
      <a:schemeClr val="dk1"/>
    </cs:fontRef>
  </cs:wall>
</cs:chartStyle>
</file>

<file path=ppt/charts/style2.xml><?xml version="1.0" encoding="utf-8"?>
<cs:chartStyle xmlns:cs="http://schemas.microsoft.com/office/drawing/2012/chartStyle" xmlns:a="http://schemas.openxmlformats.org/drawingml/2006/main" id="201">
  <cs:axisTitle>
    <cs:lnRef idx="0"/>
    <cs:fillRef idx="0"/>
    <cs:effectRef idx="0"/>
    <cs:fontRef idx="minor">
      <a:schemeClr val="tx1">
        <a:lumMod val="65000"/>
        <a:lumOff val="35000"/>
      </a:schemeClr>
    </cs:fontRef>
    <cs:defRPr sz="1330" kern="1200"/>
  </cs:axisTitle>
  <cs:categoryAxis>
    <cs:lnRef idx="0"/>
    <cs:fillRef idx="0"/>
    <cs:effectRef idx="0"/>
    <cs:fontRef idx="minor">
      <a:schemeClr val="tx1">
        <a:lumMod val="65000"/>
        <a:lumOff val="35000"/>
      </a:schemeClr>
    </cs:fontRef>
    <cs:spPr>
      <a:ln w="9525" cap="flat" cmpd="sng" algn="ctr">
        <a:solidFill>
          <a:schemeClr val="tx1">
            <a:lumMod val="15000"/>
            <a:lumOff val="85000"/>
          </a:schemeClr>
        </a:solidFill>
        <a:round/>
      </a:ln>
    </cs:spPr>
    <cs:defRPr sz="1197" kern="1200"/>
  </cs:categoryAxis>
  <cs:chartArea mods="allowNoFillOverride allowNoLineOverride">
    <cs:lnRef idx="0"/>
    <cs:fillRef idx="0"/>
    <cs:effectRef idx="0"/>
    <cs:fontRef idx="minor">
      <a:schemeClr val="tx1"/>
    </cs:fontRef>
    <cs:spPr>
      <a:solidFill>
        <a:schemeClr val="bg1"/>
      </a:solidFill>
      <a:ln w="9525" cap="flat" cmpd="sng" algn="ctr">
        <a:solidFill>
          <a:schemeClr val="tx1">
            <a:lumMod val="15000"/>
            <a:lumOff val="85000"/>
          </a:schemeClr>
        </a:solidFill>
        <a:round/>
      </a:ln>
    </cs:spPr>
    <cs:defRPr sz="1330" kern="1200"/>
  </cs:chartArea>
  <cs:dataLabel>
    <cs:lnRef idx="0"/>
    <cs:fillRef idx="0"/>
    <cs:effectRef idx="0"/>
    <cs:fontRef idx="minor">
      <a:schemeClr val="tx1">
        <a:lumMod val="75000"/>
        <a:lumOff val="25000"/>
      </a:schemeClr>
    </cs:fontRef>
    <cs:defRPr sz="1197" kern="1200"/>
  </cs:dataLabel>
  <cs:dataLabelCallout>
    <cs:lnRef idx="0"/>
    <cs:fillRef idx="0"/>
    <cs:effectRef idx="0"/>
    <cs:fontRef idx="minor">
      <a:schemeClr val="dk1">
        <a:lumMod val="65000"/>
        <a:lumOff val="35000"/>
      </a:schemeClr>
    </cs:fontRef>
    <cs:spPr>
      <a:solidFill>
        <a:schemeClr val="lt1"/>
      </a:solidFill>
      <a:ln>
        <a:solidFill>
          <a:schemeClr val="dk1">
            <a:lumMod val="25000"/>
            <a:lumOff val="75000"/>
          </a:schemeClr>
        </a:solidFill>
      </a:ln>
    </cs:spPr>
    <cs:defRPr sz="1197" kern="1200"/>
    <cs:bodyPr rot="0" spcFirstLastPara="1" vertOverflow="clip" horzOverflow="clip" vert="horz" wrap="square" lIns="36576" tIns="18288" rIns="36576" bIns="18288" anchor="ctr" anchorCtr="1">
      <a:spAutoFit/>
    </cs:bodyPr>
  </cs:dataLabelCallout>
  <cs:dataPoint>
    <cs:lnRef idx="0"/>
    <cs:fillRef idx="1">
      <cs:styleClr val="auto"/>
    </cs:fillRef>
    <cs:effectRef idx="0"/>
    <cs:fontRef idx="minor">
      <a:schemeClr val="tx1"/>
    </cs:fontRef>
  </cs:dataPoint>
  <cs:dataPoint3D>
    <cs:lnRef idx="0"/>
    <cs:fillRef idx="1">
      <cs:styleClr val="auto"/>
    </cs:fillRef>
    <cs:effectRef idx="0"/>
    <cs:fontRef idx="minor">
      <a:schemeClr val="tx1"/>
    </cs:fontRef>
  </cs:dataPoint3D>
  <cs:dataPointLine>
    <cs:lnRef idx="0">
      <cs:styleClr val="auto"/>
    </cs:lnRef>
    <cs:fillRef idx="1"/>
    <cs:effectRef idx="0"/>
    <cs:fontRef idx="minor">
      <a:schemeClr val="tx1"/>
    </cs:fontRef>
    <cs:spPr>
      <a:ln w="28575" cap="rnd">
        <a:solidFill>
          <a:schemeClr val="phClr"/>
        </a:solidFill>
        <a:round/>
      </a:ln>
    </cs:spPr>
  </cs:dataPointLine>
  <cs:dataPointMarker>
    <cs:lnRef idx="0">
      <cs:styleClr val="auto"/>
    </cs:lnRef>
    <cs:fillRef idx="1">
      <cs:styleClr val="auto"/>
    </cs:fillRef>
    <cs:effectRef idx="0"/>
    <cs:fontRef idx="minor">
      <a:schemeClr val="tx1"/>
    </cs:fontRef>
    <cs:spPr>
      <a:ln w="9525">
        <a:solidFill>
          <a:schemeClr val="phClr"/>
        </a:solidFill>
      </a:ln>
    </cs:spPr>
  </cs:dataPointMarker>
  <cs:dataPointMarkerLayout symbol="circle" size="5"/>
  <cs:dataPointWireframe>
    <cs:lnRef idx="0">
      <cs:styleClr val="auto"/>
    </cs:lnRef>
    <cs:fillRef idx="1"/>
    <cs:effectRef idx="0"/>
    <cs:fontRef idx="minor">
      <a:schemeClr val="tx1"/>
    </cs:fontRef>
    <cs:spPr>
      <a:ln w="9525" cap="rnd">
        <a:solidFill>
          <a:schemeClr val="phClr"/>
        </a:solidFill>
        <a:round/>
      </a:ln>
    </cs:spPr>
  </cs:dataPointWireframe>
  <cs:dataTable>
    <cs:lnRef idx="0"/>
    <cs:fillRef idx="0"/>
    <cs:effectRef idx="0"/>
    <cs:fontRef idx="minor">
      <a:schemeClr val="tx1">
        <a:lumMod val="65000"/>
        <a:lumOff val="35000"/>
      </a:schemeClr>
    </cs:fontRef>
    <cs:spPr>
      <a:noFill/>
      <a:ln w="9525" cap="flat" cmpd="sng" algn="ctr">
        <a:solidFill>
          <a:schemeClr val="tx1">
            <a:lumMod val="15000"/>
            <a:lumOff val="85000"/>
          </a:schemeClr>
        </a:solidFill>
        <a:round/>
      </a:ln>
    </cs:spPr>
    <cs:defRPr sz="1197" kern="1200"/>
  </cs:dataTable>
  <cs:downBar>
    <cs:lnRef idx="0"/>
    <cs:fillRef idx="0"/>
    <cs:effectRef idx="0"/>
    <cs:fontRef idx="minor">
      <a:schemeClr val="dk1"/>
    </cs:fontRef>
    <cs:spPr>
      <a:solidFill>
        <a:schemeClr val="dk1">
          <a:lumMod val="65000"/>
          <a:lumOff val="35000"/>
        </a:schemeClr>
      </a:solidFill>
      <a:ln w="9525">
        <a:solidFill>
          <a:schemeClr val="tx1">
            <a:lumMod val="65000"/>
            <a:lumOff val="35000"/>
          </a:schemeClr>
        </a:solidFill>
      </a:ln>
    </cs:spPr>
  </cs:downBar>
  <cs:dropLine>
    <cs:lnRef idx="0"/>
    <cs:fillRef idx="0"/>
    <cs:effectRef idx="0"/>
    <cs:fontRef idx="minor">
      <a:schemeClr val="tx1"/>
    </cs:fontRef>
    <cs:spPr>
      <a:ln w="9525" cap="flat" cmpd="sng" algn="ctr">
        <a:solidFill>
          <a:schemeClr val="tx1">
            <a:lumMod val="35000"/>
            <a:lumOff val="65000"/>
          </a:schemeClr>
        </a:solidFill>
        <a:round/>
      </a:ln>
    </cs:spPr>
  </cs:dropLine>
  <cs:errorBar>
    <cs:lnRef idx="0"/>
    <cs:fillRef idx="0"/>
    <cs:effectRef idx="0"/>
    <cs:fontRef idx="minor">
      <a:schemeClr val="tx1"/>
    </cs:fontRef>
    <cs:spPr>
      <a:ln w="9525" cap="flat" cmpd="sng" algn="ctr">
        <a:solidFill>
          <a:schemeClr val="tx1">
            <a:lumMod val="65000"/>
            <a:lumOff val="35000"/>
          </a:schemeClr>
        </a:solidFill>
        <a:round/>
      </a:ln>
    </cs:spPr>
  </cs:errorBar>
  <cs:floor>
    <cs:lnRef idx="0"/>
    <cs:fillRef idx="0"/>
    <cs:effectRef idx="0"/>
    <cs:fontRef idx="minor">
      <a:schemeClr val="tx1"/>
    </cs:fontRef>
    <cs:spPr>
      <a:noFill/>
      <a:ln>
        <a:noFill/>
      </a:ln>
    </cs:spPr>
  </cs:floor>
  <cs:gridlineMajor>
    <cs:lnRef idx="0"/>
    <cs:fillRef idx="0"/>
    <cs:effectRef idx="0"/>
    <cs:fontRef idx="minor">
      <a:schemeClr val="tx1"/>
    </cs:fontRef>
    <cs:spPr>
      <a:ln w="9525" cap="flat" cmpd="sng" algn="ctr">
        <a:solidFill>
          <a:schemeClr val="tx1">
            <a:lumMod val="15000"/>
            <a:lumOff val="85000"/>
          </a:schemeClr>
        </a:solidFill>
        <a:round/>
      </a:ln>
    </cs:spPr>
  </cs:gridlineMajor>
  <cs:gridlineMinor>
    <cs:lnRef idx="0"/>
    <cs:fillRef idx="0"/>
    <cs:effectRef idx="0"/>
    <cs:fontRef idx="minor">
      <a:schemeClr val="tx1"/>
    </cs:fontRef>
    <cs:spPr>
      <a:ln w="9525" cap="flat" cmpd="sng" algn="ctr">
        <a:solidFill>
          <a:schemeClr val="tx1">
            <a:lumMod val="5000"/>
            <a:lumOff val="95000"/>
          </a:schemeClr>
        </a:solidFill>
        <a:round/>
      </a:ln>
    </cs:spPr>
  </cs:gridlineMinor>
  <cs:hiLoLine>
    <cs:lnRef idx="0"/>
    <cs:fillRef idx="0"/>
    <cs:effectRef idx="0"/>
    <cs:fontRef idx="minor">
      <a:schemeClr val="tx1"/>
    </cs:fontRef>
    <cs:spPr>
      <a:ln w="9525" cap="flat" cmpd="sng" algn="ctr">
        <a:solidFill>
          <a:schemeClr val="tx1">
            <a:lumMod val="75000"/>
            <a:lumOff val="25000"/>
          </a:schemeClr>
        </a:solidFill>
        <a:round/>
      </a:ln>
    </cs:spPr>
  </cs:hiLoLine>
  <cs:leaderLine>
    <cs:lnRef idx="0"/>
    <cs:fillRef idx="0"/>
    <cs:effectRef idx="0"/>
    <cs:fontRef idx="minor">
      <a:schemeClr val="tx1"/>
    </cs:fontRef>
    <cs:spPr>
      <a:ln w="9525" cap="flat" cmpd="sng" algn="ctr">
        <a:solidFill>
          <a:schemeClr val="tx1">
            <a:lumMod val="35000"/>
            <a:lumOff val="65000"/>
          </a:schemeClr>
        </a:solidFill>
        <a:round/>
      </a:ln>
    </cs:spPr>
  </cs:leaderLine>
  <cs:legend>
    <cs:lnRef idx="0"/>
    <cs:fillRef idx="0"/>
    <cs:effectRef idx="0"/>
    <cs:fontRef idx="minor">
      <a:schemeClr val="tx1">
        <a:lumMod val="65000"/>
        <a:lumOff val="35000"/>
      </a:schemeClr>
    </cs:fontRef>
    <cs:defRPr sz="1197" kern="1200"/>
  </cs:legend>
  <cs:plotArea mods="allowNoFillOverride allowNoLineOverride">
    <cs:lnRef idx="0"/>
    <cs:fillRef idx="0"/>
    <cs:effectRef idx="0"/>
    <cs:fontRef idx="minor">
      <a:schemeClr val="tx1"/>
    </cs:fontRef>
  </cs:plotArea>
  <cs:plotArea3D mods="allowNoFillOverride allowNoLineOverride">
    <cs:lnRef idx="0"/>
    <cs:fillRef idx="0"/>
    <cs:effectRef idx="0"/>
    <cs:fontRef idx="minor">
      <a:schemeClr val="tx1"/>
    </cs:fontRef>
  </cs:plotArea3D>
  <cs:seriesAxis>
    <cs:lnRef idx="0"/>
    <cs:fillRef idx="0"/>
    <cs:effectRef idx="0"/>
    <cs:fontRef idx="minor">
      <a:schemeClr val="tx1">
        <a:lumMod val="65000"/>
        <a:lumOff val="35000"/>
      </a:schemeClr>
    </cs:fontRef>
    <cs:defRPr sz="1197" kern="1200"/>
  </cs:seriesAxis>
  <cs:seriesLine>
    <cs:lnRef idx="0"/>
    <cs:fillRef idx="0"/>
    <cs:effectRef idx="0"/>
    <cs:fontRef idx="minor">
      <a:schemeClr val="tx1"/>
    </cs:fontRef>
    <cs:spPr>
      <a:ln w="9525" cap="flat" cmpd="sng" algn="ctr">
        <a:solidFill>
          <a:schemeClr val="tx1">
            <a:lumMod val="35000"/>
            <a:lumOff val="65000"/>
          </a:schemeClr>
        </a:solidFill>
        <a:round/>
      </a:ln>
    </cs:spPr>
  </cs:seriesLine>
  <cs:title>
    <cs:lnRef idx="0"/>
    <cs:fillRef idx="0"/>
    <cs:effectRef idx="0"/>
    <cs:fontRef idx="minor">
      <a:schemeClr val="tx1">
        <a:lumMod val="65000"/>
        <a:lumOff val="35000"/>
      </a:schemeClr>
    </cs:fontRef>
    <cs:defRPr sz="1862" b="0" kern="1200" spc="0" baseline="0"/>
  </cs:title>
  <cs:trendline>
    <cs:lnRef idx="0">
      <cs:styleClr val="auto"/>
    </cs:lnRef>
    <cs:fillRef idx="0"/>
    <cs:effectRef idx="0"/>
    <cs:fontRef idx="minor">
      <a:schemeClr val="tx1"/>
    </cs:fontRef>
    <cs:spPr>
      <a:ln w="19050" cap="rnd">
        <a:solidFill>
          <a:schemeClr val="phClr"/>
        </a:solidFill>
        <a:prstDash val="sysDot"/>
      </a:ln>
    </cs:spPr>
  </cs:trendline>
  <cs:trendlineLabel>
    <cs:lnRef idx="0"/>
    <cs:fillRef idx="0"/>
    <cs:effectRef idx="0"/>
    <cs:fontRef idx="minor">
      <a:schemeClr val="tx1">
        <a:lumMod val="65000"/>
        <a:lumOff val="35000"/>
      </a:schemeClr>
    </cs:fontRef>
    <cs:defRPr sz="1197" kern="1200"/>
  </cs:trendlineLabel>
  <cs:upBar>
    <cs:lnRef idx="0"/>
    <cs:fillRef idx="0"/>
    <cs:effectRef idx="0"/>
    <cs:fontRef idx="minor">
      <a:schemeClr val="dk1"/>
    </cs:fontRef>
    <cs:spPr>
      <a:solidFill>
        <a:schemeClr val="lt1"/>
      </a:solidFill>
      <a:ln w="9525">
        <a:solidFill>
          <a:schemeClr val="tx1">
            <a:lumMod val="15000"/>
            <a:lumOff val="85000"/>
          </a:schemeClr>
        </a:solidFill>
      </a:ln>
    </cs:spPr>
  </cs:upBar>
  <cs:valueAxis>
    <cs:lnRef idx="0"/>
    <cs:fillRef idx="0"/>
    <cs:effectRef idx="0"/>
    <cs:fontRef idx="minor">
      <a:schemeClr val="tx1">
        <a:lumMod val="65000"/>
        <a:lumOff val="35000"/>
      </a:schemeClr>
    </cs:fontRef>
    <cs:defRPr sz="1197" kern="1200"/>
  </cs:valueAxis>
  <cs:wall>
    <cs:lnRef idx="0"/>
    <cs:fillRef idx="0"/>
    <cs:effectRef idx="0"/>
    <cs:fontRef idx="minor">
      <a:schemeClr val="tx1"/>
    </cs:fontRef>
    <cs:spPr>
      <a:noFill/>
      <a:ln>
        <a:noFill/>
      </a:ln>
    </cs:spPr>
  </cs:wall>
</cs:chartStyl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3E7A983A-B01F-B049-AF8B-90585FDA582C}" type="datetimeFigureOut">
              <a:rPr lang="en-GB" smtClean="0"/>
              <a:t>15/11/2016</a:t>
            </a:fld>
            <a:endParaRPr lang="en-GB"/>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GB"/>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21CD3B65-C00C-BF43-8F7A-9C8E67DE6347}" type="slidenum">
              <a:rPr lang="en-GB" smtClean="0"/>
              <a:t>‹#›</a:t>
            </a:fld>
            <a:endParaRPr lang="en-GB"/>
          </a:p>
        </p:txBody>
      </p:sp>
    </p:spTree>
    <p:extLst>
      <p:ext uri="{BB962C8B-B14F-4D97-AF65-F5344CB8AC3E}">
        <p14:creationId xmlns:p14="http://schemas.microsoft.com/office/powerpoint/2010/main" val="31482317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    </a:t>
            </a: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a:t>
            </a:fld>
            <a:endParaRPr lang="en-GB" dirty="0"/>
          </a:p>
        </p:txBody>
      </p:sp>
    </p:spTree>
    <p:extLst>
      <p:ext uri="{BB962C8B-B14F-4D97-AF65-F5344CB8AC3E}">
        <p14:creationId xmlns:p14="http://schemas.microsoft.com/office/powerpoint/2010/main" val="1980946892"/>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Neither</a:t>
            </a:r>
            <a:r>
              <a:rPr lang="en-GB" baseline="0" dirty="0" smtClean="0"/>
              <a:t> do we</a:t>
            </a:r>
            <a:r>
              <a:rPr lang="is-IS" baseline="0" smtClean="0"/>
              <a:t>… </a:t>
            </a:r>
          </a:p>
          <a:p>
            <a:r>
              <a:rPr lang="is-IS" baseline="0" smtClean="0"/>
              <a:t>(</a:t>
            </a:r>
            <a:r>
              <a:rPr lang="en-GB" dirty="0" smtClean="0"/>
              <a:t>One is</a:t>
            </a:r>
            <a:r>
              <a:rPr lang="en-GB" baseline="0" dirty="0" smtClean="0"/>
              <a:t> full, the other is empty)</a:t>
            </a:r>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2</a:t>
            </a:fld>
            <a:endParaRPr lang="en-GB" dirty="0"/>
          </a:p>
        </p:txBody>
      </p:sp>
    </p:spTree>
    <p:extLst>
      <p:ext uri="{BB962C8B-B14F-4D97-AF65-F5344CB8AC3E}">
        <p14:creationId xmlns:p14="http://schemas.microsoft.com/office/powerpoint/2010/main" val="33698811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3</a:t>
            </a:fld>
            <a:endParaRPr lang="en-GB" dirty="0"/>
          </a:p>
        </p:txBody>
      </p:sp>
    </p:spTree>
    <p:extLst>
      <p:ext uri="{BB962C8B-B14F-4D97-AF65-F5344CB8AC3E}">
        <p14:creationId xmlns:p14="http://schemas.microsoft.com/office/powerpoint/2010/main" val="1893654773"/>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4</a:t>
            </a:fld>
            <a:endParaRPr lang="en-GB" dirty="0"/>
          </a:p>
        </p:txBody>
      </p:sp>
    </p:spTree>
    <p:extLst>
      <p:ext uri="{BB962C8B-B14F-4D97-AF65-F5344CB8AC3E}">
        <p14:creationId xmlns:p14="http://schemas.microsoft.com/office/powerpoint/2010/main" val="1875632242"/>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5</a:t>
            </a:fld>
            <a:endParaRPr lang="en-GB" dirty="0"/>
          </a:p>
        </p:txBody>
      </p:sp>
    </p:spTree>
    <p:extLst>
      <p:ext uri="{BB962C8B-B14F-4D97-AF65-F5344CB8AC3E}">
        <p14:creationId xmlns:p14="http://schemas.microsoft.com/office/powerpoint/2010/main" val="81195333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smtClean="0"/>
              <a:t>Large autonomy;</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smtClean="0"/>
              <a:t>Not depending on existing connection (no need for Internet);</a:t>
            </a:r>
          </a:p>
          <a:p>
            <a:pPr marL="171450" marR="0" indent="-171450" algn="l" defTabSz="914400" rtl="0" eaLnBrk="1" fontAlgn="auto" latinLnBrk="0" hangingPunct="1">
              <a:lnSpc>
                <a:spcPct val="100000"/>
              </a:lnSpc>
              <a:spcBef>
                <a:spcPts val="0"/>
              </a:spcBef>
              <a:spcAft>
                <a:spcPts val="0"/>
              </a:spcAft>
              <a:buClrTx/>
              <a:buSzTx/>
              <a:buFontTx/>
              <a:buChar char="-"/>
              <a:tabLst/>
              <a:defRPr/>
            </a:pPr>
            <a:r>
              <a:rPr lang="en-US" sz="1200" dirty="0" smtClean="0"/>
              <a:t>Independent</a:t>
            </a:r>
            <a:r>
              <a:rPr lang="en-US" sz="1200" baseline="0" dirty="0" smtClean="0"/>
              <a:t> from the LPG bottle;</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initial setup allows to set the tare of the cylinder placed on the balance. It</a:t>
            </a:r>
            <a:r>
              <a:rPr lang="en-US" sz="1200" baseline="0" dirty="0" smtClean="0"/>
              <a:t> </a:t>
            </a:r>
            <a:r>
              <a:rPr lang="en-US" sz="1200" dirty="0" smtClean="0"/>
              <a:t>may be possible to try to “guess” which brand/bottle it is automatically</a:t>
            </a:r>
            <a:r>
              <a:rPr lang="en-US" sz="1200" baseline="0" dirty="0" smtClean="0"/>
              <a:t> since the different values are discrete and quite apart from one another but would still requires a UI to deliver the info and ask for confirmation.</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system is also self-calibrating over time</a:t>
            </a:r>
            <a:r>
              <a:rPr lang="en-US" sz="1200" baseline="0" dirty="0" smtClean="0"/>
              <a:t> </a:t>
            </a:r>
            <a:r>
              <a:rPr lang="en-US" sz="1200" dirty="0" smtClean="0"/>
              <a:t>(to minimize fluctuation on measurement over time and conditions like ambient temperature, vibrations, pressure difference, moisture, EMF and dirt).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A few euros in hardware and communication fees/year) with expected battery life up to 5 years.</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The system is able to send weight + date + battery level twice a day and can deliver the information back to the customer.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dirty="0" smtClean="0"/>
              <a:t>Through</a:t>
            </a:r>
            <a:r>
              <a:rPr lang="en-US" sz="1200" baseline="0" dirty="0" smtClean="0"/>
              <a:t> a local algorithm, it would be possible to typify the consumer and the kind of equipment he possess (hot water heater, central heating system or just recreational).</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This information is quite valuable and is paramount to the business model. I’m not sure this currently captured by any solution on the market yet (it will come for sure, especially with the smart connected bottles like “Genie” from LINDE or equivalent.</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Estimation of consumption based on past behavior and machine learning could help to manage and program the deliveries, especially in more remote location.</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One could even think of offering a better price if the customer agrees to get delivered at a specific date/time, in a such way that minimize the overall cost of the delivery for the distributor.</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A smart algorithm to maintain or unbalance the market according to paying customers (distributors/LPG brands) of NESTO is key to business, especially in urban area where the competition is more fierce.</a:t>
            </a:r>
          </a:p>
          <a:p>
            <a:pPr marL="0" marR="0" indent="0" algn="l" defTabSz="914400" rtl="0" eaLnBrk="1" fontAlgn="auto" latinLnBrk="0" hangingPunct="1">
              <a:lnSpc>
                <a:spcPct val="100000"/>
              </a:lnSpc>
              <a:spcBef>
                <a:spcPts val="0"/>
              </a:spcBef>
              <a:spcAft>
                <a:spcPts val="0"/>
              </a:spcAft>
              <a:buClrTx/>
              <a:buSzTx/>
              <a:buFontTx/>
              <a:buNone/>
              <a:tabLst/>
              <a:defRPr/>
            </a:pPr>
            <a:r>
              <a:rPr lang="en-US" sz="1200" baseline="0" dirty="0" smtClean="0"/>
              <a:t>The largest GPL bottle manufacturer has a factory in Portugal AMTROL-ALPHA and is developing such products.</a:t>
            </a:r>
            <a:endParaRPr lang="en-US" sz="1200" dirty="0" smtClean="0"/>
          </a:p>
          <a:p>
            <a:pPr marL="0" marR="0" indent="0" algn="l" defTabSz="914400" rtl="0" eaLnBrk="1" fontAlgn="auto" latinLnBrk="0" hangingPunct="1">
              <a:lnSpc>
                <a:spcPct val="100000"/>
              </a:lnSpc>
              <a:spcBef>
                <a:spcPts val="0"/>
              </a:spcBef>
              <a:spcAft>
                <a:spcPts val="0"/>
              </a:spcAft>
              <a:buClrTx/>
              <a:buSzTx/>
              <a:buFontTx/>
              <a:buNone/>
              <a:tabLst/>
              <a:defRPr/>
            </a:pPr>
            <a:endParaRPr lang="en-US" sz="1200" dirty="0" smtClean="0"/>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6</a:t>
            </a:fld>
            <a:endParaRPr lang="en-GB" dirty="0"/>
          </a:p>
        </p:txBody>
      </p:sp>
    </p:spTree>
    <p:extLst>
      <p:ext uri="{BB962C8B-B14F-4D97-AF65-F5344CB8AC3E}">
        <p14:creationId xmlns:p14="http://schemas.microsoft.com/office/powerpoint/2010/main" val="1571079405"/>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Add</a:t>
            </a:r>
            <a:r>
              <a:rPr lang="en-GB" baseline="0" dirty="0" smtClean="0"/>
              <a:t> estimated date for new bottle request on the third screen</a:t>
            </a:r>
          </a:p>
          <a:p>
            <a:endParaRPr lang="en-GB" baseline="0" dirty="0" smtClean="0"/>
          </a:p>
          <a:p>
            <a:r>
              <a:rPr lang="en-GB" dirty="0" smtClean="0"/>
              <a:t>Fuel Level Window: </a:t>
            </a:r>
            <a:r>
              <a:rPr lang="en-GB" b="1" dirty="0" smtClean="0"/>
              <a:t>A total of 88 percent of respondents identified “Can’t tell fuel level” </a:t>
            </a:r>
            <a:r>
              <a:rPr lang="en-GB" dirty="0" smtClean="0"/>
              <a:t>as a complaint or concern about their steel propane cylinders. Asked later in the survey to rate the importance of various possible features of composite cylinders, this group awarded “View window for fuel level” a full 94 percent of the total possible points. </a:t>
            </a:r>
            <a:endParaRPr lang="en-GB" baseline="0" dirty="0" smtClean="0"/>
          </a:p>
          <a:p>
            <a:endParaRPr lang="en-GB" baseline="0" dirty="0" smtClean="0"/>
          </a:p>
          <a:p>
            <a:r>
              <a:rPr lang="en-GB" baseline="0" dirty="0" smtClean="0"/>
              <a:t>(Source: http://</a:t>
            </a:r>
            <a:r>
              <a:rPr lang="en-GB" baseline="0" dirty="0" err="1" smtClean="0"/>
              <a:t>www.propanecouncil.org</a:t>
            </a:r>
            <a:r>
              <a:rPr lang="en-GB" baseline="0" smtClean="0"/>
              <a:t>/</a:t>
            </a:r>
            <a:r>
              <a:rPr lang="en-GB" baseline="0" err="1" smtClean="0"/>
              <a:t>uploadedFiles</a:t>
            </a:r>
            <a:r>
              <a:rPr lang="en-GB" baseline="0" smtClean="0"/>
              <a:t>/Council/</a:t>
            </a:r>
            <a:r>
              <a:rPr lang="en-GB" baseline="0" err="1" smtClean="0"/>
              <a:t>Research_and_Development</a:t>
            </a:r>
            <a:r>
              <a:rPr lang="en-GB" baseline="0" smtClean="0"/>
              <a:t>/REP_10662%20Composite%20Cylinder%20Market%20Study.pdf)</a:t>
            </a:r>
          </a:p>
          <a:p>
            <a:endParaRPr lang="en-GB"/>
          </a:p>
        </p:txBody>
      </p:sp>
      <p:sp>
        <p:nvSpPr>
          <p:cNvPr id="4" name="Slide Number Placeholder 3"/>
          <p:cNvSpPr>
            <a:spLocks noGrp="1"/>
          </p:cNvSpPr>
          <p:nvPr>
            <p:ph type="sldNum" sz="quarter" idx="10"/>
          </p:nvPr>
        </p:nvSpPr>
        <p:spPr/>
        <p:txBody>
          <a:bodyPr/>
          <a:lstStyle/>
          <a:p>
            <a:fld id="{21CD3B65-C00C-BF43-8F7A-9C8E67DE6347}" type="slidenum">
              <a:rPr lang="en-GB" smtClean="0"/>
              <a:t>7</a:t>
            </a:fld>
            <a:endParaRPr lang="en-GB"/>
          </a:p>
        </p:txBody>
      </p:sp>
    </p:spTree>
    <p:extLst>
      <p:ext uri="{BB962C8B-B14F-4D97-AF65-F5344CB8AC3E}">
        <p14:creationId xmlns:p14="http://schemas.microsoft.com/office/powerpoint/2010/main" val="186510085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r>
              <a:rPr lang="en-US" sz="1200" b="1" dirty="0" smtClean="0">
                <a:solidFill>
                  <a:srgbClr val="57CABF"/>
                </a:solidFill>
              </a:rPr>
              <a:t>88% of end use</a:t>
            </a:r>
            <a:r>
              <a:rPr lang="en-US" sz="1200" dirty="0" smtClean="0">
                <a:solidFill>
                  <a:srgbClr val="57CABF"/>
                </a:solidFill>
              </a:rPr>
              <a:t>r</a:t>
            </a:r>
            <a:r>
              <a:rPr lang="en-US" sz="1200" dirty="0" smtClean="0"/>
              <a:t> is actually ready to pay for a device that tells them how much gas</a:t>
            </a:r>
            <a:r>
              <a:rPr lang="en-US" sz="1200" baseline="0" dirty="0" smtClean="0"/>
              <a:t> is left in the bottle </a:t>
            </a:r>
            <a:r>
              <a:rPr lang="en-US" sz="1200" dirty="0" smtClean="0"/>
              <a:t>(* survey result).</a:t>
            </a:r>
            <a:r>
              <a:rPr lang="is-IS" sz="1200" b="0" i="0" u="none" strike="noStrike" kern="1200" dirty="0" smtClean="0">
                <a:solidFill>
                  <a:schemeClr val="tx1"/>
                </a:solidFill>
                <a:effectLst/>
                <a:latin typeface="+mn-lt"/>
                <a:ea typeface="+mn-ea"/>
                <a:cs typeface="+mn-cs"/>
              </a:rPr>
              <a:t>  </a:t>
            </a:r>
            <a:r>
              <a:rPr lang="is-IS" dirty="0" smtClean="0"/>
              <a:t> </a:t>
            </a:r>
            <a:endParaRPr lang="en-US" sz="1200" dirty="0" smtClean="0"/>
          </a:p>
          <a:p>
            <a:pPr marL="171450" marR="0" indent="-171450" algn="l" defTabSz="914400" rtl="0" eaLnBrk="1" fontAlgn="auto" latinLnBrk="0" hangingPunct="1">
              <a:lnSpc>
                <a:spcPct val="100000"/>
              </a:lnSpc>
              <a:spcBef>
                <a:spcPts val="0"/>
              </a:spcBef>
              <a:spcAft>
                <a:spcPts val="0"/>
              </a:spcAft>
              <a:buClrTx/>
              <a:buSzTx/>
              <a:buFont typeface="Arial" charset="0"/>
              <a:buChar char="•"/>
              <a:tabLst/>
              <a:defRPr/>
            </a:pPr>
            <a:endParaRPr lang="en-US" sz="1200" dirty="0" smtClean="0"/>
          </a:p>
          <a:p>
            <a:pPr marL="171450" indent="-171450">
              <a:buFont typeface="Arial" charset="0"/>
              <a:buChar char="•"/>
            </a:pP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8</a:t>
            </a:fld>
            <a:endParaRPr lang="en-GB"/>
          </a:p>
        </p:txBody>
      </p:sp>
    </p:spTree>
    <p:extLst>
      <p:ext uri="{BB962C8B-B14F-4D97-AF65-F5344CB8AC3E}">
        <p14:creationId xmlns:p14="http://schemas.microsoft.com/office/powerpoint/2010/main" val="12653571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charset="0"/>
              <a:buChar char="•"/>
            </a:pPr>
            <a:r>
              <a:rPr lang="en-GB" dirty="0" smtClean="0"/>
              <a:t>659 M€ in 2010</a:t>
            </a:r>
          </a:p>
          <a:p>
            <a:pPr marL="171450" indent="-171450">
              <a:buFont typeface="Arial" charset="0"/>
              <a:buChar char="•"/>
            </a:pPr>
            <a:endParaRPr lang="en-GB" dirty="0" smtClean="0"/>
          </a:p>
          <a:p>
            <a:pPr marL="171450" indent="-171450">
              <a:buFont typeface="Arial" charset="0"/>
              <a:buChar char="•"/>
            </a:pPr>
            <a:endParaRPr lang="en-GB" dirty="0" smtClean="0"/>
          </a:p>
          <a:p>
            <a:pPr marL="171450" indent="-171450">
              <a:buFont typeface="Arial" charset="0"/>
              <a:buChar char="•"/>
            </a:pPr>
            <a:r>
              <a:rPr lang="en-GB" dirty="0" smtClean="0"/>
              <a:t>http://</a:t>
            </a:r>
            <a:r>
              <a:rPr lang="en-GB" dirty="0" err="1" smtClean="0"/>
              <a:t>www.poupenabotija.pt</a:t>
            </a:r>
            <a:r>
              <a:rPr lang="en-GB" dirty="0" smtClean="0"/>
              <a:t>/</a:t>
            </a:r>
            <a:r>
              <a:rPr lang="en-GB" dirty="0" err="1" smtClean="0"/>
              <a:t>poupenabotija</a:t>
            </a:r>
            <a:r>
              <a:rPr lang="en-GB" dirty="0" smtClean="0"/>
              <a:t>/</a:t>
            </a:r>
            <a:r>
              <a:rPr lang="en-GB" dirty="0" err="1" smtClean="0"/>
              <a:t>precos</a:t>
            </a:r>
            <a:r>
              <a:rPr lang="en-GB" dirty="0" smtClean="0"/>
              <a:t>;</a:t>
            </a:r>
          </a:p>
          <a:p>
            <a:pPr marL="171450" indent="-171450">
              <a:buFont typeface="Arial" charset="0"/>
              <a:buChar char="•"/>
            </a:pPr>
            <a:r>
              <a:rPr lang="en-GB" dirty="0" smtClean="0"/>
              <a:t>http://</a:t>
            </a:r>
            <a:r>
              <a:rPr lang="en-GB" dirty="0" err="1" smtClean="0"/>
              <a:t>www.enmc.pt</a:t>
            </a:r>
            <a:r>
              <a:rPr lang="en-GB" dirty="0" smtClean="0"/>
              <a:t>/</a:t>
            </a:r>
            <a:r>
              <a:rPr lang="en-GB" dirty="0" err="1" smtClean="0"/>
              <a:t>pt</a:t>
            </a:r>
            <a:r>
              <a:rPr lang="en-GB" dirty="0" smtClean="0"/>
              <a:t>-PT/</a:t>
            </a:r>
            <a:r>
              <a:rPr lang="en-GB" dirty="0" err="1" smtClean="0"/>
              <a:t>noticias</a:t>
            </a:r>
            <a:r>
              <a:rPr lang="en-GB" dirty="0" smtClean="0"/>
              <a:t>/</a:t>
            </a:r>
            <a:r>
              <a:rPr lang="en-GB" dirty="0" err="1" smtClean="0"/>
              <a:t>arquivo</a:t>
            </a:r>
            <a:r>
              <a:rPr lang="en-GB" dirty="0" smtClean="0"/>
              <a:t>-de-</a:t>
            </a:r>
            <a:r>
              <a:rPr lang="en-GB" dirty="0" err="1" smtClean="0"/>
              <a:t>noticias</a:t>
            </a:r>
            <a:r>
              <a:rPr lang="en-GB" dirty="0" smtClean="0"/>
              <a:t>/o-</a:t>
            </a:r>
            <a:r>
              <a:rPr lang="en-GB" dirty="0" err="1" smtClean="0"/>
              <a:t>mercado</a:t>
            </a:r>
            <a:r>
              <a:rPr lang="en-GB" dirty="0" smtClean="0"/>
              <a:t>-do-</a:t>
            </a:r>
            <a:r>
              <a:rPr lang="en-GB" dirty="0" err="1" smtClean="0"/>
              <a:t>gpl</a:t>
            </a:r>
            <a:r>
              <a:rPr lang="en-GB" dirty="0" smtClean="0"/>
              <a:t>-</a:t>
            </a:r>
            <a:r>
              <a:rPr lang="en-GB" dirty="0" err="1" smtClean="0"/>
              <a:t>em-portugal</a:t>
            </a:r>
            <a:r>
              <a:rPr lang="en-GB" dirty="0" smtClean="0"/>
              <a:t>/</a:t>
            </a:r>
          </a:p>
          <a:p>
            <a:pPr marL="171450" indent="-171450">
              <a:buFont typeface="Arial" charset="0"/>
              <a:buChar char="•"/>
            </a:pPr>
            <a:r>
              <a:rPr lang="en-GB" dirty="0" smtClean="0"/>
              <a:t>http://</a:t>
            </a:r>
            <a:r>
              <a:rPr lang="en-GB" dirty="0" err="1" smtClean="0"/>
              <a:t>cpa.idea-factory.pt</a:t>
            </a:r>
            <a:r>
              <a:rPr lang="en-GB" dirty="0" smtClean="0"/>
              <a:t>/</a:t>
            </a:r>
            <a:r>
              <a:rPr lang="en-GB" dirty="0" err="1" smtClean="0"/>
              <a:t>UserFiles</a:t>
            </a:r>
            <a:r>
              <a:rPr lang="en-GB" dirty="0" smtClean="0"/>
              <a:t>/</a:t>
            </a:r>
            <a:r>
              <a:rPr lang="en-GB" dirty="0" err="1" smtClean="0"/>
              <a:t>rita-alves-prio.pdf</a:t>
            </a:r>
            <a:r>
              <a:rPr lang="en-GB" dirty="0" smtClean="0"/>
              <a:t/>
            </a:r>
            <a:br>
              <a:rPr lang="en-GB" dirty="0" smtClean="0"/>
            </a:br>
            <a:endParaRPr lang="en-GB" dirty="0" smtClean="0"/>
          </a:p>
          <a:p>
            <a:pPr marL="171450" indent="-171450">
              <a:buFont typeface="Arial" charset="0"/>
              <a:buChar char="•"/>
            </a:pPr>
            <a:r>
              <a:rPr lang="en-GB" dirty="0" err="1" smtClean="0"/>
              <a:t>Repsol</a:t>
            </a:r>
            <a:r>
              <a:rPr lang="en-GB" dirty="0" smtClean="0"/>
              <a:t> =&gt; Shell</a:t>
            </a:r>
            <a:r>
              <a:rPr lang="en-GB" baseline="0" dirty="0" smtClean="0"/>
              <a:t> sold in 2004;</a:t>
            </a:r>
            <a:endParaRPr lang="en-GB" dirty="0" smtClean="0"/>
          </a:p>
          <a:p>
            <a:pPr marL="171450" indent="-171450">
              <a:buFont typeface="Arial" charset="0"/>
              <a:buChar char="•"/>
            </a:pPr>
            <a:r>
              <a:rPr lang="en-GB" dirty="0" smtClean="0"/>
              <a:t>OZ =&gt; From </a:t>
            </a:r>
            <a:r>
              <a:rPr lang="en-GB" dirty="0" err="1" smtClean="0"/>
              <a:t>Champalimaud</a:t>
            </a:r>
            <a:r>
              <a:rPr lang="en-GB" dirty="0" smtClean="0"/>
              <a:t> since 2009 after buying from Galp </a:t>
            </a:r>
            <a:r>
              <a:rPr lang="en-GB" dirty="0" err="1" smtClean="0"/>
              <a:t>Energia</a:t>
            </a:r>
            <a:r>
              <a:rPr lang="en-GB" dirty="0" smtClean="0"/>
              <a:t> And Esso;</a:t>
            </a:r>
          </a:p>
          <a:p>
            <a:pPr marL="171450" indent="-171450">
              <a:buFont typeface="Arial" charset="0"/>
              <a:buChar char="•"/>
            </a:pPr>
            <a:r>
              <a:rPr lang="en-GB" dirty="0" err="1" smtClean="0"/>
              <a:t>Rubis</a:t>
            </a:r>
            <a:r>
              <a:rPr lang="en-GB" dirty="0" smtClean="0"/>
              <a:t> =&gt; French 2014, bought what was left from BP Portugal;</a:t>
            </a:r>
          </a:p>
          <a:p>
            <a:pPr marL="171450" indent="-171450">
              <a:buFont typeface="Arial" charset="0"/>
              <a:buChar char="•"/>
            </a:pPr>
            <a:r>
              <a:rPr lang="en-GB" dirty="0" err="1" smtClean="0"/>
              <a:t>Prio</a:t>
            </a:r>
            <a:r>
              <a:rPr lang="en-GB" dirty="0" smtClean="0"/>
              <a:t> =&gt; 95% </a:t>
            </a:r>
            <a:r>
              <a:rPr lang="en-GB" dirty="0" err="1" smtClean="0"/>
              <a:t>OxyCapital</a:t>
            </a:r>
            <a:r>
              <a:rPr lang="en-GB" dirty="0" smtClean="0"/>
              <a:t> / 5% </a:t>
            </a:r>
            <a:r>
              <a:rPr lang="en-GB" dirty="0" err="1" smtClean="0"/>
              <a:t>Martifer</a:t>
            </a:r>
            <a:r>
              <a:rPr lang="en-GB" dirty="0" smtClean="0"/>
              <a:t/>
            </a:r>
            <a:br>
              <a:rPr lang="en-GB" dirty="0" smtClean="0"/>
            </a:br>
            <a:r>
              <a:rPr lang="en-GB" dirty="0" smtClean="0"/>
              <a:t/>
            </a:r>
            <a:br>
              <a:rPr lang="en-GB" dirty="0" smtClean="0"/>
            </a:br>
            <a:r>
              <a:rPr lang="en-GB" sz="1200" b="0" i="0" kern="1200" dirty="0" smtClean="0">
                <a:solidFill>
                  <a:schemeClr val="tx1"/>
                </a:solidFill>
                <a:effectLst/>
                <a:latin typeface="+mn-lt"/>
                <a:ea typeface="+mn-ea"/>
                <a:cs typeface="+mn-cs"/>
              </a:rPr>
              <a:t>O novo diploma </a:t>
            </a:r>
            <a:r>
              <a:rPr lang="en-GB" sz="1200" b="0" i="0" kern="1200" dirty="0" err="1" smtClean="0">
                <a:solidFill>
                  <a:schemeClr val="tx1"/>
                </a:solidFill>
                <a:effectLst/>
                <a:latin typeface="+mn-lt"/>
                <a:ea typeface="+mn-ea"/>
                <a:cs typeface="+mn-cs"/>
              </a:rPr>
              <a:t>vai</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obrigar</a:t>
            </a:r>
            <a:r>
              <a:rPr lang="en-GB" sz="1200" b="0" i="0" kern="1200" dirty="0" smtClean="0">
                <a:solidFill>
                  <a:schemeClr val="tx1"/>
                </a:solidFill>
                <a:effectLst/>
                <a:latin typeface="+mn-lt"/>
                <a:ea typeface="+mn-ea"/>
                <a:cs typeface="+mn-cs"/>
              </a:rPr>
              <a:t> a CLC, </a:t>
            </a:r>
            <a:r>
              <a:rPr lang="en-GB" sz="1200" b="0" i="0" kern="1200" dirty="0" err="1" smtClean="0">
                <a:solidFill>
                  <a:schemeClr val="tx1"/>
                </a:solidFill>
                <a:effectLst/>
                <a:latin typeface="+mn-lt"/>
                <a:ea typeface="+mn-ea"/>
                <a:cs typeface="+mn-cs"/>
              </a:rPr>
              <a:t>companhia</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logística</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detida</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maioritariamente</a:t>
            </a:r>
            <a:r>
              <a:rPr lang="en-GB" sz="1200" b="0" i="0" kern="1200" dirty="0" smtClean="0">
                <a:solidFill>
                  <a:schemeClr val="tx1"/>
                </a:solidFill>
                <a:effectLst/>
                <a:latin typeface="+mn-lt"/>
                <a:ea typeface="+mn-ea"/>
                <a:cs typeface="+mn-cs"/>
              </a:rPr>
              <a:t> pela Galp, a </a:t>
            </a:r>
            <a:r>
              <a:rPr lang="en-GB" sz="1200" b="0" i="0" kern="1200" dirty="0" err="1" smtClean="0">
                <a:solidFill>
                  <a:schemeClr val="tx1"/>
                </a:solidFill>
                <a:effectLst/>
                <a:latin typeface="+mn-lt"/>
                <a:ea typeface="+mn-ea"/>
                <a:cs typeface="+mn-cs"/>
              </a:rPr>
              <a:t>garantir</a:t>
            </a:r>
            <a:r>
              <a:rPr lang="en-GB" sz="1200" b="0" i="0" kern="1200" dirty="0" smtClean="0">
                <a:solidFill>
                  <a:schemeClr val="tx1"/>
                </a:solidFill>
                <a:effectLst/>
                <a:latin typeface="+mn-lt"/>
                <a:ea typeface="+mn-ea"/>
                <a:cs typeface="+mn-cs"/>
              </a:rPr>
              <a:t> o </a:t>
            </a:r>
            <a:r>
              <a:rPr lang="en-GB" sz="1200" b="0" i="0" kern="1200" dirty="0" err="1" smtClean="0">
                <a:solidFill>
                  <a:schemeClr val="tx1"/>
                </a:solidFill>
                <a:effectLst/>
                <a:latin typeface="+mn-lt"/>
                <a:ea typeface="+mn-ea"/>
                <a:cs typeface="+mn-cs"/>
              </a:rPr>
              <a:t>acesso</a:t>
            </a:r>
            <a:r>
              <a:rPr lang="en-GB" sz="1200" b="0" i="0" kern="1200" dirty="0" smtClean="0">
                <a:solidFill>
                  <a:schemeClr val="tx1"/>
                </a:solidFill>
                <a:effectLst/>
                <a:latin typeface="+mn-lt"/>
                <a:ea typeface="+mn-ea"/>
                <a:cs typeface="+mn-cs"/>
              </a:rPr>
              <a:t> de </a:t>
            </a:r>
            <a:r>
              <a:rPr lang="en-GB" sz="1200" b="0" i="0" kern="1200" dirty="0" err="1" smtClean="0">
                <a:solidFill>
                  <a:schemeClr val="tx1"/>
                </a:solidFill>
                <a:effectLst/>
                <a:latin typeface="+mn-lt"/>
                <a:ea typeface="+mn-ea"/>
                <a:cs typeface="+mn-cs"/>
              </a:rPr>
              <a:t>outras</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empresas</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ao</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oleoduto</a:t>
            </a:r>
            <a:r>
              <a:rPr lang="en-GB" sz="1200" b="0" i="0" kern="1200" dirty="0" smtClean="0">
                <a:solidFill>
                  <a:schemeClr val="tx1"/>
                </a:solidFill>
                <a:effectLst/>
                <a:latin typeface="+mn-lt"/>
                <a:ea typeface="+mn-ea"/>
                <a:cs typeface="+mn-cs"/>
              </a:rPr>
              <a:t> entre Sines e </a:t>
            </a:r>
            <a:r>
              <a:rPr lang="en-GB" sz="1200" b="0" i="0" kern="1200" dirty="0" err="1" smtClean="0">
                <a:solidFill>
                  <a:schemeClr val="tx1"/>
                </a:solidFill>
                <a:effectLst/>
                <a:latin typeface="+mn-lt"/>
                <a:ea typeface="+mn-ea"/>
                <a:cs typeface="+mn-cs"/>
              </a:rPr>
              <a:t>Aveiras</a:t>
            </a:r>
            <a:r>
              <a:rPr lang="en-GB" sz="1200" b="0" i="0" kern="1200" dirty="0" smtClean="0">
                <a:solidFill>
                  <a:schemeClr val="tx1"/>
                </a:solidFill>
                <a:effectLst/>
                <a:latin typeface="+mn-lt"/>
                <a:ea typeface="+mn-ea"/>
                <a:cs typeface="+mn-cs"/>
              </a:rPr>
              <a:t>. A Galp tem 65% da CLC, a BP e a </a:t>
            </a:r>
            <a:r>
              <a:rPr lang="en-GB" sz="1200" b="0" i="0" kern="1200" dirty="0" err="1" smtClean="0">
                <a:solidFill>
                  <a:schemeClr val="tx1"/>
                </a:solidFill>
                <a:effectLst/>
                <a:latin typeface="+mn-lt"/>
                <a:ea typeface="+mn-ea"/>
                <a:cs typeface="+mn-cs"/>
              </a:rPr>
              <a:t>Repsol</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têm</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ambas</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participações</a:t>
            </a:r>
            <a:r>
              <a:rPr lang="en-GB" sz="1200" b="0" i="0" kern="1200" dirty="0" smtClean="0">
                <a:solidFill>
                  <a:schemeClr val="tx1"/>
                </a:solidFill>
                <a:effectLst/>
                <a:latin typeface="+mn-lt"/>
                <a:ea typeface="+mn-ea"/>
                <a:cs typeface="+mn-cs"/>
              </a:rPr>
              <a:t> de 15% e a </a:t>
            </a:r>
            <a:r>
              <a:rPr lang="en-GB" sz="1200" b="0" i="0" kern="1200" dirty="0" err="1" smtClean="0">
                <a:solidFill>
                  <a:schemeClr val="tx1"/>
                </a:solidFill>
                <a:effectLst/>
                <a:latin typeface="+mn-lt"/>
                <a:ea typeface="+mn-ea"/>
                <a:cs typeface="+mn-cs"/>
              </a:rPr>
              <a:t>Rubis</a:t>
            </a:r>
            <a:r>
              <a:rPr lang="en-GB" sz="1200" b="0" i="0" kern="1200" dirty="0" smtClean="0">
                <a:solidFill>
                  <a:schemeClr val="tx1"/>
                </a:solidFill>
                <a:effectLst/>
                <a:latin typeface="+mn-lt"/>
                <a:ea typeface="+mn-ea"/>
                <a:cs typeface="+mn-cs"/>
              </a:rPr>
              <a:t> </a:t>
            </a:r>
            <a:r>
              <a:rPr lang="en-GB" sz="1200" b="0" i="0" kern="1200" dirty="0" err="1" smtClean="0">
                <a:solidFill>
                  <a:schemeClr val="tx1"/>
                </a:solidFill>
                <a:effectLst/>
                <a:latin typeface="+mn-lt"/>
                <a:ea typeface="+mn-ea"/>
                <a:cs typeface="+mn-cs"/>
              </a:rPr>
              <a:t>Energia</a:t>
            </a:r>
            <a:r>
              <a:rPr lang="en-GB" sz="1200" b="0" i="0" kern="1200" dirty="0" smtClean="0">
                <a:solidFill>
                  <a:schemeClr val="tx1"/>
                </a:solidFill>
                <a:effectLst/>
                <a:latin typeface="+mn-lt"/>
                <a:ea typeface="+mn-ea"/>
                <a:cs typeface="+mn-cs"/>
              </a:rPr>
              <a:t> tem 5% do capital.</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(Source: https://</a:t>
            </a:r>
            <a:r>
              <a:rPr lang="en-GB" sz="1200" b="0" i="0" kern="1200" dirty="0" err="1" smtClean="0">
                <a:solidFill>
                  <a:schemeClr val="tx1"/>
                </a:solidFill>
                <a:effectLst/>
                <a:latin typeface="+mn-lt"/>
                <a:ea typeface="+mn-ea"/>
                <a:cs typeface="+mn-cs"/>
              </a:rPr>
              <a:t>www.publico.pt</a:t>
            </a:r>
            <a:r>
              <a:rPr lang="en-GB" sz="1200" b="0" i="0" kern="1200" dirty="0" smtClean="0">
                <a:solidFill>
                  <a:schemeClr val="tx1"/>
                </a:solidFill>
                <a:effectLst/>
                <a:latin typeface="+mn-lt"/>
                <a:ea typeface="+mn-ea"/>
                <a:cs typeface="+mn-cs"/>
              </a:rPr>
              <a:t>/</a:t>
            </a:r>
            <a:r>
              <a:rPr lang="en-GB" sz="1200" b="0" i="0" kern="1200" dirty="0" err="1" smtClean="0">
                <a:solidFill>
                  <a:schemeClr val="tx1"/>
                </a:solidFill>
                <a:effectLst/>
                <a:latin typeface="+mn-lt"/>
                <a:ea typeface="+mn-ea"/>
                <a:cs typeface="+mn-cs"/>
              </a:rPr>
              <a:t>economia</a:t>
            </a:r>
            <a:r>
              <a:rPr lang="en-GB" sz="1200" b="0" i="0" kern="1200" dirty="0" smtClean="0">
                <a:solidFill>
                  <a:schemeClr val="tx1"/>
                </a:solidFill>
                <a:effectLst/>
                <a:latin typeface="+mn-lt"/>
                <a:ea typeface="+mn-ea"/>
                <a:cs typeface="+mn-cs"/>
              </a:rPr>
              <a:t>/</a:t>
            </a:r>
            <a:r>
              <a:rPr lang="en-GB" sz="1200" b="0" i="0" kern="1200" dirty="0" err="1" smtClean="0">
                <a:solidFill>
                  <a:schemeClr val="tx1"/>
                </a:solidFill>
                <a:effectLst/>
                <a:latin typeface="+mn-lt"/>
                <a:ea typeface="+mn-ea"/>
                <a:cs typeface="+mn-cs"/>
              </a:rPr>
              <a:t>noticia</a:t>
            </a:r>
            <a:r>
              <a:rPr lang="en-GB" sz="1200" b="0" i="0" kern="1200" dirty="0" smtClean="0">
                <a:solidFill>
                  <a:schemeClr val="tx1"/>
                </a:solidFill>
                <a:effectLst/>
                <a:latin typeface="+mn-lt"/>
                <a:ea typeface="+mn-ea"/>
                <a:cs typeface="+mn-cs"/>
              </a:rPr>
              <a:t>/lei-do-petroleo-obriga-galp-a-abrir-o-oleoduto-entre-sines-e-aveiras-1704872)</a:t>
            </a:r>
            <a:endParaRPr lang="en-GB" dirty="0" smtClean="0"/>
          </a:p>
          <a:p>
            <a:endParaRPr lang="en-GB" dirty="0" smtClean="0"/>
          </a:p>
          <a:p>
            <a:endParaRPr lang="en-GB" dirty="0" smtClean="0"/>
          </a:p>
          <a:p>
            <a:r>
              <a:rPr lang="en-GB" dirty="0" smtClean="0"/>
              <a:t>Source:</a:t>
            </a:r>
          </a:p>
          <a:p>
            <a:pPr marL="171450" indent="-171450">
              <a:buFont typeface="Arial" charset="0"/>
              <a:buChar char="•"/>
            </a:pPr>
            <a:r>
              <a:rPr lang="en-GB" dirty="0" smtClean="0"/>
              <a:t>https://</a:t>
            </a:r>
            <a:r>
              <a:rPr lang="en-GB" dirty="0" err="1" smtClean="0"/>
              <a:t>www.iseg.ulisboa.pt</a:t>
            </a:r>
            <a:r>
              <a:rPr lang="en-GB" dirty="0" smtClean="0"/>
              <a:t>/</a:t>
            </a:r>
            <a:r>
              <a:rPr lang="en-GB" dirty="0" err="1" smtClean="0"/>
              <a:t>aquila</a:t>
            </a:r>
            <a:r>
              <a:rPr lang="en-GB" dirty="0" smtClean="0"/>
              <a:t>/</a:t>
            </a:r>
            <a:r>
              <a:rPr lang="en-GB" dirty="0" err="1" smtClean="0"/>
              <a:t>getFile.do?fileId</a:t>
            </a:r>
            <a:r>
              <a:rPr lang="en-GB" dirty="0" smtClean="0"/>
              <a:t>=530960&amp;method=</a:t>
            </a:r>
            <a:r>
              <a:rPr lang="en-GB" dirty="0" err="1" smtClean="0"/>
              <a:t>getFile</a:t>
            </a:r>
            <a:endParaRPr lang="en-GB" dirty="0" smtClean="0"/>
          </a:p>
          <a:p>
            <a:pPr marL="171450" indent="-171450">
              <a:buFont typeface="Arial" charset="0"/>
              <a:buChar char="•"/>
            </a:pPr>
            <a:r>
              <a:rPr lang="en-GB" dirty="0" smtClean="0"/>
              <a:t>http://</a:t>
            </a:r>
            <a:r>
              <a:rPr lang="en-GB" dirty="0" err="1" smtClean="0"/>
              <a:t>www.portugalglobal.pt</a:t>
            </a:r>
            <a:r>
              <a:rPr lang="en-GB" dirty="0" smtClean="0"/>
              <a:t>/PT/</a:t>
            </a:r>
            <a:r>
              <a:rPr lang="en-GB" dirty="0" err="1" smtClean="0"/>
              <a:t>PortugalNews</a:t>
            </a:r>
            <a:r>
              <a:rPr lang="en-GB" dirty="0" smtClean="0"/>
              <a:t>/</a:t>
            </a:r>
            <a:r>
              <a:rPr lang="en-GB" dirty="0" err="1" smtClean="0"/>
              <a:t>RevistaImprensaNacional</a:t>
            </a:r>
            <a:r>
              <a:rPr lang="en-GB" dirty="0" smtClean="0"/>
              <a:t>/</a:t>
            </a:r>
            <a:r>
              <a:rPr lang="en-GB" dirty="0" err="1" smtClean="0"/>
              <a:t>Investimento</a:t>
            </a:r>
            <a:r>
              <a:rPr lang="en-GB" dirty="0" smtClean="0"/>
              <a:t>/Documents/Prio_DE170315.pdf</a:t>
            </a:r>
          </a:p>
          <a:p>
            <a:pPr marL="171450" indent="-171450">
              <a:buFont typeface="Arial" charset="0"/>
              <a:buChar char="•"/>
            </a:pPr>
            <a:r>
              <a:rPr lang="en-GB" dirty="0" smtClean="0"/>
              <a:t>http://</a:t>
            </a:r>
            <a:r>
              <a:rPr lang="en-GB" dirty="0" err="1" smtClean="0"/>
              <a:t>economico.sapo.pt</a:t>
            </a:r>
            <a:r>
              <a:rPr lang="en-GB" dirty="0" smtClean="0"/>
              <a:t>/</a:t>
            </a:r>
            <a:r>
              <a:rPr lang="en-GB" dirty="0" err="1" smtClean="0"/>
              <a:t>noticias</a:t>
            </a:r>
            <a:r>
              <a:rPr lang="en-GB" dirty="0" smtClean="0"/>
              <a:t>/prio-controla-7-do-mercado-e-ja-faz-sombra-as-grandes-petroliferas_214075.html</a:t>
            </a:r>
          </a:p>
          <a:p>
            <a:pPr marL="171450" indent="-171450">
              <a:buFont typeface="Arial" charset="0"/>
              <a:buChar char="•"/>
            </a:pPr>
            <a:endParaRPr lang="en-GB" dirty="0" smtClean="0"/>
          </a:p>
          <a:p>
            <a:pPr marL="0" indent="0">
              <a:buFont typeface="Arial" charset="0"/>
              <a:buNone/>
            </a:pPr>
            <a:r>
              <a:rPr lang="en-GB" dirty="0" smtClean="0"/>
              <a:t>Was Galp,</a:t>
            </a:r>
            <a:r>
              <a:rPr lang="en-GB" baseline="0" dirty="0" smtClean="0"/>
              <a:t> BP, </a:t>
            </a:r>
            <a:r>
              <a:rPr lang="en-GB" baseline="0" dirty="0" err="1" smtClean="0"/>
              <a:t>Repsol</a:t>
            </a:r>
            <a:r>
              <a:rPr lang="en-GB" baseline="0" dirty="0" smtClean="0"/>
              <a:t> &amp; </a:t>
            </a:r>
            <a:r>
              <a:rPr lang="en-GB" baseline="0" dirty="0" err="1" smtClean="0"/>
              <a:t>Cepsa</a:t>
            </a:r>
            <a:r>
              <a:rPr lang="en-GB" baseline="0" dirty="0" smtClean="0"/>
              <a:t>.</a:t>
            </a:r>
          </a:p>
          <a:p>
            <a:pPr marL="0" indent="0">
              <a:buFont typeface="Arial" charset="0"/>
              <a:buNone/>
            </a:pPr>
            <a:r>
              <a:rPr lang="en-GB" baseline="0" dirty="0" smtClean="0"/>
              <a:t>Market doesn’t move since 50 years!</a:t>
            </a:r>
            <a:endParaRPr lang="en-GB" dirty="0" smtClean="0"/>
          </a:p>
          <a:p>
            <a:pPr marL="171450" indent="-171450">
              <a:buFont typeface="Arial" charset="0"/>
              <a:buChar char="•"/>
            </a:pPr>
            <a:endParaRPr lang="en-GB" dirty="0" smtClean="0"/>
          </a:p>
          <a:p>
            <a:pPr marL="171450" indent="-171450">
              <a:buFont typeface="Arial" charset="0"/>
              <a:buChar char="•"/>
            </a:pPr>
            <a:r>
              <a:rPr lang="en-GB" dirty="0" err="1" smtClean="0"/>
              <a:t>Repsol</a:t>
            </a:r>
            <a:r>
              <a:rPr lang="en-GB" baseline="0" dirty="0" smtClean="0"/>
              <a:t> is in re-structuration, they shouldn’t be able to move quickly.</a:t>
            </a:r>
          </a:p>
          <a:p>
            <a:pPr marL="171450" indent="-171450">
              <a:buFont typeface="Arial" charset="0"/>
              <a:buChar char="•"/>
            </a:pPr>
            <a:r>
              <a:rPr lang="en-GB" baseline="0" dirty="0" smtClean="0"/>
              <a:t>Galp wants to maintain the status-quo.</a:t>
            </a:r>
            <a:endParaRPr lang="en-GB" dirty="0" smtClean="0"/>
          </a:p>
          <a:p>
            <a:endParaRPr lang="en-GB" dirty="0" smtClean="0"/>
          </a:p>
          <a:p>
            <a:r>
              <a:rPr lang="en-GB" sz="1200" b="0" i="0" kern="1200" dirty="0" smtClean="0">
                <a:solidFill>
                  <a:schemeClr val="tx1"/>
                </a:solidFill>
                <a:effectLst/>
                <a:latin typeface="+mn-lt"/>
                <a:ea typeface="+mn-ea"/>
                <a:cs typeface="+mn-cs"/>
              </a:rPr>
              <a:t>Our most important storage unit is located at </a:t>
            </a:r>
            <a:r>
              <a:rPr lang="en-GB" sz="1200" b="0" i="0" kern="1200" dirty="0" err="1" smtClean="0">
                <a:solidFill>
                  <a:schemeClr val="tx1"/>
                </a:solidFill>
                <a:effectLst/>
                <a:latin typeface="+mn-lt"/>
                <a:ea typeface="+mn-ea"/>
                <a:cs typeface="+mn-cs"/>
              </a:rPr>
              <a:t>Sigás</a:t>
            </a:r>
            <a:r>
              <a:rPr lang="en-GB" sz="1200" b="0" i="0" kern="1200" dirty="0" smtClean="0">
                <a:solidFill>
                  <a:schemeClr val="tx1"/>
                </a:solidFill>
                <a:effectLst/>
                <a:latin typeface="+mn-lt"/>
                <a:ea typeface="+mn-ea"/>
                <a:cs typeface="+mn-cs"/>
              </a:rPr>
              <a:t>, where Galp </a:t>
            </a:r>
            <a:r>
              <a:rPr lang="en-GB" sz="1200" b="0" i="0" kern="1200" dirty="0" err="1" smtClean="0">
                <a:solidFill>
                  <a:schemeClr val="tx1"/>
                </a:solidFill>
                <a:effectLst/>
                <a:latin typeface="+mn-lt"/>
                <a:ea typeface="+mn-ea"/>
                <a:cs typeface="+mn-cs"/>
              </a:rPr>
              <a:t>Energia</a:t>
            </a:r>
            <a:r>
              <a:rPr lang="en-GB" sz="1200" b="0" i="0" kern="1200" dirty="0" smtClean="0">
                <a:solidFill>
                  <a:schemeClr val="tx1"/>
                </a:solidFill>
                <a:effectLst/>
                <a:latin typeface="+mn-lt"/>
                <a:ea typeface="+mn-ea"/>
                <a:cs typeface="+mn-cs"/>
              </a:rPr>
              <a:t> has a 60% stake in partnership with </a:t>
            </a:r>
            <a:r>
              <a:rPr lang="en-GB" sz="1200" b="0" i="0" kern="1200" dirty="0" err="1" smtClean="0">
                <a:solidFill>
                  <a:schemeClr val="tx1"/>
                </a:solidFill>
                <a:effectLst/>
                <a:latin typeface="+mn-lt"/>
                <a:ea typeface="+mn-ea"/>
                <a:cs typeface="+mn-cs"/>
              </a:rPr>
              <a:t>Rubis</a:t>
            </a:r>
            <a:r>
              <a:rPr lang="en-GB" sz="1200" b="0" i="0" kern="1200" dirty="0" smtClean="0">
                <a:solidFill>
                  <a:schemeClr val="tx1"/>
                </a:solidFill>
                <a:effectLst/>
                <a:latin typeface="+mn-lt"/>
                <a:ea typeface="+mn-ea"/>
                <a:cs typeface="+mn-cs"/>
              </a:rPr>
              <a:t> (35%) and </a:t>
            </a:r>
            <a:r>
              <a:rPr lang="en-GB" sz="1200" b="0" i="0" kern="1200" dirty="0" err="1" smtClean="0">
                <a:solidFill>
                  <a:schemeClr val="tx1"/>
                </a:solidFill>
                <a:effectLst/>
                <a:latin typeface="+mn-lt"/>
                <a:ea typeface="+mn-ea"/>
                <a:cs typeface="+mn-cs"/>
              </a:rPr>
              <a:t>Repsol</a:t>
            </a:r>
            <a:r>
              <a:rPr lang="en-GB" sz="1200" b="0" i="0" kern="1200" dirty="0" smtClean="0">
                <a:solidFill>
                  <a:schemeClr val="tx1"/>
                </a:solidFill>
                <a:effectLst/>
                <a:latin typeface="+mn-lt"/>
                <a:ea typeface="+mn-ea"/>
                <a:cs typeface="+mn-cs"/>
              </a:rPr>
              <a:t> (5%). Galp </a:t>
            </a:r>
            <a:r>
              <a:rPr lang="en-GB" sz="1200" b="0" i="0" kern="1200" dirty="0" err="1" smtClean="0">
                <a:solidFill>
                  <a:schemeClr val="tx1"/>
                </a:solidFill>
                <a:effectLst/>
                <a:latin typeface="+mn-lt"/>
                <a:ea typeface="+mn-ea"/>
                <a:cs typeface="+mn-cs"/>
              </a:rPr>
              <a:t>Energia's</a:t>
            </a:r>
            <a:r>
              <a:rPr lang="en-GB" sz="1200" b="0" i="0" kern="1200" dirty="0" smtClean="0">
                <a:solidFill>
                  <a:schemeClr val="tx1"/>
                </a:solidFill>
                <a:effectLst/>
                <a:latin typeface="+mn-lt"/>
                <a:ea typeface="+mn-ea"/>
                <a:cs typeface="+mn-cs"/>
              </a:rPr>
              <a:t> share in the infrastructures of </a:t>
            </a:r>
            <a:r>
              <a:rPr lang="en-GB" sz="1200" b="0" i="0" kern="1200" dirty="0" err="1" smtClean="0">
                <a:solidFill>
                  <a:schemeClr val="tx1"/>
                </a:solidFill>
                <a:effectLst/>
                <a:latin typeface="+mn-lt"/>
                <a:ea typeface="+mn-ea"/>
                <a:cs typeface="+mn-cs"/>
              </a:rPr>
              <a:t>Sigás</a:t>
            </a:r>
            <a:r>
              <a:rPr lang="en-GB" sz="1200" b="0" i="0" kern="1200" dirty="0" smtClean="0">
                <a:solidFill>
                  <a:schemeClr val="tx1"/>
                </a:solidFill>
                <a:effectLst/>
                <a:latin typeface="+mn-lt"/>
                <a:ea typeface="+mn-ea"/>
                <a:cs typeface="+mn-cs"/>
              </a:rPr>
              <a:t> guarantees a total storage capacity of 34,800 tonnes.</a:t>
            </a:r>
            <a:r>
              <a:rPr lang="en-GB" dirty="0" smtClean="0"/>
              <a:t/>
            </a:r>
            <a:br>
              <a:rPr lang="en-GB" dirty="0" smtClean="0"/>
            </a:br>
            <a:r>
              <a:rPr lang="en-GB" sz="1200" b="0" i="0" kern="1200" dirty="0" smtClean="0">
                <a:solidFill>
                  <a:schemeClr val="tx1"/>
                </a:solidFill>
                <a:effectLst/>
                <a:latin typeface="+mn-lt"/>
                <a:ea typeface="+mn-ea"/>
                <a:cs typeface="+mn-cs"/>
              </a:rPr>
              <a:t> </a:t>
            </a:r>
            <a:r>
              <a:rPr lang="en-GB" dirty="0" smtClean="0"/>
              <a:t/>
            </a:r>
            <a:br>
              <a:rPr lang="en-GB" dirty="0" smtClean="0"/>
            </a:br>
            <a:r>
              <a:rPr lang="en-GB" sz="1200" b="0" i="0" kern="1200" dirty="0" smtClean="0">
                <a:solidFill>
                  <a:schemeClr val="tx1"/>
                </a:solidFill>
                <a:effectLst/>
                <a:latin typeface="+mn-lt"/>
                <a:ea typeface="+mn-ea"/>
                <a:cs typeface="+mn-cs"/>
              </a:rPr>
              <a:t>Galp </a:t>
            </a:r>
            <a:r>
              <a:rPr lang="en-GB" sz="1200" b="0" i="0" kern="1200" dirty="0" err="1" smtClean="0">
                <a:solidFill>
                  <a:schemeClr val="tx1"/>
                </a:solidFill>
                <a:effectLst/>
                <a:latin typeface="+mn-lt"/>
                <a:ea typeface="+mn-ea"/>
                <a:cs typeface="+mn-cs"/>
              </a:rPr>
              <a:t>Energia</a:t>
            </a:r>
            <a:r>
              <a:rPr lang="en-GB" sz="1200" b="0" i="0" kern="1200" dirty="0" smtClean="0">
                <a:solidFill>
                  <a:schemeClr val="tx1"/>
                </a:solidFill>
                <a:effectLst/>
                <a:latin typeface="+mn-lt"/>
                <a:ea typeface="+mn-ea"/>
                <a:cs typeface="+mn-cs"/>
              </a:rPr>
              <a:t> has its own LPG-filling infrastructure in Sines and at the </a:t>
            </a:r>
            <a:r>
              <a:rPr lang="en-GB" sz="1200" b="0" i="0" kern="1200" dirty="0" err="1" smtClean="0">
                <a:solidFill>
                  <a:schemeClr val="tx1"/>
                </a:solidFill>
                <a:effectLst/>
                <a:latin typeface="+mn-lt"/>
                <a:ea typeface="+mn-ea"/>
                <a:cs typeface="+mn-cs"/>
              </a:rPr>
              <a:t>Perafita</a:t>
            </a:r>
            <a:r>
              <a:rPr lang="en-GB" sz="1200" b="0" i="0" kern="1200" dirty="0" smtClean="0">
                <a:solidFill>
                  <a:schemeClr val="tx1"/>
                </a:solidFill>
                <a:effectLst/>
                <a:latin typeface="+mn-lt"/>
                <a:ea typeface="+mn-ea"/>
                <a:cs typeface="+mn-cs"/>
              </a:rPr>
              <a:t> park. CLC, in which Galp </a:t>
            </a:r>
            <a:r>
              <a:rPr lang="en-GB" sz="1200" b="0" i="0" kern="1200" dirty="0" err="1" smtClean="0">
                <a:solidFill>
                  <a:schemeClr val="tx1"/>
                </a:solidFill>
                <a:effectLst/>
                <a:latin typeface="+mn-lt"/>
                <a:ea typeface="+mn-ea"/>
                <a:cs typeface="+mn-cs"/>
              </a:rPr>
              <a:t>Energia</a:t>
            </a:r>
            <a:r>
              <a:rPr lang="en-GB" sz="1200" b="0" i="0" kern="1200" dirty="0" smtClean="0">
                <a:solidFill>
                  <a:schemeClr val="tx1"/>
                </a:solidFill>
                <a:effectLst/>
                <a:latin typeface="+mn-lt"/>
                <a:ea typeface="+mn-ea"/>
                <a:cs typeface="+mn-cs"/>
              </a:rPr>
              <a:t> has a 65 per cent stake, also has filling infrastructure. This plays an essential role in the logistics of the LPG bottles sub-segment.</a:t>
            </a:r>
            <a:r>
              <a:rPr lang="en-GB" dirty="0" smtClean="0"/>
              <a:t/>
            </a:r>
            <a:br>
              <a:rPr lang="en-GB" dirty="0" smtClean="0"/>
            </a:br>
            <a:r>
              <a:rPr lang="en-GB" sz="1200" b="0" i="0" kern="1200" dirty="0" smtClean="0">
                <a:solidFill>
                  <a:schemeClr val="tx1"/>
                </a:solidFill>
                <a:effectLst/>
                <a:latin typeface="+mn-lt"/>
                <a:ea typeface="+mn-ea"/>
                <a:cs typeface="+mn-cs"/>
              </a:rPr>
              <a:t> </a:t>
            </a:r>
            <a:r>
              <a:rPr lang="en-GB" dirty="0" smtClean="0"/>
              <a:t/>
            </a:r>
            <a:br>
              <a:rPr lang="en-GB" dirty="0" smtClean="0"/>
            </a:br>
            <a:r>
              <a:rPr lang="en-GB" sz="1200" b="0" i="0" kern="1200" dirty="0" smtClean="0">
                <a:solidFill>
                  <a:schemeClr val="tx1"/>
                </a:solidFill>
                <a:effectLst/>
                <a:latin typeface="+mn-lt"/>
                <a:ea typeface="+mn-ea"/>
                <a:cs typeface="+mn-cs"/>
              </a:rPr>
              <a:t>From these three facilities, we deliver LPG in bulk to customers by tank trucks, and LPG bottles by pick-up trucks.</a:t>
            </a:r>
            <a:r>
              <a:rPr lang="en-GB" dirty="0" smtClean="0"/>
              <a:t/>
            </a:r>
            <a:br>
              <a:rPr lang="en-GB" dirty="0" smtClean="0"/>
            </a:br>
            <a:r>
              <a:rPr lang="en-GB" sz="1200" b="0" i="0" kern="1200" dirty="0" smtClean="0">
                <a:solidFill>
                  <a:schemeClr val="tx1"/>
                </a:solidFill>
                <a:effectLst/>
                <a:latin typeface="+mn-lt"/>
                <a:ea typeface="+mn-ea"/>
                <a:cs typeface="+mn-cs"/>
              </a:rPr>
              <a:t>We deliver LPG bottles to 300 resellers across Portugal. These resellers then distribute the bottles to second-line resellers, almost 700 service stations and more than 20,000 points of sale.</a:t>
            </a:r>
          </a:p>
          <a:p>
            <a:endParaRPr lang="en-GB" sz="1200" b="0" i="0" kern="1200" dirty="0" smtClean="0">
              <a:solidFill>
                <a:schemeClr val="tx1"/>
              </a:solidFill>
              <a:effectLst/>
              <a:latin typeface="+mn-lt"/>
              <a:ea typeface="+mn-ea"/>
              <a:cs typeface="+mn-cs"/>
            </a:endParaRPr>
          </a:p>
          <a:p>
            <a:pPr marL="0" indent="0">
              <a:buFont typeface="Arial" charset="0"/>
              <a:buNone/>
            </a:pPr>
            <a:r>
              <a:rPr lang="en-GB" dirty="0" smtClean="0"/>
              <a:t>Some of the companies that supply transport services are:</a:t>
            </a:r>
          </a:p>
          <a:p>
            <a:pPr marL="171450" indent="-171450">
              <a:buFont typeface="Arial" charset="0"/>
              <a:buChar char="•"/>
            </a:pPr>
            <a:r>
              <a:rPr lang="en-GB" dirty="0" err="1" smtClean="0"/>
              <a:t>Transporte</a:t>
            </a:r>
            <a:r>
              <a:rPr lang="en-GB" dirty="0" smtClean="0"/>
              <a:t> </a:t>
            </a:r>
            <a:r>
              <a:rPr lang="en-GB" dirty="0" err="1" smtClean="0"/>
              <a:t>Amaral</a:t>
            </a:r>
            <a:r>
              <a:rPr lang="en-GB" dirty="0" smtClean="0"/>
              <a:t> &amp; Frias, </a:t>
            </a:r>
            <a:r>
              <a:rPr lang="en-GB" dirty="0" err="1" smtClean="0"/>
              <a:t>Lda</a:t>
            </a:r>
            <a:r>
              <a:rPr lang="en-GB" dirty="0" smtClean="0"/>
              <a:t>,</a:t>
            </a:r>
          </a:p>
          <a:p>
            <a:pPr marL="171450" indent="-171450">
              <a:buFont typeface="Arial" charset="0"/>
              <a:buChar char="•"/>
            </a:pPr>
            <a:r>
              <a:rPr lang="en-GB" dirty="0" err="1" smtClean="0"/>
              <a:t>Transportes</a:t>
            </a:r>
            <a:r>
              <a:rPr lang="en-GB" dirty="0" smtClean="0"/>
              <a:t> </a:t>
            </a:r>
            <a:r>
              <a:rPr lang="en-GB" dirty="0" err="1" smtClean="0"/>
              <a:t>Rodoviários</a:t>
            </a:r>
            <a:r>
              <a:rPr lang="en-GB" dirty="0" smtClean="0"/>
              <a:t> J. Barroso, </a:t>
            </a:r>
            <a:r>
              <a:rPr lang="en-GB" dirty="0" err="1" smtClean="0"/>
              <a:t>Lda</a:t>
            </a:r>
            <a:r>
              <a:rPr lang="en-GB" dirty="0" smtClean="0"/>
              <a:t>,</a:t>
            </a:r>
          </a:p>
          <a:p>
            <a:pPr marL="171450" indent="-171450">
              <a:buFont typeface="Arial" charset="0"/>
              <a:buChar char="•"/>
            </a:pPr>
            <a:r>
              <a:rPr lang="en-GB" dirty="0" err="1" smtClean="0"/>
              <a:t>Esporgás</a:t>
            </a:r>
            <a:r>
              <a:rPr lang="en-GB" dirty="0" smtClean="0"/>
              <a:t>, </a:t>
            </a:r>
            <a:r>
              <a:rPr lang="en-GB" dirty="0" err="1" smtClean="0"/>
              <a:t>Lda</a:t>
            </a:r>
            <a:r>
              <a:rPr lang="en-GB" dirty="0" smtClean="0"/>
              <a:t>, </a:t>
            </a:r>
            <a:r>
              <a:rPr lang="en-GB" dirty="0" err="1" smtClean="0"/>
              <a:t>Camionagem</a:t>
            </a:r>
            <a:r>
              <a:rPr lang="en-GB" dirty="0" smtClean="0"/>
              <a:t> Central de </a:t>
            </a:r>
            <a:r>
              <a:rPr lang="en-GB" dirty="0" err="1" smtClean="0"/>
              <a:t>Cheleiros</a:t>
            </a:r>
            <a:r>
              <a:rPr lang="en-GB" dirty="0" smtClean="0"/>
              <a:t>, </a:t>
            </a:r>
            <a:r>
              <a:rPr lang="en-GB" dirty="0" err="1" smtClean="0"/>
              <a:t>Lda</a:t>
            </a:r>
            <a:r>
              <a:rPr lang="en-GB" dirty="0" smtClean="0"/>
              <a:t>,</a:t>
            </a:r>
          </a:p>
          <a:p>
            <a:pPr marL="171450" indent="-171450">
              <a:buFont typeface="Arial" charset="0"/>
              <a:buChar char="•"/>
            </a:pPr>
            <a:r>
              <a:rPr lang="en-GB" dirty="0" err="1" smtClean="0"/>
              <a:t>Transportes</a:t>
            </a:r>
            <a:r>
              <a:rPr lang="en-GB" dirty="0" smtClean="0"/>
              <a:t> </a:t>
            </a:r>
            <a:r>
              <a:rPr lang="en-GB" dirty="0" err="1" smtClean="0"/>
              <a:t>Rodoviários</a:t>
            </a:r>
            <a:r>
              <a:rPr lang="en-GB" dirty="0" smtClean="0"/>
              <a:t> Monte da </a:t>
            </a:r>
            <a:r>
              <a:rPr lang="en-GB" dirty="0" err="1" smtClean="0"/>
              <a:t>Caparica</a:t>
            </a:r>
            <a:r>
              <a:rPr lang="en-GB" dirty="0" smtClean="0"/>
              <a:t>, </a:t>
            </a:r>
            <a:r>
              <a:rPr lang="en-GB" dirty="0" err="1" smtClean="0"/>
              <a:t>Lda</a:t>
            </a:r>
            <a:r>
              <a:rPr lang="en-GB" dirty="0" smtClean="0"/>
              <a:t>,</a:t>
            </a:r>
          </a:p>
          <a:p>
            <a:pPr marL="171450" indent="-171450">
              <a:buFont typeface="Arial" charset="0"/>
              <a:buChar char="•"/>
            </a:pPr>
            <a:r>
              <a:rPr lang="en-GB" dirty="0" err="1" smtClean="0"/>
              <a:t>Transportes</a:t>
            </a:r>
            <a:r>
              <a:rPr lang="en-GB" dirty="0" smtClean="0"/>
              <a:t> Paulo Duarte, </a:t>
            </a:r>
            <a:r>
              <a:rPr lang="en-GB" dirty="0" err="1" smtClean="0"/>
              <a:t>Lda</a:t>
            </a:r>
            <a:endParaRPr lang="en-GB" dirty="0" smtClean="0"/>
          </a:p>
          <a:p>
            <a:pPr marL="171450" indent="-171450">
              <a:buFont typeface="Arial" charset="0"/>
              <a:buChar char="•"/>
            </a:pPr>
            <a:r>
              <a:rPr lang="en-GB" dirty="0" err="1" smtClean="0"/>
              <a:t>Transportes</a:t>
            </a:r>
            <a:r>
              <a:rPr lang="en-GB" dirty="0" smtClean="0"/>
              <a:t> </a:t>
            </a:r>
            <a:r>
              <a:rPr lang="en-GB" dirty="0" err="1" smtClean="0"/>
              <a:t>Rodoviários</a:t>
            </a:r>
            <a:r>
              <a:rPr lang="en-GB" dirty="0" smtClean="0"/>
              <a:t> de </a:t>
            </a:r>
            <a:r>
              <a:rPr lang="en-GB" dirty="0" err="1" smtClean="0"/>
              <a:t>Mercadorias</a:t>
            </a:r>
            <a:r>
              <a:rPr lang="en-GB" dirty="0" smtClean="0"/>
              <a:t> da </a:t>
            </a:r>
            <a:r>
              <a:rPr lang="en-GB" dirty="0" err="1" smtClean="0"/>
              <a:t>Agueira</a:t>
            </a:r>
            <a:r>
              <a:rPr lang="en-GB" dirty="0" smtClean="0"/>
              <a:t>, </a:t>
            </a:r>
            <a:r>
              <a:rPr lang="en-GB" dirty="0" err="1" smtClean="0"/>
              <a:t>Lda</a:t>
            </a:r>
            <a:r>
              <a:rPr lang="en-GB" dirty="0" smtClean="0"/>
              <a:t>.</a:t>
            </a:r>
          </a:p>
          <a:p>
            <a:pPr marL="171450" indent="-171450">
              <a:buFont typeface="Arial" charset="0"/>
              <a:buChar char="•"/>
            </a:pPr>
            <a:endParaRPr lang="en-GB" dirty="0" smtClean="0"/>
          </a:p>
          <a:p>
            <a:pPr marL="0" indent="0">
              <a:buFont typeface="Arial" charset="0"/>
              <a:buNone/>
            </a:pPr>
            <a:r>
              <a:rPr lang="en-GB" dirty="0" smtClean="0"/>
              <a:t>Normally the cost of secondary transport between the supply point and the distributor’s storage units is covered by the suppliers and downstream the cost is factored into the price charged to the customer.</a:t>
            </a:r>
          </a:p>
          <a:p>
            <a:pPr marL="0" indent="0">
              <a:buFont typeface="Arial" charset="0"/>
              <a:buNone/>
            </a:pPr>
            <a:endParaRPr lang="en-GB" dirty="0" smtClean="0"/>
          </a:p>
          <a:p>
            <a:pPr marL="0" indent="0">
              <a:buFont typeface="Arial" charset="0"/>
              <a:buNone/>
            </a:pPr>
            <a:r>
              <a:rPr lang="en-GB" dirty="0" smtClean="0"/>
              <a:t>Butane and propane in bottle is sold through a network of first line distributors, who set the prices of the product on the basis of purchase prices and the specific situations in the area where they sell. The wholesalers are supplied by the oil companies as per the orders they put in and are bound by contracts that provide for technical and commercial support, equipment on a no-charge basis (especially the bottles themselves), measuring and illustrational equipment (for example display units for their point of sale, connectors, rubber tubing and clips). The contract also in many cases includes management software that is specific for sales of bottled LPG. In terms of the four companies - Galp, Esso, </a:t>
            </a:r>
            <a:r>
              <a:rPr lang="en-GB" dirty="0" err="1" smtClean="0"/>
              <a:t>Repsol</a:t>
            </a:r>
            <a:r>
              <a:rPr lang="en-GB" dirty="0" smtClean="0"/>
              <a:t> and BP – they have around 1,000 first line distributors in Portugal.</a:t>
            </a:r>
            <a:br>
              <a:rPr lang="en-GB" dirty="0" smtClean="0"/>
            </a:br>
            <a:r>
              <a:rPr lang="en-GB" dirty="0" smtClean="0"/>
              <a:t/>
            </a:r>
            <a:br>
              <a:rPr lang="en-GB" dirty="0" smtClean="0"/>
            </a:br>
            <a:r>
              <a:rPr lang="en-GB" dirty="0" smtClean="0"/>
              <a:t>The contractual relationships between the suppliers and the first line distributors are governed by supply contracts. In general, these contracts contain the following terms:</a:t>
            </a:r>
            <a:br>
              <a:rPr lang="en-GB" dirty="0" smtClean="0"/>
            </a:br>
            <a:r>
              <a:rPr lang="en-GB" dirty="0" smtClean="0"/>
              <a:t>(</a:t>
            </a:r>
            <a:r>
              <a:rPr lang="en-GB" dirty="0" err="1" smtClean="0"/>
              <a:t>i</a:t>
            </a:r>
            <a:r>
              <a:rPr lang="en-GB" dirty="0" smtClean="0"/>
              <a:t>) they are exclusive, with demarcation of specific geographical areas;</a:t>
            </a:r>
            <a:br>
              <a:rPr lang="en-GB" dirty="0" smtClean="0"/>
            </a:br>
            <a:r>
              <a:rPr lang="en-GB" dirty="0" smtClean="0"/>
              <a:t>(ii) the first line distributors can use their own network of second line distributors;</a:t>
            </a:r>
            <a:br>
              <a:rPr lang="en-GB" dirty="0" smtClean="0"/>
            </a:br>
            <a:r>
              <a:rPr lang="en-GB" dirty="0" smtClean="0"/>
              <a:t>(iii) the bottles of LPG, the pallets for transport and display and advertising material belong to the supplier;</a:t>
            </a:r>
            <a:br>
              <a:rPr lang="en-GB" dirty="0" smtClean="0"/>
            </a:br>
            <a:r>
              <a:rPr lang="en-GB" dirty="0" smtClean="0"/>
              <a:t>(iv) the products are normally delivered to the warehouse of the first line distributors, and these must have licenced premises in accordance with the standards in force and</a:t>
            </a:r>
            <a:br>
              <a:rPr lang="en-GB" dirty="0" smtClean="0"/>
            </a:br>
            <a:r>
              <a:rPr lang="en-GB" dirty="0" smtClean="0"/>
              <a:t>(v) the offloading of the bottles of butane and propane is to the account and at the responsibility of the first line distributors. </a:t>
            </a:r>
          </a:p>
          <a:p>
            <a:pPr marL="0" indent="0">
              <a:buFont typeface="Arial" charset="0"/>
              <a:buNone/>
            </a:pPr>
            <a:endParaRPr lang="en-GB" dirty="0" smtClean="0"/>
          </a:p>
          <a:p>
            <a:pPr marL="0" indent="0">
              <a:buFont typeface="Arial" charset="0"/>
              <a:buNone/>
            </a:pPr>
            <a:r>
              <a:rPr lang="en-GB" dirty="0" smtClean="0"/>
              <a:t>(Source: http://</a:t>
            </a:r>
            <a:r>
              <a:rPr lang="en-GB" dirty="0" err="1" smtClean="0"/>
              <a:t>www.concorrencia.pt</a:t>
            </a:r>
            <a:r>
              <a:rPr lang="en-GB" dirty="0" smtClean="0"/>
              <a:t>/</a:t>
            </a:r>
            <a:r>
              <a:rPr lang="en-GB" dirty="0" err="1" smtClean="0"/>
              <a:t>vEN</a:t>
            </a:r>
            <a:r>
              <a:rPr lang="en-GB" dirty="0" smtClean="0"/>
              <a:t>/</a:t>
            </a:r>
            <a:r>
              <a:rPr lang="en-GB" dirty="0" err="1" smtClean="0"/>
              <a:t>Estudos_e_Publicacoes</a:t>
            </a:r>
            <a:r>
              <a:rPr lang="en-GB" dirty="0" smtClean="0"/>
              <a:t>/</a:t>
            </a:r>
            <a:r>
              <a:rPr lang="en-GB" dirty="0" err="1" smtClean="0"/>
              <a:t>Estudos_Economicos</a:t>
            </a:r>
            <a:r>
              <a:rPr lang="en-GB" dirty="0" smtClean="0"/>
              <a:t>/</a:t>
            </a:r>
            <a:r>
              <a:rPr lang="en-GB" dirty="0" err="1" smtClean="0"/>
              <a:t>Energia_e_Combustiveis</a:t>
            </a:r>
            <a:r>
              <a:rPr lang="en-GB" dirty="0" smtClean="0"/>
              <a:t>/Documents/Final_Report_on_Liquid_and_Gas_Fuels_March_2009_English_version.pdf)</a:t>
            </a:r>
          </a:p>
          <a:p>
            <a:pPr marL="0" indent="0">
              <a:buFont typeface="Arial" charset="0"/>
              <a:buNone/>
            </a:pPr>
            <a:endParaRPr lang="en-GB" dirty="0" smtClean="0"/>
          </a:p>
          <a:p>
            <a:pPr marL="0" indent="0">
              <a:buFont typeface="Arial" charset="0"/>
              <a:buNone/>
            </a:pP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9</a:t>
            </a:fld>
            <a:endParaRPr lang="en-GB"/>
          </a:p>
        </p:txBody>
      </p:sp>
    </p:spTree>
    <p:extLst>
      <p:ext uri="{BB962C8B-B14F-4D97-AF65-F5344CB8AC3E}">
        <p14:creationId xmlns:p14="http://schemas.microsoft.com/office/powerpoint/2010/main" val="187466293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smtClean="0"/>
              <a:t>Additional value could eventually be captured</a:t>
            </a:r>
            <a:r>
              <a:rPr lang="en-GB" baseline="0" smtClean="0"/>
              <a:t> by serving as a buffer between customer and distributers by insuring that final customer is getting the value equivalent to the gas left in the cylinder back and negotiating with distributers.</a:t>
            </a:r>
          </a:p>
          <a:p>
            <a:pPr marL="0" marR="0" indent="0" algn="l" defTabSz="914400" rtl="0" eaLnBrk="1" fontAlgn="auto" latinLnBrk="0" hangingPunct="1">
              <a:lnSpc>
                <a:spcPct val="100000"/>
              </a:lnSpc>
              <a:spcBef>
                <a:spcPts val="0"/>
              </a:spcBef>
              <a:spcAft>
                <a:spcPts val="0"/>
              </a:spcAft>
              <a:buClrTx/>
              <a:buSzTx/>
              <a:buFontTx/>
              <a:buNone/>
              <a:tabLst/>
              <a:defRPr/>
            </a:pPr>
            <a:endParaRPr lang="en-GB" sz="1200" smtClean="0"/>
          </a:p>
          <a:p>
            <a:pPr marL="0" marR="0" indent="0" algn="l" defTabSz="914400" rtl="0" eaLnBrk="1" fontAlgn="auto" latinLnBrk="0" hangingPunct="1">
              <a:lnSpc>
                <a:spcPct val="100000"/>
              </a:lnSpc>
              <a:spcBef>
                <a:spcPts val="0"/>
              </a:spcBef>
              <a:spcAft>
                <a:spcPts val="0"/>
              </a:spcAft>
              <a:buClrTx/>
              <a:buSzTx/>
              <a:buFontTx/>
              <a:buNone/>
              <a:tabLst/>
              <a:defRPr/>
            </a:pPr>
            <a:r>
              <a:rPr lang="en-GB" sz="1200" smtClean="0"/>
              <a:t>Average of 300 gr per cylinder is unconsumed which amount to </a:t>
            </a:r>
            <a:r>
              <a:rPr lang="en-GB" sz="1200" b="1" smtClean="0">
                <a:solidFill>
                  <a:srgbClr val="FFFF00"/>
                </a:solidFill>
              </a:rPr>
              <a:t>72 € </a:t>
            </a:r>
            <a:r>
              <a:rPr lang="en-GB" sz="1200" smtClean="0"/>
              <a:t>year</a:t>
            </a:r>
          </a:p>
          <a:p>
            <a:endParaRPr lang="en-GB"/>
          </a:p>
        </p:txBody>
      </p:sp>
      <p:sp>
        <p:nvSpPr>
          <p:cNvPr id="4" name="Slide Number Placeholder 3"/>
          <p:cNvSpPr>
            <a:spLocks noGrp="1"/>
          </p:cNvSpPr>
          <p:nvPr>
            <p:ph type="sldNum" sz="quarter" idx="10"/>
          </p:nvPr>
        </p:nvSpPr>
        <p:spPr/>
        <p:txBody>
          <a:bodyPr/>
          <a:lstStyle/>
          <a:p>
            <a:fld id="{21CD3B65-C00C-BF43-8F7A-9C8E67DE6347}" type="slidenum">
              <a:rPr lang="en-GB" smtClean="0"/>
              <a:t>10</a:t>
            </a:fld>
            <a:endParaRPr lang="en-GB"/>
          </a:p>
        </p:txBody>
      </p:sp>
    </p:spTree>
    <p:extLst>
      <p:ext uri="{BB962C8B-B14F-4D97-AF65-F5344CB8AC3E}">
        <p14:creationId xmlns:p14="http://schemas.microsoft.com/office/powerpoint/2010/main" val="194761471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indent="0">
              <a:spcBef>
                <a:spcPts val="0"/>
              </a:spcBef>
              <a:spcAft>
                <a:spcPts val="2400"/>
              </a:spcAft>
              <a:buFont typeface="Arial" charset="0"/>
              <a:buNone/>
            </a:pPr>
            <a:r>
              <a:rPr lang="en-GB" sz="1200" dirty="0" smtClean="0">
                <a:solidFill>
                  <a:schemeClr val="bg1"/>
                </a:solidFill>
                <a:effectLst>
                  <a:outerShdw blurRad="50800" dist="76200" dir="2700000" algn="tl" rotWithShape="0">
                    <a:prstClr val="black">
                      <a:alpha val="40000"/>
                    </a:prstClr>
                  </a:outerShdw>
                </a:effectLst>
              </a:rPr>
              <a:t>Beside</a:t>
            </a:r>
          </a:p>
          <a:p>
            <a:pPr marL="171450" indent="-171450">
              <a:spcBef>
                <a:spcPts val="0"/>
              </a:spcBef>
              <a:spcAft>
                <a:spcPts val="2400"/>
              </a:spcAft>
              <a:buFont typeface="Arial" charset="0"/>
              <a:buChar char="•"/>
            </a:pPr>
            <a:r>
              <a:rPr lang="en-GB" sz="1200" dirty="0" smtClean="0">
                <a:solidFill>
                  <a:schemeClr val="bg1"/>
                </a:solidFill>
                <a:effectLst>
                  <a:outerShdw blurRad="50800" dist="76200" dir="2700000" algn="tl" rotWithShape="0">
                    <a:prstClr val="black">
                      <a:alpha val="40000"/>
                    </a:prstClr>
                  </a:outerShdw>
                </a:effectLst>
              </a:rPr>
              <a:t>LPG </a:t>
            </a:r>
            <a:r>
              <a:rPr lang="en-GB" sz="1200" b="1" dirty="0" smtClean="0">
                <a:solidFill>
                  <a:srgbClr val="57CABF"/>
                </a:solidFill>
                <a:effectLst>
                  <a:outerShdw blurRad="50800" dist="76200" dir="2700000" algn="tl" rotWithShape="0">
                    <a:prstClr val="black">
                      <a:alpha val="40000"/>
                    </a:prstClr>
                  </a:outerShdw>
                </a:effectLst>
              </a:rPr>
              <a:t>brands</a:t>
            </a:r>
          </a:p>
          <a:p>
            <a:pPr marL="171450" indent="-171450">
              <a:spcBef>
                <a:spcPts val="0"/>
              </a:spcBef>
              <a:spcAft>
                <a:spcPts val="2400"/>
              </a:spcAft>
              <a:buFont typeface="Arial" charset="0"/>
              <a:buChar char="•"/>
            </a:pPr>
            <a:r>
              <a:rPr lang="en-GB" sz="1200" dirty="0" smtClean="0">
                <a:solidFill>
                  <a:schemeClr val="bg1"/>
                </a:solidFill>
                <a:effectLst>
                  <a:outerShdw blurRad="50800" dist="76200" dir="2700000" algn="tl" rotWithShape="0">
                    <a:prstClr val="black">
                      <a:alpha val="40000"/>
                    </a:prstClr>
                  </a:outerShdw>
                </a:effectLst>
              </a:rPr>
              <a:t>Gas cylinders</a:t>
            </a:r>
            <a:r>
              <a:rPr lang="en-GB" sz="1200" dirty="0" smtClean="0">
                <a:effectLst>
                  <a:outerShdw blurRad="50800" dist="76200" dir="2700000" algn="tl" rotWithShape="0">
                    <a:prstClr val="black">
                      <a:alpha val="40000"/>
                    </a:prstClr>
                  </a:outerShdw>
                </a:effectLst>
              </a:rPr>
              <a:t> </a:t>
            </a:r>
            <a:r>
              <a:rPr lang="en-GB" sz="1200" b="1" dirty="0" smtClean="0">
                <a:solidFill>
                  <a:srgbClr val="57CABF"/>
                </a:solidFill>
                <a:effectLst>
                  <a:outerShdw blurRad="50800" dist="76200" dir="2700000" algn="tl" rotWithShape="0">
                    <a:prstClr val="black">
                      <a:alpha val="40000"/>
                    </a:prstClr>
                  </a:outerShdw>
                </a:effectLst>
              </a:rPr>
              <a:t>manufacturers</a:t>
            </a:r>
          </a:p>
          <a:p>
            <a:pPr marL="171450" indent="-171450">
              <a:spcBef>
                <a:spcPts val="0"/>
              </a:spcBef>
              <a:spcAft>
                <a:spcPts val="2400"/>
              </a:spcAft>
              <a:buFont typeface="Arial" charset="0"/>
              <a:buChar char="•"/>
            </a:pPr>
            <a:r>
              <a:rPr lang="en-GB" sz="1200" dirty="0" smtClean="0">
                <a:solidFill>
                  <a:schemeClr val="bg1"/>
                </a:solidFill>
                <a:effectLst>
                  <a:outerShdw blurRad="50800" dist="76200" dir="2700000" algn="tl" rotWithShape="0">
                    <a:prstClr val="black">
                      <a:alpha val="40000"/>
                    </a:prstClr>
                  </a:outerShdw>
                </a:effectLst>
              </a:rPr>
              <a:t>M2M / </a:t>
            </a:r>
            <a:r>
              <a:rPr lang="en-GB" sz="1200" b="1" dirty="0" smtClean="0">
                <a:solidFill>
                  <a:srgbClr val="57CABF"/>
                </a:solidFill>
                <a:effectLst>
                  <a:outerShdw blurRad="50800" dist="76200" dir="2700000" algn="tl" rotWithShape="0">
                    <a:prstClr val="black">
                      <a:alpha val="40000"/>
                    </a:prstClr>
                  </a:outerShdw>
                </a:effectLst>
              </a:rPr>
              <a:t>Telemetry</a:t>
            </a:r>
            <a:r>
              <a:rPr lang="en-GB" sz="1200" dirty="0" smtClean="0">
                <a:effectLst>
                  <a:outerShdw blurRad="50800" dist="76200" dir="2700000" algn="tl" rotWithShape="0">
                    <a:prstClr val="black">
                      <a:alpha val="40000"/>
                    </a:prstClr>
                  </a:outerShdw>
                </a:effectLst>
              </a:rPr>
              <a:t> </a:t>
            </a:r>
            <a:r>
              <a:rPr lang="en-GB" sz="1200" dirty="0" smtClean="0">
                <a:solidFill>
                  <a:schemeClr val="bg1"/>
                </a:solidFill>
                <a:effectLst>
                  <a:outerShdw blurRad="50800" dist="76200" dir="2700000" algn="tl" rotWithShape="0">
                    <a:prstClr val="black">
                      <a:alpha val="40000"/>
                    </a:prstClr>
                  </a:outerShdw>
                </a:effectLst>
              </a:rPr>
              <a:t>specialist</a:t>
            </a:r>
          </a:p>
          <a:p>
            <a:pPr marL="171450" indent="-171450">
              <a:spcBef>
                <a:spcPts val="0"/>
              </a:spcBef>
              <a:spcAft>
                <a:spcPts val="2400"/>
              </a:spcAft>
              <a:buFont typeface="Arial" charset="0"/>
              <a:buChar char="•"/>
            </a:pPr>
            <a:r>
              <a:rPr lang="en-GB" sz="1200" dirty="0" smtClean="0">
                <a:solidFill>
                  <a:schemeClr val="bg1"/>
                </a:solidFill>
                <a:effectLst>
                  <a:outerShdw blurRad="50800" dist="76200" dir="2700000" algn="tl" rotWithShape="0">
                    <a:prstClr val="black">
                      <a:alpha val="40000"/>
                    </a:prstClr>
                  </a:outerShdw>
                </a:effectLst>
              </a:rPr>
              <a:t>Other</a:t>
            </a:r>
            <a:r>
              <a:rPr lang="en-GB" sz="1200" dirty="0" smtClean="0">
                <a:effectLst>
                  <a:outerShdw blurRad="50800" dist="76200" dir="2700000" algn="tl" rotWithShape="0">
                    <a:prstClr val="black">
                      <a:alpha val="40000"/>
                    </a:prstClr>
                  </a:outerShdw>
                </a:effectLst>
              </a:rPr>
              <a:t> </a:t>
            </a:r>
            <a:r>
              <a:rPr lang="en-GB" sz="1200" b="1" dirty="0" err="1" smtClean="0">
                <a:solidFill>
                  <a:srgbClr val="57CABF"/>
                </a:solidFill>
                <a:effectLst>
                  <a:outerShdw blurRad="50800" dist="76200" dir="2700000" algn="tl" rotWithShape="0">
                    <a:prstClr val="black">
                      <a:alpha val="40000"/>
                    </a:prstClr>
                  </a:outerShdw>
                </a:effectLst>
              </a:rPr>
              <a:t>Nesto’s</a:t>
            </a:r>
            <a:r>
              <a:rPr lang="en-GB" sz="1200" b="1" dirty="0" smtClean="0">
                <a:solidFill>
                  <a:schemeClr val="bg1"/>
                </a:solidFill>
                <a:effectLst>
                  <a:outerShdw blurRad="50800" dist="76200" dir="2700000" algn="tl" rotWithShape="0">
                    <a:prstClr val="black">
                      <a:alpha val="40000"/>
                    </a:prstClr>
                  </a:outerShdw>
                </a:effectLst>
              </a:rPr>
              <a:t>?</a:t>
            </a:r>
          </a:p>
          <a:p>
            <a:r>
              <a:rPr lang="en-GB" sz="1200" b="0" i="0" kern="1200" dirty="0" smtClean="0">
                <a:solidFill>
                  <a:schemeClr val="tx1"/>
                </a:solidFill>
                <a:effectLst/>
                <a:latin typeface="+mn-lt"/>
                <a:ea typeface="+mn-ea"/>
                <a:cs typeface="+mn-cs"/>
              </a:rPr>
              <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About transparent cylinders:</a:t>
            </a:r>
            <a:br>
              <a:rPr lang="en-GB" sz="1200" b="0" i="0" kern="1200" dirty="0" smtClean="0">
                <a:solidFill>
                  <a:schemeClr val="tx1"/>
                </a:solidFill>
                <a:effectLst/>
                <a:latin typeface="+mn-lt"/>
                <a:ea typeface="+mn-ea"/>
                <a:cs typeface="+mn-cs"/>
              </a:rPr>
            </a:br>
            <a:r>
              <a:rPr lang="en-GB" sz="1200" b="0" i="0" kern="1200" dirty="0" smtClean="0">
                <a:solidFill>
                  <a:schemeClr val="tx1"/>
                </a:solidFill>
                <a:effectLst/>
                <a:latin typeface="+mn-lt"/>
                <a:ea typeface="+mn-ea"/>
                <a:cs typeface="+mn-cs"/>
              </a:rPr>
              <a:t>COMET cylinder is not transparent, avoiding the impression caused on end customers when ob­serv­ing the liquid gas vaporization (boiling) and noticing the gas residue when the cylinder is “empty”.</a:t>
            </a:r>
            <a:endParaRPr lang="en-GB" b="1" dirty="0"/>
          </a:p>
        </p:txBody>
      </p:sp>
      <p:sp>
        <p:nvSpPr>
          <p:cNvPr id="4" name="Slide Number Placeholder 3"/>
          <p:cNvSpPr>
            <a:spLocks noGrp="1"/>
          </p:cNvSpPr>
          <p:nvPr>
            <p:ph type="sldNum" sz="quarter" idx="10"/>
          </p:nvPr>
        </p:nvSpPr>
        <p:spPr/>
        <p:txBody>
          <a:bodyPr/>
          <a:lstStyle/>
          <a:p>
            <a:fld id="{21CD3B65-C00C-BF43-8F7A-9C8E67DE6347}" type="slidenum">
              <a:rPr lang="en-GB" smtClean="0"/>
              <a:t>11</a:t>
            </a:fld>
            <a:endParaRPr lang="en-GB"/>
          </a:p>
        </p:txBody>
      </p:sp>
    </p:spTree>
    <p:extLst>
      <p:ext uri="{BB962C8B-B14F-4D97-AF65-F5344CB8AC3E}">
        <p14:creationId xmlns:p14="http://schemas.microsoft.com/office/powerpoint/2010/main" val="192149033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dirty="0" smtClean="0"/>
              <a:t>Mention Nanotech</a:t>
            </a:r>
          </a:p>
          <a:p>
            <a:pPr marL="228600" indent="-228600">
              <a:buAutoNum type="arabicPeriod"/>
            </a:pPr>
            <a:r>
              <a:rPr lang="en-GB" dirty="0" smtClean="0"/>
              <a:t>Speak of complete view of the logistics system</a:t>
            </a:r>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12</a:t>
            </a:fld>
            <a:endParaRPr lang="en-GB"/>
          </a:p>
        </p:txBody>
      </p:sp>
    </p:spTree>
    <p:extLst>
      <p:ext uri="{BB962C8B-B14F-4D97-AF65-F5344CB8AC3E}">
        <p14:creationId xmlns:p14="http://schemas.microsoft.com/office/powerpoint/2010/main" val="6923794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28600" indent="-228600">
              <a:buAutoNum type="arabicPeriod"/>
            </a:pPr>
            <a:r>
              <a:rPr lang="en-GB" dirty="0" smtClean="0"/>
              <a:t>Will organize a working weekend</a:t>
            </a:r>
            <a:r>
              <a:rPr lang="en-GB" baseline="0" dirty="0" smtClean="0"/>
              <a:t> to gather all CEO’s partners.</a:t>
            </a:r>
            <a:endParaRPr lang="en-GB" dirty="0" smtClean="0"/>
          </a:p>
          <a:p>
            <a:pPr marL="228600" indent="-228600">
              <a:buAutoNum type="arabicPeriod"/>
            </a:pPr>
            <a:r>
              <a:rPr lang="en-GB" dirty="0" smtClean="0"/>
              <a:t>Smart</a:t>
            </a:r>
            <a:r>
              <a:rPr lang="en-GB" baseline="0" dirty="0" smtClean="0"/>
              <a:t> algorithm to propose delivery time where the user is likely to be at home.</a:t>
            </a:r>
            <a:endParaRPr lang="en-GB" dirty="0" smtClean="0"/>
          </a:p>
          <a:p>
            <a:pPr marL="228600" indent="-228600">
              <a:buFont typeface="+mj-lt"/>
              <a:buAutoNum type="arabicPeriod"/>
            </a:pPr>
            <a:r>
              <a:rPr lang="en-GB" dirty="0" smtClean="0"/>
              <a:t>Other partnership.</a:t>
            </a:r>
            <a:br>
              <a:rPr lang="en-GB" dirty="0" smtClean="0"/>
            </a:br>
            <a:r>
              <a:rPr lang="en-GB" dirty="0" smtClean="0"/>
              <a:t>- </a:t>
            </a:r>
            <a:r>
              <a:rPr lang="en-GB" baseline="0" dirty="0" err="1" smtClean="0"/>
              <a:t>Nanolike</a:t>
            </a:r>
            <a:r>
              <a:rPr lang="en-GB" baseline="0" dirty="0" smtClean="0"/>
              <a:t/>
            </a:r>
            <a:br>
              <a:rPr lang="en-GB" baseline="0" dirty="0" smtClean="0"/>
            </a:br>
            <a:r>
              <a:rPr lang="en-GB" baseline="0" dirty="0" smtClean="0"/>
              <a:t>- </a:t>
            </a:r>
            <a:r>
              <a:rPr lang="en-GB" baseline="0" dirty="0" err="1" smtClean="0"/>
              <a:t>Connit</a:t>
            </a:r>
            <a:r>
              <a:rPr lang="en-GB" baseline="0" dirty="0" smtClean="0"/>
              <a:t> &amp; </a:t>
            </a:r>
            <a:r>
              <a:rPr lang="en-GB" baseline="0" dirty="0" err="1" smtClean="0"/>
              <a:t>Gazbox</a:t>
            </a:r>
            <a:r>
              <a:rPr lang="en-GB" baseline="0" dirty="0" smtClean="0"/>
              <a:t/>
            </a:r>
            <a:br>
              <a:rPr lang="en-GB" baseline="0" dirty="0" smtClean="0"/>
            </a:br>
            <a:r>
              <a:rPr lang="en-GB" baseline="0" dirty="0" smtClean="0"/>
              <a:t>- </a:t>
            </a:r>
            <a:r>
              <a:rPr lang="en-GB" dirty="0" smtClean="0"/>
              <a:t>NTU</a:t>
            </a:r>
            <a:r>
              <a:rPr lang="en-GB" baseline="0" dirty="0" smtClean="0"/>
              <a:t> </a:t>
            </a:r>
            <a:r>
              <a:rPr lang="pt-PT" baseline="0" dirty="0" smtClean="0"/>
              <a:t>(</a:t>
            </a:r>
            <a:r>
              <a:rPr lang="en-GB" baseline="0" dirty="0" smtClean="0"/>
              <a:t>Singapore)</a:t>
            </a:r>
          </a:p>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13</a:t>
            </a:fld>
            <a:endParaRPr lang="en-GB" dirty="0"/>
          </a:p>
        </p:txBody>
      </p:sp>
    </p:spTree>
    <p:extLst>
      <p:ext uri="{BB962C8B-B14F-4D97-AF65-F5344CB8AC3E}">
        <p14:creationId xmlns:p14="http://schemas.microsoft.com/office/powerpoint/2010/main" val="1088218635"/>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smtClean="0"/>
              <a:t>Explain that Pedro is a</a:t>
            </a:r>
            <a:r>
              <a:rPr lang="en-GB" baseline="0" dirty="0" smtClean="0"/>
              <a:t> temporary member.</a:t>
            </a:r>
          </a:p>
          <a:p>
            <a:r>
              <a:rPr lang="en-GB" baseline="0" dirty="0" smtClean="0"/>
              <a:t>Plan to find a suitable CFO is to follow the Founder Institute session that will start in October 2016 and end in Jan 2017.</a:t>
            </a: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14</a:t>
            </a:fld>
            <a:endParaRPr lang="en-GB"/>
          </a:p>
        </p:txBody>
      </p:sp>
    </p:spTree>
    <p:extLst>
      <p:ext uri="{BB962C8B-B14F-4D97-AF65-F5344CB8AC3E}">
        <p14:creationId xmlns:p14="http://schemas.microsoft.com/office/powerpoint/2010/main" val="580040686"/>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Tx/>
              <a:buChar char="-"/>
            </a:pPr>
            <a:r>
              <a:rPr lang="en-GB" dirty="0" smtClean="0"/>
              <a:t>Accepted</a:t>
            </a:r>
            <a:r>
              <a:rPr lang="en-GB" baseline="0" dirty="0" smtClean="0"/>
              <a:t> by </a:t>
            </a:r>
            <a:r>
              <a:rPr lang="en-GB" baseline="0" dirty="0" err="1" smtClean="0"/>
              <a:t>BrightPixel</a:t>
            </a:r>
            <a:endParaRPr lang="en-GB" baseline="0" dirty="0" smtClean="0"/>
          </a:p>
          <a:p>
            <a:pPr marL="171450" indent="-171450">
              <a:buFontTx/>
              <a:buChar char="-"/>
            </a:pPr>
            <a:r>
              <a:rPr lang="en-GB" baseline="0" dirty="0" smtClean="0"/>
              <a:t>Accepted by Vodafone </a:t>
            </a:r>
            <a:r>
              <a:rPr lang="en-GB" baseline="0" dirty="0" err="1" smtClean="0"/>
              <a:t>PowerLab</a:t>
            </a:r>
            <a:endParaRPr lang="en-GB" baseline="0" dirty="0" smtClean="0"/>
          </a:p>
          <a:p>
            <a:pPr marL="171450" indent="-171450">
              <a:buFontTx/>
              <a:buChar char="-"/>
            </a:pPr>
            <a:r>
              <a:rPr lang="en-GB" baseline="0" dirty="0" smtClean="0"/>
              <a:t>EDP is watching us</a:t>
            </a:r>
          </a:p>
          <a:p>
            <a:pPr marL="171450" indent="-171450">
              <a:buFontTx/>
              <a:buChar char="-"/>
            </a:pPr>
            <a:r>
              <a:rPr lang="en-GB" baseline="0" dirty="0" smtClean="0"/>
              <a:t>Alpha Pass Summit from MEO</a:t>
            </a:r>
          </a:p>
          <a:p>
            <a:pPr marL="171450" indent="-171450">
              <a:buFontTx/>
              <a:buChar char="-"/>
            </a:pPr>
            <a:r>
              <a:rPr lang="en-GB" dirty="0" smtClean="0"/>
              <a:t>Founder Institute in October</a:t>
            </a:r>
          </a:p>
          <a:p>
            <a:pPr marL="171450" indent="-171450">
              <a:buFontTx/>
              <a:buChar char="-"/>
            </a:pPr>
            <a:r>
              <a:rPr lang="en-GB" dirty="0" smtClean="0"/>
              <a:t>Invited</a:t>
            </a:r>
            <a:r>
              <a:rPr lang="en-GB" baseline="0" dirty="0" smtClean="0"/>
              <a:t> by </a:t>
            </a:r>
            <a:r>
              <a:rPr lang="en-GB" baseline="0" dirty="0" err="1" smtClean="0"/>
              <a:t>HWTrek</a:t>
            </a:r>
            <a:r>
              <a:rPr lang="en-GB" baseline="0" dirty="0" smtClean="0"/>
              <a:t> to Asian Tour</a:t>
            </a:r>
          </a:p>
          <a:p>
            <a:pPr marL="171450" indent="-171450">
              <a:buFontTx/>
              <a:buChar char="-"/>
            </a:pPr>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15</a:t>
            </a:fld>
            <a:endParaRPr lang="en-GB"/>
          </a:p>
        </p:txBody>
      </p:sp>
    </p:spTree>
    <p:extLst>
      <p:ext uri="{BB962C8B-B14F-4D97-AF65-F5344CB8AC3E}">
        <p14:creationId xmlns:p14="http://schemas.microsoft.com/office/powerpoint/2010/main" val="157109035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10"/>
          </p:nvPr>
        </p:nvSpPr>
        <p:spPr/>
        <p:txBody>
          <a:bodyPr/>
          <a:lstStyle/>
          <a:p>
            <a:fld id="{21CD3B65-C00C-BF43-8F7A-9C8E67DE6347}" type="slidenum">
              <a:rPr lang="en-GB" smtClean="0"/>
              <a:t>16</a:t>
            </a:fld>
            <a:endParaRPr lang="en-GB"/>
          </a:p>
        </p:txBody>
      </p:sp>
    </p:spTree>
    <p:extLst>
      <p:ext uri="{BB962C8B-B14F-4D97-AF65-F5344CB8AC3E}">
        <p14:creationId xmlns:p14="http://schemas.microsoft.com/office/powerpoint/2010/main" val="109267673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810001" y="1449147"/>
            <a:ext cx="10572000" cy="2971051"/>
          </a:xfrm>
        </p:spPr>
        <p:txBody>
          <a:bodyPr/>
          <a:lstStyle>
            <a:lvl1pPr>
              <a:defRPr sz="5400" baseline="0">
                <a:latin typeface="Comfortaa Thin" charset="0"/>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810001" y="5280847"/>
            <a:ext cx="10572000" cy="434974"/>
          </a:xfrm>
        </p:spPr>
        <p:txBody>
          <a:bodyPr anchor="t"/>
          <a:lstStyle>
            <a:lvl1pPr marL="0" indent="0" algn="l">
              <a:buNone/>
              <a:defRPr baseline="0">
                <a:solidFill>
                  <a:schemeClr val="tx1"/>
                </a:solidFill>
                <a:latin typeface="raleway"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smtClean="0"/>
              <a:t>Click to edit Master subtitle style</a:t>
            </a:r>
            <a:endParaRPr lang="en-US" dirty="0"/>
          </a:p>
        </p:txBody>
      </p:sp>
      <p:sp>
        <p:nvSpPr>
          <p:cNvPr id="4" name="Date Placeholder 3"/>
          <p:cNvSpPr>
            <a:spLocks noGrp="1"/>
          </p:cNvSpPr>
          <p:nvPr>
            <p:ph type="dt" sz="half" idx="10"/>
          </p:nvPr>
        </p:nvSpPr>
        <p:spPr/>
        <p:txBody>
          <a:bodyPr/>
          <a:lstStyle/>
          <a:p>
            <a:fld id="{08B9EBBA-996F-894A-B54A-D6246ED52CEA}" type="datetimeFigureOut">
              <a:rPr lang="en-US"/>
              <a:pPr/>
              <a:t>11/15/16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810000" y="447188"/>
            <a:ext cx="10571998" cy="970450"/>
          </a:xfrm>
        </p:spPr>
        <p:txBody>
          <a:bodyPr/>
          <a:lstStyle/>
          <a:p>
            <a:r>
              <a:rPr lang="en-US" smtClean="0"/>
              <a:t>Click to edit Master title style</a:t>
            </a:r>
            <a:endParaRPr lang="en-US" dirty="0"/>
          </a:p>
        </p:txBody>
      </p:sp>
      <p:sp>
        <p:nvSpPr>
          <p:cNvPr id="3" name="Content Placeholder 2"/>
          <p:cNvSpPr>
            <a:spLocks noGrp="1"/>
          </p:cNvSpPr>
          <p:nvPr>
            <p:ph idx="1"/>
          </p:nvPr>
        </p:nvSpPr>
        <p:spPr>
          <a:xfrm>
            <a:off x="818712" y="2222287"/>
            <a:ext cx="10554574" cy="3636511"/>
          </a:xfrm>
        </p:spPr>
        <p:txBody>
          <a:bodyPr/>
          <a:lstStyle>
            <a:lvl1pPr>
              <a:defRPr baseline="0">
                <a:latin typeface="Raleway Light" charset="0"/>
              </a:defRPr>
            </a:lvl1pPr>
            <a:lvl2pPr>
              <a:defRPr baseline="0">
                <a:latin typeface="Raleway Light" charset="0"/>
              </a:defRPr>
            </a:lvl2pPr>
            <a:lvl3pPr>
              <a:defRPr baseline="0">
                <a:latin typeface="Raleway Light" charset="0"/>
              </a:defRPr>
            </a:lvl3pPr>
            <a:lvl4pPr>
              <a:defRPr baseline="0">
                <a:latin typeface="Raleway Light" charset="0"/>
              </a:defRPr>
            </a:lvl4pPr>
            <a:lvl5pPr>
              <a:defRPr baseline="0">
                <a:latin typeface="Raleway Light" charset="0"/>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Date Placeholder 3"/>
          <p:cNvSpPr>
            <a:spLocks noGrp="1"/>
          </p:cNvSpPr>
          <p:nvPr>
            <p:ph type="dt" sz="half" idx="10"/>
          </p:nvPr>
        </p:nvSpPr>
        <p:spPr/>
        <p:txBody>
          <a:bodyPr/>
          <a:lstStyle/>
          <a:p>
            <a:fld id="{9B3A1323-8D79-1946-B0D7-40001CF92E9D}" type="datetimeFigureOut">
              <a:rPr lang="en-US"/>
              <a:pPr/>
              <a:t>11/15/16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10000" y="2951396"/>
            <a:ext cx="10561418" cy="1468800"/>
          </a:xfrm>
        </p:spPr>
        <p:txBody>
          <a:bodyPr anchor="b"/>
          <a:lstStyle>
            <a:lvl1pPr algn="r">
              <a:defRPr sz="4800" b="1" cap="none"/>
            </a:lvl1pPr>
          </a:lstStyle>
          <a:p>
            <a:r>
              <a:rPr lang="en-US" smtClean="0"/>
              <a:t>Click to edit Master title style</a:t>
            </a:r>
            <a:endParaRPr lang="en-US" dirty="0"/>
          </a:p>
        </p:txBody>
      </p:sp>
      <p:sp>
        <p:nvSpPr>
          <p:cNvPr id="3" name="Text Placeholder 2"/>
          <p:cNvSpPr>
            <a:spLocks noGrp="1"/>
          </p:cNvSpPr>
          <p:nvPr>
            <p:ph type="body" idx="1"/>
          </p:nvPr>
        </p:nvSpPr>
        <p:spPr>
          <a:xfrm>
            <a:off x="810000" y="5281201"/>
            <a:ext cx="10561418" cy="433955"/>
          </a:xfrm>
        </p:spPr>
        <p:txBody>
          <a:bodyPr anchor="t">
            <a:noAutofit/>
          </a:bodyPr>
          <a:lstStyle>
            <a:lvl1pPr marL="0" indent="0" algn="r">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a:pPr/>
              <a:t>11/15/16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Content Placeholder 2"/>
          <p:cNvSpPr>
            <a:spLocks noGrp="1"/>
          </p:cNvSpPr>
          <p:nvPr>
            <p:ph sz="half" idx="1"/>
          </p:nvPr>
        </p:nvSpPr>
        <p:spPr>
          <a:xfrm>
            <a:off x="818712" y="2222287"/>
            <a:ext cx="5185873" cy="363876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Content Placeholder 3"/>
          <p:cNvSpPr>
            <a:spLocks noGrp="1"/>
          </p:cNvSpPr>
          <p:nvPr>
            <p:ph sz="half" idx="2"/>
          </p:nvPr>
        </p:nvSpPr>
        <p:spPr>
          <a:xfrm>
            <a:off x="6187415" y="2222287"/>
            <a:ext cx="5194583" cy="3638764"/>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Date Placeholder 4"/>
          <p:cNvSpPr>
            <a:spLocks noGrp="1"/>
          </p:cNvSpPr>
          <p:nvPr>
            <p:ph type="dt" sz="half" idx="10"/>
          </p:nvPr>
        </p:nvSpPr>
        <p:spPr/>
        <p:txBody>
          <a:bodyPr/>
          <a:lstStyle/>
          <a:p>
            <a:fld id="{57302355-E14B-8545-A8F8-0FE83CC9D524}" type="datetimeFigureOut">
              <a:rPr lang="en-US"/>
              <a:pPr/>
              <a:t>11/15/16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dirty="0"/>
          </a:p>
        </p:txBody>
      </p:sp>
      <p:sp>
        <p:nvSpPr>
          <p:cNvPr id="3" name="Text Placeholder 2"/>
          <p:cNvSpPr>
            <a:spLocks noGrp="1"/>
          </p:cNvSpPr>
          <p:nvPr>
            <p:ph type="body" idx="1"/>
          </p:nvPr>
        </p:nvSpPr>
        <p:spPr>
          <a:xfrm>
            <a:off x="814728" y="2174875"/>
            <a:ext cx="5189857"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814729" y="2751138"/>
            <a:ext cx="5189856" cy="3109913"/>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5" name="Text Placeholder 4"/>
          <p:cNvSpPr>
            <a:spLocks noGrp="1"/>
          </p:cNvSpPr>
          <p:nvPr>
            <p:ph type="body" sz="quarter" idx="3"/>
          </p:nvPr>
        </p:nvSpPr>
        <p:spPr>
          <a:xfrm>
            <a:off x="6187415" y="2174875"/>
            <a:ext cx="5194583" cy="576262"/>
          </a:xfrm>
        </p:spPr>
        <p:txBody>
          <a:bodyPr anchor="b">
            <a:noAutofit/>
          </a:bodyPr>
          <a:lstStyle>
            <a:lvl1pPr marL="0" indent="0" algn="ctr">
              <a:buNone/>
              <a:defRPr sz="2000" b="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6187415" y="2751138"/>
            <a:ext cx="5194583" cy="3109913"/>
          </a:xfrm>
        </p:spPr>
        <p:txBody>
          <a:bodyPr anchor="t">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7" name="Date Placeholder 6"/>
          <p:cNvSpPr>
            <a:spLocks noGrp="1"/>
          </p:cNvSpPr>
          <p:nvPr>
            <p:ph type="dt" sz="half" idx="10"/>
          </p:nvPr>
        </p:nvSpPr>
        <p:spPr/>
        <p:txBody>
          <a:bodyPr/>
          <a:lstStyle/>
          <a:p>
            <a:fld id="{02640F58-564D-2B4F-AE67-E407BA4FCF45}" type="datetimeFigureOut">
              <a:rPr lang="en-US"/>
              <a:pPr/>
              <a:t>11/15/16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dirty="0"/>
          </a:p>
        </p:txBody>
      </p:sp>
      <p:sp>
        <p:nvSpPr>
          <p:cNvPr id="3" name="Date Placeholder 2"/>
          <p:cNvSpPr>
            <a:spLocks noGrp="1"/>
          </p:cNvSpPr>
          <p:nvPr>
            <p:ph type="dt" sz="half" idx="10"/>
          </p:nvPr>
        </p:nvSpPr>
        <p:spPr/>
        <p:txBody>
          <a:bodyPr/>
          <a:lstStyle/>
          <a:p>
            <a:fld id="{F13A34C8-038E-2045-AF43-DF7DBB8E0E9E}" type="datetimeFigureOut">
              <a:rPr lang="en-US"/>
              <a:pPr/>
              <a:t>11/15/16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818C68F-D26B-8F47-958C-23B49CF8A634}" type="datetimeFigureOut">
              <a:rPr lang="en-US"/>
              <a:pPr/>
              <a:t>11/15/16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073151" y="446088"/>
            <a:ext cx="3547533" cy="1618396"/>
          </a:xfrm>
        </p:spPr>
        <p:txBody>
          <a:bodyPr anchor="b"/>
          <a:lstStyle>
            <a:lvl1pPr algn="l">
              <a:defRPr sz="2000" b="1"/>
            </a:lvl1pPr>
          </a:lstStyle>
          <a:p>
            <a:r>
              <a:rPr lang="en-US" smtClean="0"/>
              <a:t>Click to edit Master title style</a:t>
            </a:r>
            <a:endParaRPr lang="en-US" dirty="0"/>
          </a:p>
        </p:txBody>
      </p:sp>
      <p:sp>
        <p:nvSpPr>
          <p:cNvPr id="3" name="Content Placeholder 2"/>
          <p:cNvSpPr>
            <a:spLocks noGrp="1"/>
          </p:cNvSpPr>
          <p:nvPr>
            <p:ph idx="1"/>
          </p:nvPr>
        </p:nvSpPr>
        <p:spPr>
          <a:xfrm>
            <a:off x="4855633" y="446088"/>
            <a:ext cx="6252633" cy="5414963"/>
          </a:xfrm>
        </p:spPr>
        <p:txBody>
          <a:bodyPr>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Text Placeholder 3"/>
          <p:cNvSpPr>
            <a:spLocks noGrp="1"/>
          </p:cNvSpPr>
          <p:nvPr>
            <p:ph type="body" sz="half" idx="2"/>
          </p:nvPr>
        </p:nvSpPr>
        <p:spPr>
          <a:xfrm>
            <a:off x="1073151" y="2260738"/>
            <a:ext cx="3547533" cy="3600311"/>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D0DF5E60-9974-AC48-9591-99C2BB44B7CF}" type="datetimeFigureOut">
              <a:rPr lang="en-US"/>
              <a:pPr/>
              <a:t>11/15/16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4728" y="727522"/>
            <a:ext cx="4852988" cy="1617163"/>
          </a:xfrm>
        </p:spPr>
        <p:txBody>
          <a:bodyPr anchor="b">
            <a:normAutofit/>
          </a:bodyPr>
          <a:lstStyle>
            <a:lvl1pPr algn="l">
              <a:defRPr sz="2400" b="0"/>
            </a:lvl1pPr>
          </a:lstStyle>
          <a:p>
            <a:r>
              <a:rPr lang="en-US" smtClean="0"/>
              <a:t>Click to edit Master title style</a:t>
            </a:r>
            <a:endParaRPr lang="en-US" dirty="0"/>
          </a:p>
        </p:txBody>
      </p:sp>
      <p:sp>
        <p:nvSpPr>
          <p:cNvPr id="9" name="Picture Placeholder 11"/>
          <p:cNvSpPr>
            <a:spLocks noGrp="1" noChangeAspect="1"/>
          </p:cNvSpPr>
          <p:nvPr>
            <p:ph type="pic" sz="quarter" idx="13"/>
          </p:nvPr>
        </p:nvSpPr>
        <p:spPr bwMode="auto">
          <a:xfrm>
            <a:off x="6098117" y="0"/>
            <a:ext cx="6093883" cy="6858000"/>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noFill/>
          <a:ln w="9525">
            <a:solidFill>
              <a:schemeClr val="tx2"/>
            </a:solidFill>
            <a:round/>
            <a:headEnd/>
            <a:tailEnd/>
          </a:ln>
          <a:effectLst/>
        </p:spPr>
        <p:txBody>
          <a:bodyPr wrap="square" numCol="1" anchor="t" anchorCtr="0" compatLnSpc="1">
            <a:prstTxWarp prst="textNoShape">
              <a:avLst/>
            </a:prstTxWarp>
            <a:normAutofit/>
          </a:bodyPr>
          <a:lstStyle>
            <a:lvl1pPr algn="ctr">
              <a:buFontTx/>
              <a:buNone/>
              <a:defRPr sz="1400"/>
            </a:lvl1pPr>
          </a:lstStyle>
          <a:p>
            <a:r>
              <a:rPr lang="en-US" smtClean="0"/>
              <a:t>Drag picture to placeholder or click icon to add</a:t>
            </a:r>
            <a:endParaRPr lang="en-US"/>
          </a:p>
        </p:txBody>
      </p:sp>
      <p:sp>
        <p:nvSpPr>
          <p:cNvPr id="4" name="Text Placeholder 3"/>
          <p:cNvSpPr>
            <a:spLocks noGrp="1"/>
          </p:cNvSpPr>
          <p:nvPr>
            <p:ph type="body" sz="half" idx="2"/>
          </p:nvPr>
        </p:nvSpPr>
        <p:spPr>
          <a:xfrm>
            <a:off x="814728" y="2344684"/>
            <a:ext cx="4852988" cy="3516365"/>
          </a:xfrm>
        </p:spPr>
        <p:txBody>
          <a:bodyPr anchor="t">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a:xfrm>
            <a:off x="3885810" y="6041362"/>
            <a:ext cx="976879" cy="365125"/>
          </a:xfrm>
        </p:spPr>
        <p:txBody>
          <a:bodyPr/>
          <a:lstStyle/>
          <a:p>
            <a:fld id="{18C79C5D-2A6F-F04D-97DA-BEF2467B64E4}" type="datetimeFigureOut">
              <a:rPr lang="en-US"/>
              <a:pPr/>
              <a:t>11/15/16</a:t>
            </a:fld>
            <a:endParaRPr lang="en-US"/>
          </a:p>
        </p:txBody>
      </p:sp>
      <p:sp>
        <p:nvSpPr>
          <p:cNvPr id="6" name="Footer Placeholder 5"/>
          <p:cNvSpPr>
            <a:spLocks noGrp="1"/>
          </p:cNvSpPr>
          <p:nvPr>
            <p:ph type="ftr" sz="quarter" idx="11"/>
          </p:nvPr>
        </p:nvSpPr>
        <p:spPr>
          <a:xfrm>
            <a:off x="590396" y="6041362"/>
            <a:ext cx="3295413" cy="365125"/>
          </a:xfrm>
        </p:spPr>
        <p:txBody>
          <a:bodyPr/>
          <a:lstStyle/>
          <a:p>
            <a:endParaRPr lang="en-US"/>
          </a:p>
        </p:txBody>
      </p:sp>
      <p:sp>
        <p:nvSpPr>
          <p:cNvPr id="7" name="Slide Number Placeholder 6"/>
          <p:cNvSpPr>
            <a:spLocks noGrp="1"/>
          </p:cNvSpPr>
          <p:nvPr>
            <p:ph type="sldNum" sz="quarter" idx="12"/>
          </p:nvPr>
        </p:nvSpPr>
        <p:spPr>
          <a:xfrm>
            <a:off x="4862689" y="5915888"/>
            <a:ext cx="1062155" cy="490599"/>
          </a:xfrm>
        </p:spPr>
        <p:txBody>
          <a:bodyPr/>
          <a:lstStyle/>
          <a:p>
            <a:fld id="{D57F1E4F-1CFF-5643-939E-217C01CDF565}" type="slidenum">
              <a:rPr lang="en-US"/>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10000" y="4800600"/>
            <a:ext cx="10561418" cy="566738"/>
          </a:xfrm>
        </p:spPr>
        <p:txBody>
          <a:bodyPr anchor="b">
            <a:normAutofit/>
          </a:bodyPr>
          <a:lstStyle>
            <a:lvl1pPr algn="l">
              <a:defRPr sz="2400" b="0"/>
            </a:lvl1pPr>
          </a:lstStyle>
          <a:p>
            <a:r>
              <a:rPr lang="en-US" smtClean="0"/>
              <a:t>Click to edit Master title style</a:t>
            </a:r>
            <a:endParaRPr lang="en-US" dirty="0"/>
          </a:p>
        </p:txBody>
      </p:sp>
      <p:sp>
        <p:nvSpPr>
          <p:cNvPr id="15" name="Picture Placeholder 14"/>
          <p:cNvSpPr>
            <a:spLocks noGrp="1" noChangeAspect="1"/>
          </p:cNvSpPr>
          <p:nvPr>
            <p:ph type="pic" sz="quarter" idx="13"/>
          </p:nvPr>
        </p:nvSpPr>
        <p:spPr bwMode="auto">
          <a:xfrm>
            <a:off x="0" y="0"/>
            <a:ext cx="12192000" cy="4800600"/>
          </a:xfrm>
          <a:custGeom>
            <a:avLst/>
            <a:gdLst/>
            <a:ahLst/>
            <a:cxnLst/>
            <a:rect l="0" t="0" r="r" b="b"/>
            <a:pathLst>
              <a:path w="5760" h="3289">
                <a:moveTo>
                  <a:pt x="5760" y="0"/>
                </a:moveTo>
                <a:lnTo>
                  <a:pt x="0" y="0"/>
                </a:lnTo>
                <a:lnTo>
                  <a:pt x="0" y="3100"/>
                </a:lnTo>
                <a:lnTo>
                  <a:pt x="943" y="3100"/>
                </a:lnTo>
                <a:lnTo>
                  <a:pt x="1123" y="3281"/>
                </a:lnTo>
                <a:lnTo>
                  <a:pt x="1123" y="3281"/>
                </a:lnTo>
                <a:lnTo>
                  <a:pt x="1127" y="3283"/>
                </a:lnTo>
                <a:lnTo>
                  <a:pt x="1133" y="3286"/>
                </a:lnTo>
                <a:lnTo>
                  <a:pt x="1139" y="3289"/>
                </a:lnTo>
                <a:lnTo>
                  <a:pt x="1144" y="3289"/>
                </a:lnTo>
                <a:lnTo>
                  <a:pt x="1150" y="3289"/>
                </a:lnTo>
                <a:lnTo>
                  <a:pt x="1155" y="3286"/>
                </a:lnTo>
                <a:lnTo>
                  <a:pt x="1161" y="3283"/>
                </a:lnTo>
                <a:lnTo>
                  <a:pt x="1165" y="3281"/>
                </a:lnTo>
                <a:lnTo>
                  <a:pt x="1345" y="3100"/>
                </a:lnTo>
                <a:lnTo>
                  <a:pt x="5760" y="3100"/>
                </a:lnTo>
                <a:lnTo>
                  <a:pt x="5760" y="0"/>
                </a:lnTo>
                <a:close/>
              </a:path>
            </a:pathLst>
          </a:custGeom>
          <a:noFill/>
          <a:ln>
            <a:solidFill>
              <a:schemeClr val="tx2"/>
            </a:solidFill>
          </a:ln>
        </p:spPr>
        <p:style>
          <a:lnRef idx="1">
            <a:schemeClr val="accent1"/>
          </a:lnRef>
          <a:fillRef idx="3">
            <a:schemeClr val="accent1"/>
          </a:fillRef>
          <a:effectRef idx="2">
            <a:schemeClr val="accent1"/>
          </a:effectRef>
          <a:fontRef idx="minor">
            <a:schemeClr val="lt1"/>
          </a:fontRef>
        </p:style>
        <p:txBody>
          <a:bodyPr wrap="square" numCol="1" anchor="t" anchorCtr="0" compatLnSpc="1">
            <a:prstTxWarp prst="textNoShape">
              <a:avLst/>
            </a:prstTxWarp>
            <a:normAutofit/>
          </a:bodyPr>
          <a:lstStyle>
            <a:lvl1pPr marL="0" indent="0" algn="ctr">
              <a:buFontTx/>
              <a:buNone/>
              <a:defRPr sz="1600"/>
            </a:lvl1pPr>
          </a:lstStyle>
          <a:p>
            <a:r>
              <a:rPr lang="en-US" smtClean="0"/>
              <a:t>Drag picture to placeholder or click icon to add</a:t>
            </a:r>
            <a:endParaRPr lang="en-US"/>
          </a:p>
        </p:txBody>
      </p:sp>
      <p:sp>
        <p:nvSpPr>
          <p:cNvPr id="4" name="Text Placeholder 3"/>
          <p:cNvSpPr>
            <a:spLocks noGrp="1"/>
          </p:cNvSpPr>
          <p:nvPr>
            <p:ph type="body" sz="half" idx="2"/>
          </p:nvPr>
        </p:nvSpPr>
        <p:spPr>
          <a:xfrm>
            <a:off x="810000" y="5367338"/>
            <a:ext cx="10561418" cy="493712"/>
          </a:xfrm>
        </p:spPr>
        <p:txBody>
          <a:bodyPr>
            <a:normAutofit/>
          </a:bodyPr>
          <a:lstStyle>
            <a:lvl1pPr marL="0" indent="0">
              <a:buNone/>
              <a:defRPr sz="12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8C79C5D-2A6F-F04D-97DA-BEF2467B64E4}" type="datetimeFigureOut">
              <a:rPr lang="en-US"/>
              <a:pPr/>
              <a:t>11/15/16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8" name="Freeform 6"/>
          <p:cNvSpPr>
            <a:spLocks noChangeAspect="1"/>
          </p:cNvSpPr>
          <p:nvPr/>
        </p:nvSpPr>
        <p:spPr bwMode="auto">
          <a:xfrm>
            <a:off x="631697" y="1081456"/>
            <a:ext cx="6332416" cy="3239188"/>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a:xfrm>
            <a:off x="850985" y="1238502"/>
            <a:ext cx="5893840" cy="2645912"/>
          </a:xfrm>
        </p:spPr>
        <p:txBody>
          <a:bodyPr anchor="b"/>
          <a:lstStyle>
            <a:lvl1pPr algn="l">
              <a:defRPr sz="4200" b="1" cap="none"/>
            </a:lvl1pPr>
          </a:lstStyle>
          <a:p>
            <a:r>
              <a:rPr lang="en-US" smtClean="0"/>
              <a:t>Click to edit Master title style</a:t>
            </a:r>
            <a:endParaRPr lang="en-US" dirty="0"/>
          </a:p>
        </p:txBody>
      </p:sp>
      <p:sp>
        <p:nvSpPr>
          <p:cNvPr id="3" name="Text Placeholder 2"/>
          <p:cNvSpPr>
            <a:spLocks noGrp="1"/>
          </p:cNvSpPr>
          <p:nvPr>
            <p:ph type="body" idx="1"/>
          </p:nvPr>
        </p:nvSpPr>
        <p:spPr>
          <a:xfrm>
            <a:off x="853190" y="4443680"/>
            <a:ext cx="5891636" cy="713241"/>
          </a:xfrm>
        </p:spPr>
        <p:txBody>
          <a:bodyPr anchor="t">
            <a:noAutofit/>
          </a:bodyPr>
          <a:lstStyle>
            <a:lvl1pPr marL="0" indent="0" algn="l">
              <a:buNone/>
              <a:defRPr sz="1800">
                <a:solidFill>
                  <a:schemeClr val="tx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9" name="Text Placeholder 5"/>
          <p:cNvSpPr>
            <a:spLocks noGrp="1"/>
          </p:cNvSpPr>
          <p:nvPr>
            <p:ph type="body" sz="quarter" idx="16"/>
          </p:nvPr>
        </p:nvSpPr>
        <p:spPr>
          <a:xfrm>
            <a:off x="7574642" y="1081456"/>
            <a:ext cx="3810001" cy="4075465"/>
          </a:xfrm>
        </p:spPr>
        <p:txBody>
          <a:bodyPr anchor="t"/>
          <a:lstStyle>
            <a:lvl1pPr marL="0" indent="0">
              <a:buFontTx/>
              <a:buNone/>
              <a:defRPr/>
            </a:lvl1pPr>
          </a:lstStyle>
          <a:p>
            <a:pPr lvl="0"/>
            <a:r>
              <a:rPr lang="en-US" smtClean="0"/>
              <a:t>Click to edit Master text styles</a:t>
            </a:r>
          </a:p>
        </p:txBody>
      </p:sp>
      <p:sp>
        <p:nvSpPr>
          <p:cNvPr id="4" name="Date Placeholder 3"/>
          <p:cNvSpPr>
            <a:spLocks noGrp="1"/>
          </p:cNvSpPr>
          <p:nvPr>
            <p:ph type="dt" sz="half" idx="10"/>
          </p:nvPr>
        </p:nvSpPr>
        <p:spPr/>
        <p:txBody>
          <a:bodyPr/>
          <a:lstStyle/>
          <a:p>
            <a:fld id="{8DFA1846-DA80-1C48-A609-854EA85C59AD}" type="datetimeFigureOut">
              <a:rPr lang="en-US"/>
              <a:pPr/>
              <a:t>11/15/16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9" name="Freeform 6"/>
          <p:cNvSpPr>
            <a:spLocks noChangeAspect="1"/>
          </p:cNvSpPr>
          <p:nvPr/>
        </p:nvSpPr>
        <p:spPr bwMode="auto">
          <a:xfrm>
            <a:off x="1140884" y="2286585"/>
            <a:ext cx="4895115" cy="2503972"/>
          </a:xfrm>
          <a:custGeom>
            <a:avLst/>
            <a:gdLst/>
            <a:ahLst/>
            <a:cxnLst/>
            <a:rect l="0" t="0" r="r" b="b"/>
            <a:pathLst>
              <a:path w="3384" h="2308">
                <a:moveTo>
                  <a:pt x="3340" y="0"/>
                </a:moveTo>
                <a:lnTo>
                  <a:pt x="44" y="0"/>
                </a:lnTo>
                <a:lnTo>
                  <a:pt x="44" y="0"/>
                </a:lnTo>
                <a:lnTo>
                  <a:pt x="34" y="0"/>
                </a:lnTo>
                <a:lnTo>
                  <a:pt x="26" y="4"/>
                </a:lnTo>
                <a:lnTo>
                  <a:pt x="20" y="8"/>
                </a:lnTo>
                <a:lnTo>
                  <a:pt x="12" y="12"/>
                </a:lnTo>
                <a:lnTo>
                  <a:pt x="8" y="20"/>
                </a:lnTo>
                <a:lnTo>
                  <a:pt x="4" y="26"/>
                </a:lnTo>
                <a:lnTo>
                  <a:pt x="0" y="34"/>
                </a:lnTo>
                <a:lnTo>
                  <a:pt x="0" y="44"/>
                </a:lnTo>
                <a:lnTo>
                  <a:pt x="0" y="2076"/>
                </a:lnTo>
                <a:lnTo>
                  <a:pt x="0" y="2076"/>
                </a:lnTo>
                <a:lnTo>
                  <a:pt x="0" y="2086"/>
                </a:lnTo>
                <a:lnTo>
                  <a:pt x="4" y="2094"/>
                </a:lnTo>
                <a:lnTo>
                  <a:pt x="8" y="2100"/>
                </a:lnTo>
                <a:lnTo>
                  <a:pt x="12" y="2108"/>
                </a:lnTo>
                <a:lnTo>
                  <a:pt x="20" y="2112"/>
                </a:lnTo>
                <a:lnTo>
                  <a:pt x="26" y="2116"/>
                </a:lnTo>
                <a:lnTo>
                  <a:pt x="34" y="2120"/>
                </a:lnTo>
                <a:lnTo>
                  <a:pt x="44" y="2120"/>
                </a:lnTo>
                <a:lnTo>
                  <a:pt x="474" y="2120"/>
                </a:lnTo>
                <a:lnTo>
                  <a:pt x="650" y="2296"/>
                </a:lnTo>
                <a:lnTo>
                  <a:pt x="650" y="2296"/>
                </a:lnTo>
                <a:lnTo>
                  <a:pt x="656" y="2300"/>
                </a:lnTo>
                <a:lnTo>
                  <a:pt x="664" y="2304"/>
                </a:lnTo>
                <a:lnTo>
                  <a:pt x="672" y="2308"/>
                </a:lnTo>
                <a:lnTo>
                  <a:pt x="680" y="2308"/>
                </a:lnTo>
                <a:lnTo>
                  <a:pt x="688" y="2308"/>
                </a:lnTo>
                <a:lnTo>
                  <a:pt x="696" y="2304"/>
                </a:lnTo>
                <a:lnTo>
                  <a:pt x="704" y="2300"/>
                </a:lnTo>
                <a:lnTo>
                  <a:pt x="710" y="2296"/>
                </a:lnTo>
                <a:lnTo>
                  <a:pt x="886" y="2120"/>
                </a:lnTo>
                <a:lnTo>
                  <a:pt x="3340" y="2120"/>
                </a:lnTo>
                <a:lnTo>
                  <a:pt x="3340" y="2120"/>
                </a:lnTo>
                <a:lnTo>
                  <a:pt x="3350" y="2120"/>
                </a:lnTo>
                <a:lnTo>
                  <a:pt x="3358" y="2116"/>
                </a:lnTo>
                <a:lnTo>
                  <a:pt x="3364" y="2112"/>
                </a:lnTo>
                <a:lnTo>
                  <a:pt x="3372" y="2108"/>
                </a:lnTo>
                <a:lnTo>
                  <a:pt x="3376" y="2100"/>
                </a:lnTo>
                <a:lnTo>
                  <a:pt x="3380" y="2094"/>
                </a:lnTo>
                <a:lnTo>
                  <a:pt x="3384" y="2086"/>
                </a:lnTo>
                <a:lnTo>
                  <a:pt x="3384" y="2076"/>
                </a:lnTo>
                <a:lnTo>
                  <a:pt x="3384" y="44"/>
                </a:lnTo>
                <a:lnTo>
                  <a:pt x="3384" y="44"/>
                </a:lnTo>
                <a:lnTo>
                  <a:pt x="3384" y="34"/>
                </a:lnTo>
                <a:lnTo>
                  <a:pt x="3380" y="26"/>
                </a:lnTo>
                <a:lnTo>
                  <a:pt x="3376" y="20"/>
                </a:lnTo>
                <a:lnTo>
                  <a:pt x="3372" y="12"/>
                </a:lnTo>
                <a:lnTo>
                  <a:pt x="3364" y="8"/>
                </a:lnTo>
                <a:lnTo>
                  <a:pt x="3358" y="4"/>
                </a:lnTo>
                <a:lnTo>
                  <a:pt x="3350" y="0"/>
                </a:lnTo>
                <a:lnTo>
                  <a:pt x="3340" y="0"/>
                </a:lnTo>
                <a:lnTo>
                  <a:pt x="3340" y="0"/>
                </a:lnTo>
                <a:close/>
              </a:path>
            </a:pathLst>
          </a:custGeom>
          <a:ln>
            <a:solidFill>
              <a:schemeClr val="accent1"/>
            </a:solidFill>
          </a:ln>
        </p:spPr>
        <p:style>
          <a:lnRef idx="1">
            <a:schemeClr val="accent1"/>
          </a:lnRef>
          <a:fillRef idx="3">
            <a:schemeClr val="accent1"/>
          </a:fillRef>
          <a:effectRef idx="2">
            <a:schemeClr val="accent1"/>
          </a:effectRef>
          <a:fontRef idx="minor">
            <a:schemeClr val="lt1"/>
          </a:fontRef>
        </p:style>
      </p:sp>
      <p:sp>
        <p:nvSpPr>
          <p:cNvPr id="38" name="Title 1"/>
          <p:cNvSpPr>
            <a:spLocks noGrp="1"/>
          </p:cNvSpPr>
          <p:nvPr>
            <p:ph type="title"/>
          </p:nvPr>
        </p:nvSpPr>
        <p:spPr>
          <a:xfrm>
            <a:off x="1357089" y="2435957"/>
            <a:ext cx="4382521" cy="2007789"/>
          </a:xfrm>
        </p:spPr>
        <p:txBody>
          <a:bodyPr/>
          <a:lstStyle>
            <a:lvl1pPr>
              <a:defRPr sz="3200"/>
            </a:lvl1pPr>
          </a:lstStyle>
          <a:p>
            <a:r>
              <a:rPr lang="en-US" smtClean="0"/>
              <a:t>Click to edit Master title style</a:t>
            </a:r>
            <a:endParaRPr lang="en-US" dirty="0"/>
          </a:p>
        </p:txBody>
      </p:sp>
      <p:sp>
        <p:nvSpPr>
          <p:cNvPr id="6" name="Text Placeholder 5"/>
          <p:cNvSpPr>
            <a:spLocks noGrp="1"/>
          </p:cNvSpPr>
          <p:nvPr>
            <p:ph type="body" sz="quarter" idx="16"/>
          </p:nvPr>
        </p:nvSpPr>
        <p:spPr>
          <a:xfrm>
            <a:off x="6156000" y="2286000"/>
            <a:ext cx="4880300" cy="2295525"/>
          </a:xfrm>
        </p:spPr>
        <p:txBody>
          <a:bodyPr anchor="t"/>
          <a:lstStyle>
            <a:lvl1pPr marL="0" indent="0">
              <a:buFontTx/>
              <a:buNone/>
              <a:defRPr/>
            </a:lvl1pPr>
          </a:lstStyle>
          <a:p>
            <a:pPr lvl="0"/>
            <a:r>
              <a:rPr lang="en-US" smtClean="0"/>
              <a:t>Click to edit Master text styles</a:t>
            </a:r>
          </a:p>
        </p:txBody>
      </p:sp>
      <p:sp>
        <p:nvSpPr>
          <p:cNvPr id="2" name="Date Placeholder 1"/>
          <p:cNvSpPr>
            <a:spLocks noGrp="1"/>
          </p:cNvSpPr>
          <p:nvPr>
            <p:ph type="dt" sz="half" idx="10"/>
          </p:nvPr>
        </p:nvSpPr>
        <p:spPr/>
        <p:txBody>
          <a:bodyPr/>
          <a:lstStyle/>
          <a:p>
            <a:fld id="{FBF54567-0DE4-3F47-BF90-CB84690072F9}" type="datetimeFigureOut">
              <a:rPr lang="en-US"/>
              <a:pPr/>
              <a:t>11/15/16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3.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7" name="Freeform 6"/>
          <p:cNvSpPr/>
          <p:nvPr/>
        </p:nvSpPr>
        <p:spPr bwMode="auto">
          <a:xfrm>
            <a:off x="0" y="0"/>
            <a:ext cx="12192000" cy="2185988"/>
          </a:xfrm>
          <a:custGeom>
            <a:avLst/>
            <a:gdLst/>
            <a:ahLst/>
            <a:cxnLst/>
            <a:rect l="0" t="0" r="r" b="b"/>
            <a:pathLst>
              <a:path w="5760" h="1377">
                <a:moveTo>
                  <a:pt x="5760" y="0"/>
                </a:moveTo>
                <a:lnTo>
                  <a:pt x="0" y="0"/>
                </a:lnTo>
                <a:lnTo>
                  <a:pt x="0" y="1189"/>
                </a:lnTo>
                <a:lnTo>
                  <a:pt x="943" y="1189"/>
                </a:lnTo>
                <a:lnTo>
                  <a:pt x="1123" y="1369"/>
                </a:lnTo>
                <a:lnTo>
                  <a:pt x="1123" y="1369"/>
                </a:lnTo>
                <a:lnTo>
                  <a:pt x="1127" y="1371"/>
                </a:lnTo>
                <a:lnTo>
                  <a:pt x="1133" y="1374"/>
                </a:lnTo>
                <a:lnTo>
                  <a:pt x="1139" y="1377"/>
                </a:lnTo>
                <a:lnTo>
                  <a:pt x="1144" y="1377"/>
                </a:lnTo>
                <a:lnTo>
                  <a:pt x="1150" y="1377"/>
                </a:lnTo>
                <a:lnTo>
                  <a:pt x="1155" y="1374"/>
                </a:lnTo>
                <a:lnTo>
                  <a:pt x="1161" y="1371"/>
                </a:lnTo>
                <a:lnTo>
                  <a:pt x="1165" y="1369"/>
                </a:lnTo>
                <a:lnTo>
                  <a:pt x="1345" y="1189"/>
                </a:lnTo>
                <a:lnTo>
                  <a:pt x="5760" y="1189"/>
                </a:lnTo>
                <a:lnTo>
                  <a:pt x="5760"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Title 1"/>
          <p:cNvSpPr>
            <a:spLocks noGrp="1"/>
          </p:cNvSpPr>
          <p:nvPr>
            <p:ph type="title"/>
          </p:nvPr>
        </p:nvSpPr>
        <p:spPr/>
        <p:txBody>
          <a:bodyPr/>
          <a:lstStyle/>
          <a:p>
            <a:r>
              <a:rPr lang="en-US" smtClean="0"/>
              <a:t>Click to edit Master title style</a:t>
            </a:r>
            <a:endParaRPr lang="en-US" dirty="0"/>
          </a:p>
        </p:txBody>
      </p:sp>
      <p:sp>
        <p:nvSpPr>
          <p:cNvPr id="3" name="Vertical Text Placeholder 2"/>
          <p:cNvSpPr>
            <a:spLocks noGrp="1"/>
          </p:cNvSpPr>
          <p:nvPr>
            <p:ph type="body" orient="vert" idx="1"/>
          </p:nvPr>
        </p:nvSpPr>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C6C52C72-DE31-F449-A4ED-4C594FD91407}" type="datetimeFigureOut">
              <a:rPr lang="en-US"/>
              <a:pPr/>
              <a:t>11/15/16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Layouts/slideLayout14.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12" name="Freeform 6"/>
          <p:cNvSpPr>
            <a:spLocks noChangeAspect="1"/>
          </p:cNvSpPr>
          <p:nvPr/>
        </p:nvSpPr>
        <p:spPr bwMode="auto">
          <a:xfrm>
            <a:off x="7669651" y="446089"/>
            <a:ext cx="4522349" cy="5414962"/>
          </a:xfrm>
          <a:custGeom>
            <a:avLst/>
            <a:gdLst/>
            <a:ahLst/>
            <a:cxnLst/>
            <a:rect l="0" t="0" r="r" b="b"/>
            <a:pathLst>
              <a:path w="2879" h="4320">
                <a:moveTo>
                  <a:pt x="183" y="0"/>
                </a:moveTo>
                <a:lnTo>
                  <a:pt x="183" y="1197"/>
                </a:lnTo>
                <a:lnTo>
                  <a:pt x="8" y="1372"/>
                </a:lnTo>
                <a:lnTo>
                  <a:pt x="8" y="1372"/>
                </a:lnTo>
                <a:lnTo>
                  <a:pt x="6" y="1376"/>
                </a:lnTo>
                <a:lnTo>
                  <a:pt x="3" y="1382"/>
                </a:lnTo>
                <a:lnTo>
                  <a:pt x="0" y="1387"/>
                </a:lnTo>
                <a:lnTo>
                  <a:pt x="0" y="1393"/>
                </a:lnTo>
                <a:lnTo>
                  <a:pt x="0" y="1399"/>
                </a:lnTo>
                <a:lnTo>
                  <a:pt x="3" y="1404"/>
                </a:lnTo>
                <a:lnTo>
                  <a:pt x="6" y="1410"/>
                </a:lnTo>
                <a:lnTo>
                  <a:pt x="8" y="1414"/>
                </a:lnTo>
                <a:lnTo>
                  <a:pt x="183" y="1589"/>
                </a:lnTo>
                <a:lnTo>
                  <a:pt x="183" y="4320"/>
                </a:lnTo>
                <a:lnTo>
                  <a:pt x="2879" y="4320"/>
                </a:lnTo>
                <a:lnTo>
                  <a:pt x="2879" y="0"/>
                </a:lnTo>
                <a:lnTo>
                  <a:pt x="183" y="0"/>
                </a:lnTo>
                <a:close/>
              </a:path>
            </a:pathLst>
          </a:custGeom>
          <a:ln/>
          <a:extLst>
            <a:ext uri="{91240B29-F687-4f45-9708-019B960494DF}">
              <a14:hiddenLine xmlns:a14="http://schemas.microsoft.com/office/drawing/2010/main" xmlns="" w="9525">
                <a:solidFill>
                  <a:srgbClr val="000000"/>
                </a:solidFill>
                <a:round/>
                <a:headEnd/>
                <a:tailEnd/>
              </a14:hiddenLine>
            </a:ext>
          </a:extLst>
        </p:spPr>
        <p:style>
          <a:lnRef idx="1">
            <a:schemeClr val="accent1"/>
          </a:lnRef>
          <a:fillRef idx="3">
            <a:schemeClr val="accent1"/>
          </a:fillRef>
          <a:effectRef idx="2">
            <a:schemeClr val="accent1"/>
          </a:effectRef>
          <a:fontRef idx="minor">
            <a:schemeClr val="lt1"/>
          </a:fontRef>
        </p:style>
      </p:sp>
      <p:sp>
        <p:nvSpPr>
          <p:cNvPr id="2" name="Vertical Title 1"/>
          <p:cNvSpPr>
            <a:spLocks noGrp="1"/>
          </p:cNvSpPr>
          <p:nvPr>
            <p:ph type="title" orient="vert"/>
          </p:nvPr>
        </p:nvSpPr>
        <p:spPr>
          <a:xfrm>
            <a:off x="8183540" y="586171"/>
            <a:ext cx="2494791" cy="5134798"/>
          </a:xfrm>
        </p:spPr>
        <p:txBody>
          <a:bodyPr vert="eaVert"/>
          <a:lstStyle/>
          <a:p>
            <a:r>
              <a:rPr lang="en-US" smtClean="0"/>
              <a:t>Click to edit Master title style</a:t>
            </a:r>
            <a:endParaRPr lang="en-US" dirty="0"/>
          </a:p>
        </p:txBody>
      </p:sp>
      <p:sp>
        <p:nvSpPr>
          <p:cNvPr id="3" name="Vertical Text Placeholder 2"/>
          <p:cNvSpPr>
            <a:spLocks noGrp="1"/>
          </p:cNvSpPr>
          <p:nvPr>
            <p:ph type="body" orient="vert" idx="1"/>
          </p:nvPr>
        </p:nvSpPr>
        <p:spPr>
          <a:xfrm>
            <a:off x="810001" y="446089"/>
            <a:ext cx="6611540" cy="5414962"/>
          </a:xfrm>
        </p:spPr>
        <p:txBody>
          <a:bodyPr vert="eaVert" ancho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dirty="0"/>
          </a:p>
        </p:txBody>
      </p:sp>
      <p:sp>
        <p:nvSpPr>
          <p:cNvPr id="4" name="Date Placeholder 3"/>
          <p:cNvSpPr>
            <a:spLocks noGrp="1"/>
          </p:cNvSpPr>
          <p:nvPr>
            <p:ph type="dt" sz="half" idx="10"/>
          </p:nvPr>
        </p:nvSpPr>
        <p:spPr/>
        <p:txBody>
          <a:bodyPr/>
          <a:lstStyle/>
          <a:p>
            <a:fld id="{ED62726E-379B-B349-9EED-81ED093FA806}" type="datetimeFigureOut">
              <a:rPr lang="en-US"/>
              <a:pPr/>
              <a:t>11/15/16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D57F1E4F-1CFF-5643-939E-217C01CDF565}" type="slidenum">
              <a:rPr lang="en-US"/>
              <a:pPr/>
              <a:t>‹#›</a:t>
            </a:fld>
            <a:endParaRPr lang="en-US"/>
          </a:p>
        </p:txBody>
      </p:sp>
    </p:spTree>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sldLayout>
</file>

<file path=ppt/slideMasters/_rels/slideMaster1.xml.rels><?xml version="1.0" encoding="UTF-8" standalone="yes"?>
<Relationships xmlns="http://schemas.openxmlformats.org/package/2006/relationships"><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theme" Target="../theme/theme1.xml"/><Relationship Id="rId16" Type="http://schemas.openxmlformats.org/officeDocument/2006/relationships/image" Target="../media/image2.emf"/><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10000" y="447188"/>
            <a:ext cx="10571998"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810000" y="2184401"/>
            <a:ext cx="10563285" cy="3674397"/>
          </a:xfrm>
          <a:prstGeom prst="rect">
            <a:avLst/>
          </a:prstGeom>
          <a:effectLst>
            <a:outerShdw blurRad="50800" dir="14400000">
              <a:srgbClr val="000000">
                <a:alpha val="40000"/>
              </a:srgbClr>
            </a:outerShdw>
          </a:effectLst>
        </p:spPr>
        <p:txBody>
          <a:bodyPr vert="horz" lIns="91440" tIns="45720" rIns="91440" bIns="45720" rtlCol="0" anchor="ctr">
            <a:norm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Footer Placeholder 4"/>
          <p:cNvSpPr>
            <a:spLocks noGrp="1"/>
          </p:cNvSpPr>
          <p:nvPr>
            <p:ph type="ftr" sz="quarter" idx="3"/>
          </p:nvPr>
        </p:nvSpPr>
        <p:spPr>
          <a:xfrm>
            <a:off x="451514" y="6041362"/>
            <a:ext cx="8644320" cy="365125"/>
          </a:xfrm>
          <a:prstGeom prst="rect">
            <a:avLst/>
          </a:prstGeom>
        </p:spPr>
        <p:txBody>
          <a:bodyPr vert="horz" lIns="91440" tIns="45720" rIns="91440" bIns="45720" rtlCol="0" anchor="b"/>
          <a:lstStyle>
            <a:lvl1pPr algn="l">
              <a:defRPr sz="900">
                <a:solidFill>
                  <a:schemeClr val="tx1"/>
                </a:solidFill>
              </a:defRPr>
            </a:lvl1pPr>
          </a:lstStyle>
          <a:p>
            <a:endParaRPr lang="en-US"/>
          </a:p>
        </p:txBody>
      </p:sp>
      <p:sp>
        <p:nvSpPr>
          <p:cNvPr id="4" name="Date Placeholder 3"/>
          <p:cNvSpPr>
            <a:spLocks noGrp="1"/>
          </p:cNvSpPr>
          <p:nvPr>
            <p:ph type="dt" sz="half" idx="2"/>
          </p:nvPr>
        </p:nvSpPr>
        <p:spPr>
          <a:xfrm>
            <a:off x="9334626" y="6041362"/>
            <a:ext cx="1343706" cy="365125"/>
          </a:xfrm>
          <a:prstGeom prst="rect">
            <a:avLst/>
          </a:prstGeom>
        </p:spPr>
        <p:txBody>
          <a:bodyPr vert="horz" lIns="91440" tIns="45720" rIns="91440" bIns="45720" rtlCol="0" anchor="b"/>
          <a:lstStyle>
            <a:lvl1pPr algn="r">
              <a:defRPr sz="900">
                <a:solidFill>
                  <a:schemeClr val="tx1"/>
                </a:solidFill>
              </a:defRPr>
            </a:lvl1pPr>
          </a:lstStyle>
          <a:p>
            <a:fld id="{09B482E8-6E0E-1B4F-B1FD-C69DB9E858D9}" type="datetimeFigureOut">
              <a:rPr lang="en-US"/>
              <a:pPr/>
              <a:t>11/15/16</a:t>
            </a:fld>
            <a:endParaRPr lang="en-US"/>
          </a:p>
        </p:txBody>
      </p:sp>
      <p:sp>
        <p:nvSpPr>
          <p:cNvPr id="6" name="Slide Number Placeholder 5"/>
          <p:cNvSpPr>
            <a:spLocks noGrp="1"/>
          </p:cNvSpPr>
          <p:nvPr>
            <p:ph type="sldNum" sz="quarter" idx="4"/>
          </p:nvPr>
        </p:nvSpPr>
        <p:spPr>
          <a:xfrm>
            <a:off x="10678331" y="5915888"/>
            <a:ext cx="1062155" cy="490599"/>
          </a:xfrm>
          <a:prstGeom prst="rect">
            <a:avLst/>
          </a:prstGeom>
        </p:spPr>
        <p:txBody>
          <a:bodyPr vert="horz" lIns="91440" tIns="45720" rIns="91440" bIns="10800" rtlCol="0" anchor="b"/>
          <a:lstStyle>
            <a:lvl1pPr algn="r">
              <a:defRPr sz="2000">
                <a:solidFill>
                  <a:schemeClr val="accent1"/>
                </a:solidFill>
              </a:defRPr>
            </a:lvl1pPr>
          </a:lstStyle>
          <a:p>
            <a:fld id="{D57F1E4F-1CFF-5643-939E-217C01CDF565}" type="slidenum">
              <a:rPr lang="en-US"/>
              <a:pPr/>
              <a:t>‹#›</a:t>
            </a:fld>
            <a:endParaRPr lang="en-US"/>
          </a:p>
        </p:txBody>
      </p:sp>
    </p:spTree>
  </p:cSld>
  <p:clrMap bg1="dk1" tx1="lt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63" r:id="rId9"/>
    <p:sldLayoutId id="2147483657" r:id="rId10"/>
    <p:sldLayoutId id="2147483666" r:id="rId11"/>
    <p:sldLayoutId id="2147483661" r:id="rId12"/>
    <p:sldLayoutId id="2147483658" r:id="rId13"/>
    <p:sldLayoutId id="2147483659" r:id="rId14"/>
  </p:sldLayoutIdLst>
  <mc:AlternateContent xmlns:mc="http://schemas.openxmlformats.org/markup-compatibility/2006">
    <mc:Choice xmlns:p14="http://schemas.microsoft.com/office/powerpoint/2010/main" Requires="p14">
      <p:transition spd="slow" p14:dur="2000"/>
    </mc:Choice>
    <mc:Fallback>
      <p:transition spd="slow"/>
    </mc:Fallback>
  </mc:AlternateContent>
  <p:hf sldNum="0" hdr="0" ftr="0" dt="0"/>
  <p:txStyles>
    <p:title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p:titleStyle>
    <p:bodyStyle>
      <a:lvl1pPr marL="342900" indent="-342900" algn="l" defTabSz="457200" rtl="0" eaLnBrk="1" latinLnBrk="0" hangingPunct="1">
        <a:spcBef>
          <a:spcPct val="20000"/>
        </a:spcBef>
        <a:spcAft>
          <a:spcPts val="600"/>
        </a:spcAft>
        <a:buClr>
          <a:schemeClr val="accent1"/>
        </a:buClr>
        <a:buSzPct val="150000"/>
        <a:buFontTx/>
        <a:buBlip>
          <a:blip r:embed="rId16"/>
        </a:buBlip>
        <a:defRPr sz="1800" kern="1200" baseline="0">
          <a:solidFill>
            <a:schemeClr val="tx1"/>
          </a:solidFill>
          <a:latin typeface="Comfortaa Thin" charset="0"/>
          <a:ea typeface="+mn-ea"/>
          <a:cs typeface="+mn-cs"/>
        </a:defRPr>
      </a:lvl1pPr>
      <a:lvl2pPr marL="742950" indent="-285750" algn="l" defTabSz="457200" rtl="0" eaLnBrk="1" latinLnBrk="0" hangingPunct="1">
        <a:spcBef>
          <a:spcPct val="20000"/>
        </a:spcBef>
        <a:spcAft>
          <a:spcPts val="600"/>
        </a:spcAft>
        <a:buClr>
          <a:schemeClr val="accent1"/>
        </a:buClr>
        <a:buSzPct val="150000"/>
        <a:buFontTx/>
        <a:buBlip>
          <a:blip r:embed="rId16"/>
        </a:buBlip>
        <a:defRPr sz="1600" kern="1200" baseline="0">
          <a:solidFill>
            <a:schemeClr val="tx1"/>
          </a:solidFill>
          <a:latin typeface="Comfortaa Thin" charset="0"/>
          <a:ea typeface="+mn-ea"/>
          <a:cs typeface="+mn-cs"/>
        </a:defRPr>
      </a:lvl2pPr>
      <a:lvl3pPr marL="1143000" indent="-228600" algn="l" defTabSz="457200" rtl="0" eaLnBrk="1" latinLnBrk="0" hangingPunct="1">
        <a:spcBef>
          <a:spcPct val="20000"/>
        </a:spcBef>
        <a:spcAft>
          <a:spcPts val="600"/>
        </a:spcAft>
        <a:buClr>
          <a:schemeClr val="accent1"/>
        </a:buClr>
        <a:buSzPct val="150000"/>
        <a:buFontTx/>
        <a:buBlip>
          <a:blip r:embed="rId16"/>
        </a:buBlip>
        <a:defRPr sz="1400" kern="1200" baseline="0">
          <a:solidFill>
            <a:schemeClr val="tx1"/>
          </a:solidFill>
          <a:latin typeface="Comfortaa Thin" charset="0"/>
          <a:ea typeface="+mn-ea"/>
          <a:cs typeface="+mn-cs"/>
        </a:defRPr>
      </a:lvl3pPr>
      <a:lvl4pPr marL="1600200" indent="-228600" algn="l" defTabSz="457200" rtl="0" eaLnBrk="1" latinLnBrk="0" hangingPunct="1">
        <a:spcBef>
          <a:spcPct val="20000"/>
        </a:spcBef>
        <a:spcAft>
          <a:spcPts val="600"/>
        </a:spcAft>
        <a:buClr>
          <a:schemeClr val="accent1"/>
        </a:buClr>
        <a:buSzPct val="150000"/>
        <a:buFontTx/>
        <a:buBlip>
          <a:blip r:embed="rId16"/>
        </a:buBlip>
        <a:defRPr sz="1200" kern="1200" baseline="0">
          <a:solidFill>
            <a:schemeClr val="tx1"/>
          </a:solidFill>
          <a:latin typeface="Comfortaa Thin" charset="0"/>
          <a:ea typeface="+mn-ea"/>
          <a:cs typeface="+mn-cs"/>
        </a:defRPr>
      </a:lvl4pPr>
      <a:lvl5pPr marL="2057400" indent="-228600" algn="l" defTabSz="457200" rtl="0" eaLnBrk="1" latinLnBrk="0" hangingPunct="1">
        <a:spcBef>
          <a:spcPct val="20000"/>
        </a:spcBef>
        <a:spcAft>
          <a:spcPts val="600"/>
        </a:spcAft>
        <a:buClr>
          <a:schemeClr val="accent1"/>
        </a:buClr>
        <a:buSzPct val="150000"/>
        <a:buFontTx/>
        <a:buBlip>
          <a:blip r:embed="rId16"/>
        </a:buBlip>
        <a:defRPr sz="1200" kern="1200" baseline="0">
          <a:solidFill>
            <a:schemeClr val="tx1"/>
          </a:solidFill>
          <a:latin typeface="Comfortaa Thin"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3.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4.jp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5.jp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6.jp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7.jpg"/></Relationships>
</file>

<file path=ppt/slides/_rels/slide6.xml.rels><?xml version="1.0" encoding="UTF-8" standalone="yes"?>
<Relationships xmlns="http://schemas.openxmlformats.org/package/2006/relationships"><Relationship Id="rId3" Type="http://schemas.openxmlformats.org/officeDocument/2006/relationships/image" Target="../media/image8.png"/><Relationship Id="rId4" Type="http://schemas.openxmlformats.org/officeDocument/2006/relationships/image" Target="../media/image9.png"/><Relationship Id="rId5" Type="http://schemas.openxmlformats.org/officeDocument/2006/relationships/image" Target="../media/image10.png"/><Relationship Id="rId1" Type="http://schemas.openxmlformats.org/officeDocument/2006/relationships/slideLayout" Target="../slideLayouts/slideLayout2.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1.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4" Type="http://schemas.openxmlformats.org/officeDocument/2006/relationships/image" Target="../media/image13.png"/><Relationship Id="rId5" Type="http://schemas.openxmlformats.org/officeDocument/2006/relationships/image" Target="../media/image14.png"/><Relationship Id="rId6" Type="http://schemas.openxmlformats.org/officeDocument/2006/relationships/image" Target="../media/image15.png"/><Relationship Id="rId7" Type="http://schemas.openxmlformats.org/officeDocument/2006/relationships/image" Target="../media/image16.png"/><Relationship Id="rId8" Type="http://schemas.openxmlformats.org/officeDocument/2006/relationships/image" Target="../media/image17.png"/><Relationship Id="rId9" Type="http://schemas.openxmlformats.org/officeDocument/2006/relationships/image" Target="../media/image18.png"/><Relationship Id="rId1" Type="http://schemas.openxmlformats.org/officeDocument/2006/relationships/slideLayout" Target="../slideLayouts/slideLayout5.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3" Type="http://schemas.openxmlformats.org/officeDocument/2006/relationships/chart" Target="../charts/chart1.xml"/><Relationship Id="rId4" Type="http://schemas.openxmlformats.org/officeDocument/2006/relationships/image" Target="../media/image12.png"/><Relationship Id="rId5" Type="http://schemas.openxmlformats.org/officeDocument/2006/relationships/image" Target="../media/image13.png"/><Relationship Id="rId6" Type="http://schemas.openxmlformats.org/officeDocument/2006/relationships/image" Target="../media/image14.png"/><Relationship Id="rId7" Type="http://schemas.openxmlformats.org/officeDocument/2006/relationships/image" Target="../media/image15.png"/><Relationship Id="rId8" Type="http://schemas.openxmlformats.org/officeDocument/2006/relationships/image" Target="../media/image16.png"/><Relationship Id="rId9" Type="http://schemas.openxmlformats.org/officeDocument/2006/relationships/chart" Target="../charts/chart2.xml"/><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9.jpg"/></Relationships>
</file>

<file path=ppt/slides/_rels/slide11.xml.rels><?xml version="1.0" encoding="UTF-8" standalone="yes"?>
<Relationships xmlns="http://schemas.openxmlformats.org/package/2006/relationships"><Relationship Id="rId3" Type="http://schemas.openxmlformats.org/officeDocument/2006/relationships/image" Target="../media/image20.png"/><Relationship Id="rId4" Type="http://schemas.openxmlformats.org/officeDocument/2006/relationships/image" Target="../media/image21.tiff"/><Relationship Id="rId5" Type="http://schemas.openxmlformats.org/officeDocument/2006/relationships/image" Target="../media/image22.png"/><Relationship Id="rId6" Type="http://schemas.openxmlformats.org/officeDocument/2006/relationships/image" Target="../media/image23.png"/><Relationship Id="rId7" Type="http://schemas.openxmlformats.org/officeDocument/2006/relationships/image" Target="../media/image24.png"/><Relationship Id="rId1" Type="http://schemas.openxmlformats.org/officeDocument/2006/relationships/slideLayout" Target="../slideLayouts/slideLayout2.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2.emf"/></Relationships>
</file>

<file path=ppt/slides/_rels/slide13.xml.rels><?xml version="1.0" encoding="UTF-8" standalone="yes"?>
<Relationships xmlns="http://schemas.openxmlformats.org/package/2006/relationships"><Relationship Id="rId3" Type="http://schemas.openxmlformats.org/officeDocument/2006/relationships/image" Target="../media/image25.jpg"/><Relationship Id="rId4" Type="http://schemas.openxmlformats.org/officeDocument/2006/relationships/image" Target="../media/image26.png"/><Relationship Id="rId5" Type="http://schemas.openxmlformats.org/officeDocument/2006/relationships/image" Target="../media/image27.tiff"/><Relationship Id="rId6" Type="http://schemas.openxmlformats.org/officeDocument/2006/relationships/image" Target="../media/image28.png"/><Relationship Id="rId7" Type="http://schemas.openxmlformats.org/officeDocument/2006/relationships/image" Target="../media/image29.png"/><Relationship Id="rId8" Type="http://schemas.openxmlformats.org/officeDocument/2006/relationships/hyperlink" Target="https://www.google.pt/maps/place/Ningbo,+Zhejiang,+China/@31.1886038,106.7044438,5.02z/data=!4m5!3m4!1s0x344d6354630858f7:0x948723f846ccf173!8m2!3d29.868336!4d121.54399" TargetMode="External"/><Relationship Id="rId1" Type="http://schemas.openxmlformats.org/officeDocument/2006/relationships/slideLayout" Target="../slideLayouts/slideLayout2.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3" Type="http://schemas.openxmlformats.org/officeDocument/2006/relationships/image" Target="../media/image30.png"/><Relationship Id="rId4" Type="http://schemas.openxmlformats.org/officeDocument/2006/relationships/image" Target="../media/image31.png"/><Relationship Id="rId5" Type="http://schemas.openxmlformats.org/officeDocument/2006/relationships/image" Target="../media/image32.png"/><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3" Type="http://schemas.openxmlformats.org/officeDocument/2006/relationships/image" Target="../media/image33.png"/><Relationship Id="rId4" Type="http://schemas.openxmlformats.org/officeDocument/2006/relationships/image" Target="../media/image34.png"/><Relationship Id="rId5" Type="http://schemas.openxmlformats.org/officeDocument/2006/relationships/image" Target="../media/image35.jpg"/><Relationship Id="rId6" Type="http://schemas.openxmlformats.org/officeDocument/2006/relationships/image" Target="../media/image36.png"/><Relationship Id="rId7" Type="http://schemas.openxmlformats.org/officeDocument/2006/relationships/image" Target="../media/image37.png"/><Relationship Id="rId8" Type="http://schemas.openxmlformats.org/officeDocument/2006/relationships/image" Target="../media/image38.png"/><Relationship Id="rId9" Type="http://schemas.openxmlformats.org/officeDocument/2006/relationships/image" Target="../media/image39.png"/><Relationship Id="rId10" Type="http://schemas.openxmlformats.org/officeDocument/2006/relationships/image" Target="../media/image40.png"/><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41.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12192000" cy="6858000"/>
          </a:xfrm>
          <a:prstGeom prst="rect">
            <a:avLst/>
          </a:prstGeom>
        </p:spPr>
      </p:pic>
      <p:sp>
        <p:nvSpPr>
          <p:cNvPr id="2" name="Title 1"/>
          <p:cNvSpPr>
            <a:spLocks noGrp="1"/>
          </p:cNvSpPr>
          <p:nvPr>
            <p:ph type="ctrTitle"/>
          </p:nvPr>
        </p:nvSpPr>
        <p:spPr>
          <a:xfrm>
            <a:off x="465227" y="3429000"/>
            <a:ext cx="10706496" cy="2971051"/>
          </a:xfrm>
          <a:noFill/>
          <a:ln>
            <a:noFill/>
          </a:ln>
          <a:effectLst>
            <a:outerShdw blurRad="50800" dist="76200" dir="2700000" algn="tl" rotWithShape="0">
              <a:prstClr val="black">
                <a:alpha val="40000"/>
              </a:prstClr>
            </a:outerShdw>
          </a:effectLst>
        </p:spPr>
        <p:txBody>
          <a:bodyPr/>
          <a:lstStyle/>
          <a:p>
            <a:r>
              <a:rPr lang="en-US" sz="6600" dirty="0" smtClean="0">
                <a:solidFill>
                  <a:schemeClr val="accent1">
                    <a:lumMod val="20000"/>
                    <a:lumOff val="80000"/>
                  </a:schemeClr>
                </a:solidFill>
                <a:latin typeface="Comfortaa" charset="0"/>
                <a:ea typeface="Comfortaa" charset="0"/>
                <a:cs typeface="Comfortaa" charset="0"/>
              </a:rPr>
              <a:t>NESTO Gas</a:t>
            </a:r>
            <a:r>
              <a:rPr lang="en-US" sz="7200" dirty="0" smtClean="0">
                <a:solidFill>
                  <a:schemeClr val="accent1">
                    <a:lumMod val="20000"/>
                    <a:lumOff val="80000"/>
                  </a:schemeClr>
                </a:solidFill>
              </a:rPr>
              <a:t/>
            </a:r>
            <a:br>
              <a:rPr lang="en-US" sz="7200" dirty="0" smtClean="0">
                <a:solidFill>
                  <a:schemeClr val="accent1">
                    <a:lumMod val="20000"/>
                    <a:lumOff val="80000"/>
                  </a:schemeClr>
                </a:solidFill>
              </a:rPr>
            </a:br>
            <a:r>
              <a:rPr lang="en-US" sz="3600" b="0" dirty="0" smtClean="0">
                <a:solidFill>
                  <a:schemeClr val="accent1">
                    <a:lumMod val="20000"/>
                    <a:lumOff val="80000"/>
                  </a:schemeClr>
                </a:solidFill>
                <a:latin typeface="Raleway Light" charset="0"/>
                <a:ea typeface="Raleway Light" charset="0"/>
                <a:cs typeface="Raleway Light" charset="0"/>
              </a:rPr>
              <a:t>Digitalization of the bottled LPG value chain</a:t>
            </a:r>
            <a:endParaRPr lang="en-US" sz="3600" b="0" dirty="0">
              <a:solidFill>
                <a:schemeClr val="accent1">
                  <a:lumMod val="20000"/>
                  <a:lumOff val="80000"/>
                </a:schemeClr>
              </a:solidFill>
              <a:latin typeface="Raleway Light" charset="0"/>
              <a:ea typeface="Raleway Light" charset="0"/>
              <a:cs typeface="Raleway Light" charset="0"/>
            </a:endParaRPr>
          </a:p>
        </p:txBody>
      </p:sp>
    </p:spTree>
    <p:extLst>
      <p:ext uri="{BB962C8B-B14F-4D97-AF65-F5344CB8AC3E}">
        <p14:creationId xmlns:p14="http://schemas.microsoft.com/office/powerpoint/2010/main" val="128737367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alpha val="0"/>
          </a:schemeClr>
        </a:solidFill>
        <a:effectLst/>
      </p:bgPr>
    </p:bg>
    <p:spTree>
      <p:nvGrpSpPr>
        <p:cNvPr id="1" name=""/>
        <p:cNvGrpSpPr/>
        <p:nvPr/>
      </p:nvGrpSpPr>
      <p:grpSpPr>
        <a:xfrm>
          <a:off x="0" y="0"/>
          <a:ext cx="0" cy="0"/>
          <a:chOff x="0" y="0"/>
          <a:chExt cx="0" cy="0"/>
        </a:xfrm>
      </p:grpSpPr>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925690" y="1576078"/>
            <a:ext cx="14723110" cy="6788990"/>
          </a:xfrm>
          <a:prstGeom prst="rect">
            <a:avLst/>
          </a:prstGeom>
        </p:spPr>
      </p:pic>
      <p:sp>
        <p:nvSpPr>
          <p:cNvPr id="2" name="Title 1"/>
          <p:cNvSpPr>
            <a:spLocks noGrp="1"/>
          </p:cNvSpPr>
          <p:nvPr>
            <p:ph type="title"/>
          </p:nvPr>
        </p:nvSpPr>
        <p:spPr>
          <a:effectLst/>
        </p:spPr>
        <p:txBody>
          <a:bodyPr/>
          <a:lstStyle/>
          <a:p>
            <a:r>
              <a:rPr lang="en-GB" dirty="0" smtClean="0">
                <a:solidFill>
                  <a:schemeClr val="bg1"/>
                </a:solidFill>
                <a:effectLst>
                  <a:outerShdw blurRad="50800" dist="76200" dir="2700000" algn="tl" rotWithShape="0">
                    <a:prstClr val="black">
                      <a:alpha val="40000"/>
                    </a:prstClr>
                  </a:outerShdw>
                </a:effectLst>
              </a:rPr>
              <a:t>Can you tell the </a:t>
            </a:r>
            <a:r>
              <a:rPr lang="en-GB" dirty="0" smtClean="0">
                <a:solidFill>
                  <a:srgbClr val="CF1C00"/>
                </a:solidFill>
                <a:effectLst>
                  <a:outerShdw blurRad="50800" dist="76200" dir="2700000" algn="tl" rotWithShape="0">
                    <a:prstClr val="black">
                      <a:alpha val="40000"/>
                    </a:prstClr>
                  </a:outerShdw>
                </a:effectLst>
              </a:rPr>
              <a:t>difference?</a:t>
            </a:r>
            <a:endParaRPr lang="en-GB" dirty="0">
              <a:solidFill>
                <a:srgbClr val="CF1C00"/>
              </a:solidFill>
              <a:effectLst>
                <a:outerShdw blurRad="50800" dist="76200" dir="2700000" algn="tl" rotWithShape="0">
                  <a:prstClr val="black">
                    <a:alpha val="40000"/>
                  </a:prstClr>
                </a:outerShdw>
              </a:effectLst>
            </a:endParaRPr>
          </a:p>
        </p:txBody>
      </p:sp>
    </p:spTree>
    <p:extLst>
      <p:ext uri="{BB962C8B-B14F-4D97-AF65-F5344CB8AC3E}">
        <p14:creationId xmlns:p14="http://schemas.microsoft.com/office/powerpoint/2010/main" val="205443441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320" y="0"/>
            <a:ext cx="12212320" cy="7327392"/>
          </a:xfrm>
          <a:prstGeom prst="rect">
            <a:avLst/>
          </a:prstGeom>
        </p:spPr>
      </p:pic>
      <p:sp>
        <p:nvSpPr>
          <p:cNvPr id="7" name="Title 1"/>
          <p:cNvSpPr txBox="1">
            <a:spLocks noGrp="1"/>
          </p:cNvSpPr>
          <p:nvPr>
            <p:ph type="title"/>
          </p:nvPr>
        </p:nvSpPr>
        <p:spPr>
          <a:prstGeom prst="rect">
            <a:avLst/>
          </a:prstGeom>
          <a:effectLst>
            <a:outerShdw blurRad="50800" dir="14400000">
              <a:srgbClr val="000000">
                <a:alpha val="60000"/>
              </a:srgbClr>
            </a:outerShdw>
          </a:effectLst>
        </p:spPr>
        <p:txBody>
          <a:bodyPr vert="horz" lIns="91440" tIns="45720" rIns="91440" bIns="45720" rtlCol="0" anchor="b">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spcBef>
                <a:spcPts val="600"/>
              </a:spcBef>
            </a:pPr>
            <a:r>
              <a:rPr lang="en-GB" dirty="0" smtClean="0"/>
              <a:t>Neither does she</a:t>
            </a:r>
            <a:r>
              <a:rPr lang="is-IS" dirty="0" smtClean="0"/>
              <a:t>… </a:t>
            </a:r>
            <a:r>
              <a:rPr lang="en-GB" dirty="0" smtClean="0">
                <a:solidFill>
                  <a:srgbClr val="FF0000"/>
                </a:solidFill>
              </a:rPr>
              <a:t>Cold shower </a:t>
            </a:r>
            <a:r>
              <a:rPr lang="en-GB" dirty="0" smtClean="0"/>
              <a:t>syndrome</a:t>
            </a:r>
            <a:endParaRPr lang="en-GB" dirty="0"/>
          </a:p>
        </p:txBody>
      </p:sp>
    </p:spTree>
    <p:extLst>
      <p:ext uri="{BB962C8B-B14F-4D97-AF65-F5344CB8AC3E}">
        <p14:creationId xmlns:p14="http://schemas.microsoft.com/office/powerpoint/2010/main" val="88788064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0" name="Picture 9"/>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0"/>
            <a:ext cx="5143500" cy="6858000"/>
          </a:xfrm>
          <a:prstGeom prst="rect">
            <a:avLst/>
          </a:prstGeom>
        </p:spPr>
      </p:pic>
      <p:sp>
        <p:nvSpPr>
          <p:cNvPr id="3" name="Title 2"/>
          <p:cNvSpPr>
            <a:spLocks noGrp="1"/>
          </p:cNvSpPr>
          <p:nvPr>
            <p:ph type="title"/>
          </p:nvPr>
        </p:nvSpPr>
        <p:spPr>
          <a:xfrm>
            <a:off x="5143500" y="1931670"/>
            <a:ext cx="7048500" cy="2366328"/>
          </a:xfrm>
          <a:effectLst/>
        </p:spPr>
        <p:txBody>
          <a:bodyPr anchor="ctr"/>
          <a:lstStyle/>
          <a:p>
            <a:pPr algn="ctr"/>
            <a:r>
              <a:rPr lang="en-GB" sz="4400" b="0" dirty="0" smtClean="0">
                <a:solidFill>
                  <a:schemeClr val="bg1"/>
                </a:solidFill>
              </a:rPr>
              <a:t>LPG companies want </a:t>
            </a:r>
            <a:r>
              <a:rPr lang="en-GB" sz="4400" dirty="0" smtClean="0">
                <a:solidFill>
                  <a:srgbClr val="FF7D01"/>
                </a:solidFill>
              </a:rPr>
              <a:t>you</a:t>
            </a:r>
            <a:br>
              <a:rPr lang="en-GB" sz="4400" dirty="0" smtClean="0">
                <a:solidFill>
                  <a:srgbClr val="FF7D01"/>
                </a:solidFill>
              </a:rPr>
            </a:br>
            <a:r>
              <a:rPr lang="en-GB" sz="4400" b="0" dirty="0" smtClean="0">
                <a:solidFill>
                  <a:schemeClr val="bg1"/>
                </a:solidFill>
              </a:rPr>
              <a:t>to think </a:t>
            </a:r>
            <a:r>
              <a:rPr lang="en-GB" sz="4400" dirty="0" smtClean="0">
                <a:solidFill>
                  <a:srgbClr val="FF7D01"/>
                </a:solidFill>
              </a:rPr>
              <a:t>they</a:t>
            </a:r>
            <a:r>
              <a:rPr lang="en-GB" sz="4400" b="0" dirty="0" smtClean="0"/>
              <a:t> </a:t>
            </a:r>
            <a:r>
              <a:rPr lang="en-GB" sz="4400" b="0" dirty="0" smtClean="0">
                <a:solidFill>
                  <a:schemeClr val="bg1"/>
                </a:solidFill>
              </a:rPr>
              <a:t>are like this …</a:t>
            </a:r>
            <a:endParaRPr lang="en-GB" sz="4400" b="0" dirty="0">
              <a:solidFill>
                <a:schemeClr val="bg1"/>
              </a:solidFill>
            </a:endParaRPr>
          </a:p>
        </p:txBody>
      </p:sp>
    </p:spTree>
    <p:extLst>
      <p:ext uri="{BB962C8B-B14F-4D97-AF65-F5344CB8AC3E}">
        <p14:creationId xmlns:p14="http://schemas.microsoft.com/office/powerpoint/2010/main" val="24132954"/>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p:cNvSpPr>
            <a:spLocks noGrp="1"/>
          </p:cNvSpPr>
          <p:nvPr>
            <p:ph type="title"/>
          </p:nvPr>
        </p:nvSpPr>
        <p:spPr>
          <a:xfrm>
            <a:off x="0" y="1931670"/>
            <a:ext cx="7620000" cy="2366328"/>
          </a:xfrm>
        </p:spPr>
        <p:txBody>
          <a:bodyPr anchor="ctr"/>
          <a:lstStyle/>
          <a:p>
            <a:pPr algn="ctr"/>
            <a:r>
              <a:rPr lang="en-GB" sz="4400" b="0" dirty="0" smtClean="0"/>
              <a:t>But it’s actually</a:t>
            </a:r>
            <a:br>
              <a:rPr lang="en-GB" sz="4400" b="0" dirty="0" smtClean="0"/>
            </a:br>
            <a:r>
              <a:rPr lang="en-GB" sz="4400" b="0" dirty="0" smtClean="0"/>
              <a:t>more like </a:t>
            </a:r>
            <a:r>
              <a:rPr lang="en-GB" sz="4400" dirty="0" smtClean="0">
                <a:solidFill>
                  <a:srgbClr val="4B382A"/>
                </a:solidFill>
              </a:rPr>
              <a:t>this</a:t>
            </a:r>
            <a:r>
              <a:rPr lang="mr-IN" sz="4400" dirty="0" smtClean="0">
                <a:solidFill>
                  <a:srgbClr val="4B382A"/>
                </a:solidFill>
              </a:rPr>
              <a:t>…</a:t>
            </a:r>
            <a:endParaRPr lang="en-GB" sz="4400" dirty="0">
              <a:solidFill>
                <a:srgbClr val="4B382A"/>
              </a:solidFill>
            </a:endParaRPr>
          </a:p>
        </p:txBody>
      </p:sp>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7620000" y="0"/>
            <a:ext cx="4572000" cy="6858000"/>
          </a:xfrm>
          <a:prstGeom prst="rect">
            <a:avLst/>
          </a:prstGeom>
        </p:spPr>
      </p:pic>
    </p:spTree>
    <p:extLst>
      <p:ext uri="{BB962C8B-B14F-4D97-AF65-F5344CB8AC3E}">
        <p14:creationId xmlns:p14="http://schemas.microsoft.com/office/powerpoint/2010/main" val="61080405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8" name="Picture 7"/>
          <p:cNvPicPr>
            <a:picLocks noChangeAspect="1"/>
          </p:cNvPicPr>
          <p:nvPr/>
        </p:nvPicPr>
        <p:blipFill>
          <a:blip r:embed="rId3">
            <a:alphaModFix amt="30000"/>
            <a:extLst>
              <a:ext uri="{28A0092B-C50C-407E-A947-70E740481C1C}">
                <a14:useLocalDpi xmlns:a14="http://schemas.microsoft.com/office/drawing/2010/main" val="0"/>
              </a:ext>
            </a:extLst>
          </a:blip>
          <a:stretch>
            <a:fillRect/>
          </a:stretch>
        </p:blipFill>
        <p:spPr>
          <a:xfrm rot="483819">
            <a:off x="2082883" y="546518"/>
            <a:ext cx="8401761" cy="5942626"/>
          </a:xfrm>
          <a:prstGeom prst="rect">
            <a:avLst/>
          </a:prstGeom>
        </p:spPr>
      </p:pic>
      <p:sp>
        <p:nvSpPr>
          <p:cNvPr id="2" name="Title 1"/>
          <p:cNvSpPr>
            <a:spLocks noGrp="1"/>
          </p:cNvSpPr>
          <p:nvPr>
            <p:ph type="title"/>
          </p:nvPr>
        </p:nvSpPr>
        <p:spPr>
          <a:xfrm>
            <a:off x="810000" y="447187"/>
            <a:ext cx="10571998" cy="1775099"/>
          </a:xfrm>
        </p:spPr>
        <p:txBody>
          <a:bodyPr anchor="t"/>
          <a:lstStyle/>
          <a:p>
            <a:r>
              <a:rPr lang="en-US" dirty="0">
                <a:solidFill>
                  <a:srgbClr val="57CABF"/>
                </a:solidFill>
              </a:rPr>
              <a:t>Never</a:t>
            </a:r>
            <a:r>
              <a:rPr lang="en-US" dirty="0">
                <a:solidFill>
                  <a:schemeClr val="tx1"/>
                </a:solidFill>
              </a:rPr>
              <a:t> run out of gas ever again…</a:t>
            </a:r>
          </a:p>
        </p:txBody>
      </p:sp>
      <p:sp>
        <p:nvSpPr>
          <p:cNvPr id="13" name="Content Placeholder 2"/>
          <p:cNvSpPr>
            <a:spLocks noGrp="1"/>
          </p:cNvSpPr>
          <p:nvPr>
            <p:ph idx="1"/>
          </p:nvPr>
        </p:nvSpPr>
        <p:spPr>
          <a:xfrm>
            <a:off x="818712" y="4130040"/>
            <a:ext cx="10554574" cy="2118360"/>
          </a:xfrm>
        </p:spPr>
        <p:txBody>
          <a:bodyPr anchor="t">
            <a:noAutofit/>
          </a:bodyPr>
          <a:lstStyle/>
          <a:p>
            <a:pPr>
              <a:spcBef>
                <a:spcPts val="0"/>
              </a:spcBef>
              <a:spcAft>
                <a:spcPts val="2400"/>
              </a:spcAft>
            </a:pPr>
            <a:r>
              <a:rPr lang="en-US" sz="2800" dirty="0" smtClean="0">
                <a:latin typeface="Raleway Light" charset="0"/>
                <a:ea typeface="Raleway Light" charset="0"/>
                <a:cs typeface="Raleway Light" charset="0"/>
              </a:rPr>
              <a:t>A </a:t>
            </a:r>
            <a:r>
              <a:rPr lang="en-US" sz="2800" dirty="0" smtClean="0">
                <a:solidFill>
                  <a:srgbClr val="57CABF"/>
                </a:solidFill>
                <a:latin typeface="Raleway Light" charset="0"/>
                <a:ea typeface="Raleway Light" charset="0"/>
                <a:cs typeface="Raleway Light" charset="0"/>
              </a:rPr>
              <a:t>smart battery-powered </a:t>
            </a:r>
            <a:r>
              <a:rPr lang="en-US" sz="2800" b="1" dirty="0" smtClean="0">
                <a:latin typeface="Raleway Light" charset="0"/>
                <a:ea typeface="Raleway Light" charset="0"/>
                <a:cs typeface="Raleway Light" charset="0"/>
              </a:rPr>
              <a:t>weight scale with</a:t>
            </a:r>
            <a:r>
              <a:rPr lang="en-US" sz="2800" b="1" dirty="0" smtClean="0">
                <a:solidFill>
                  <a:srgbClr val="57CABF"/>
                </a:solidFill>
                <a:latin typeface="Raleway Light" charset="0"/>
                <a:ea typeface="Raleway Light" charset="0"/>
                <a:cs typeface="Raleway Light" charset="0"/>
              </a:rPr>
              <a:t> IoT connectivity</a:t>
            </a:r>
          </a:p>
          <a:p>
            <a:pPr>
              <a:spcBef>
                <a:spcPts val="0"/>
              </a:spcBef>
              <a:spcAft>
                <a:spcPts val="2400"/>
              </a:spcAft>
            </a:pPr>
            <a:r>
              <a:rPr lang="en-US" sz="2800" dirty="0" smtClean="0">
                <a:latin typeface="Raleway Light" charset="0"/>
                <a:ea typeface="Raleway Light" charset="0"/>
                <a:cs typeface="Raleway Light" charset="0"/>
              </a:rPr>
              <a:t>A mobile app for </a:t>
            </a:r>
            <a:r>
              <a:rPr lang="en-US" sz="2800" b="1" dirty="0" smtClean="0">
                <a:solidFill>
                  <a:srgbClr val="57CABF"/>
                </a:solidFill>
                <a:latin typeface="Raleway Light" charset="0"/>
                <a:ea typeface="Raleway Light" charset="0"/>
                <a:cs typeface="Raleway Light" charset="0"/>
              </a:rPr>
              <a:t>consumers &amp; distributors</a:t>
            </a:r>
          </a:p>
          <a:p>
            <a:pPr>
              <a:spcBef>
                <a:spcPts val="0"/>
              </a:spcBef>
              <a:spcAft>
                <a:spcPts val="2400"/>
              </a:spcAft>
            </a:pPr>
            <a:r>
              <a:rPr lang="is-IS" sz="2800" dirty="0" smtClean="0">
                <a:latin typeface="Raleway Light" charset="0"/>
                <a:ea typeface="Raleway Light" charset="0"/>
                <a:cs typeface="Raleway Light" charset="0"/>
              </a:rPr>
              <a:t>A </a:t>
            </a:r>
            <a:r>
              <a:rPr lang="en-US" sz="2800" dirty="0" smtClean="0">
                <a:latin typeface="Raleway Light" charset="0"/>
                <a:ea typeface="Raleway Light" charset="0"/>
                <a:cs typeface="Raleway Light" charset="0"/>
              </a:rPr>
              <a:t>back-end with </a:t>
            </a:r>
            <a:r>
              <a:rPr lang="en-US" sz="2800" b="1" dirty="0" smtClean="0">
                <a:solidFill>
                  <a:srgbClr val="57CABF"/>
                </a:solidFill>
                <a:latin typeface="Raleway Light" charset="0"/>
                <a:ea typeface="Raleway Light" charset="0"/>
                <a:cs typeface="Raleway Light" charset="0"/>
              </a:rPr>
              <a:t>predictive </a:t>
            </a:r>
            <a:r>
              <a:rPr lang="en-US" sz="2800" dirty="0" smtClean="0">
                <a:latin typeface="Raleway Light" charset="0"/>
                <a:ea typeface="Raleway Light" charset="0"/>
                <a:cs typeface="Raleway Light" charset="0"/>
              </a:rPr>
              <a:t>analytics and routing capabilities</a:t>
            </a:r>
          </a:p>
        </p:txBody>
      </p:sp>
      <p:pic>
        <p:nvPicPr>
          <p:cNvPr id="5" name="Picture 4"/>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543876" y="1303608"/>
            <a:ext cx="4841085" cy="2690374"/>
          </a:xfrm>
          <a:prstGeom prst="rect">
            <a:avLst/>
          </a:prstGeom>
        </p:spPr>
      </p:pic>
      <p:grpSp>
        <p:nvGrpSpPr>
          <p:cNvPr id="7" name="Group 6"/>
          <p:cNvGrpSpPr/>
          <p:nvPr/>
        </p:nvGrpSpPr>
        <p:grpSpPr>
          <a:xfrm>
            <a:off x="6095999" y="1368334"/>
            <a:ext cx="5351108" cy="2353860"/>
            <a:chOff x="928126" y="1334736"/>
            <a:chExt cx="10292173" cy="4527349"/>
          </a:xfrm>
        </p:grpSpPr>
        <p:pic>
          <p:nvPicPr>
            <p:cNvPr id="9" name="Picture 8"/>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928126" y="1334736"/>
              <a:ext cx="10292173" cy="4527349"/>
            </a:xfrm>
            <a:prstGeom prst="rect">
              <a:avLst/>
            </a:prstGeom>
          </p:spPr>
        </p:pic>
        <p:sp>
          <p:nvSpPr>
            <p:cNvPr id="10" name="Freeform 9"/>
            <p:cNvSpPr/>
            <p:nvPr/>
          </p:nvSpPr>
          <p:spPr>
            <a:xfrm>
              <a:off x="1735682" y="5212004"/>
              <a:ext cx="4625008" cy="345281"/>
            </a:xfrm>
            <a:custGeom>
              <a:avLst/>
              <a:gdLst>
                <a:gd name="connsiteX0" fmla="*/ 0 w 4625008"/>
                <a:gd name="connsiteY0" fmla="*/ 0 h 345281"/>
                <a:gd name="connsiteX1" fmla="*/ 927652 w 4625008"/>
                <a:gd name="connsiteY1" fmla="*/ 13252 h 345281"/>
                <a:gd name="connsiteX2" fmla="*/ 1789043 w 4625008"/>
                <a:gd name="connsiteY2" fmla="*/ 79513 h 345281"/>
                <a:gd name="connsiteX3" fmla="*/ 2491408 w 4625008"/>
                <a:gd name="connsiteY3" fmla="*/ 106018 h 345281"/>
                <a:gd name="connsiteX4" fmla="*/ 3498574 w 4625008"/>
                <a:gd name="connsiteY4" fmla="*/ 185531 h 345281"/>
                <a:gd name="connsiteX5" fmla="*/ 3723861 w 4625008"/>
                <a:gd name="connsiteY5" fmla="*/ 291548 h 345281"/>
                <a:gd name="connsiteX6" fmla="*/ 4625008 w 4625008"/>
                <a:gd name="connsiteY6" fmla="*/ 331305 h 3452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625008" h="345281">
                  <a:moveTo>
                    <a:pt x="0" y="0"/>
                  </a:moveTo>
                  <a:cubicBezTo>
                    <a:pt x="314739" y="0"/>
                    <a:pt x="629478" y="0"/>
                    <a:pt x="927652" y="13252"/>
                  </a:cubicBezTo>
                  <a:cubicBezTo>
                    <a:pt x="1225826" y="26504"/>
                    <a:pt x="1528417" y="64052"/>
                    <a:pt x="1789043" y="79513"/>
                  </a:cubicBezTo>
                  <a:cubicBezTo>
                    <a:pt x="2049669" y="94974"/>
                    <a:pt x="2206486" y="88348"/>
                    <a:pt x="2491408" y="106018"/>
                  </a:cubicBezTo>
                  <a:cubicBezTo>
                    <a:pt x="2776330" y="123688"/>
                    <a:pt x="3293165" y="154609"/>
                    <a:pt x="3498574" y="185531"/>
                  </a:cubicBezTo>
                  <a:cubicBezTo>
                    <a:pt x="3703983" y="216453"/>
                    <a:pt x="3536122" y="267252"/>
                    <a:pt x="3723861" y="291548"/>
                  </a:cubicBezTo>
                  <a:cubicBezTo>
                    <a:pt x="3911600" y="315844"/>
                    <a:pt x="4461565" y="371061"/>
                    <a:pt x="4625008" y="33130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10"/>
            <p:cNvSpPr/>
            <p:nvPr/>
          </p:nvSpPr>
          <p:spPr>
            <a:xfrm>
              <a:off x="6360690" y="5176988"/>
              <a:ext cx="4135034" cy="380297"/>
            </a:xfrm>
            <a:custGeom>
              <a:avLst/>
              <a:gdLst>
                <a:gd name="connsiteX0" fmla="*/ 353 w 4135034"/>
                <a:gd name="connsiteY0" fmla="*/ 380297 h 380297"/>
                <a:gd name="connsiteX1" fmla="*/ 40110 w 4135034"/>
                <a:gd name="connsiteY1" fmla="*/ 22488 h 380297"/>
                <a:gd name="connsiteX2" fmla="*/ 252145 w 4135034"/>
                <a:gd name="connsiteY2" fmla="*/ 35740 h 380297"/>
                <a:gd name="connsiteX3" fmla="*/ 888249 w 4135034"/>
                <a:gd name="connsiteY3" fmla="*/ 62244 h 380297"/>
                <a:gd name="connsiteX4" fmla="*/ 1961675 w 4135034"/>
                <a:gd name="connsiteY4" fmla="*/ 181514 h 380297"/>
                <a:gd name="connsiteX5" fmla="*/ 3777223 w 4135034"/>
                <a:gd name="connsiteY5" fmla="*/ 247775 h 380297"/>
                <a:gd name="connsiteX6" fmla="*/ 4135032 w 4135034"/>
                <a:gd name="connsiteY6" fmla="*/ 247775 h 3802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4135034" h="380297">
                  <a:moveTo>
                    <a:pt x="353" y="380297"/>
                  </a:moveTo>
                  <a:cubicBezTo>
                    <a:pt x="-751" y="230105"/>
                    <a:pt x="-1855" y="79914"/>
                    <a:pt x="40110" y="22488"/>
                  </a:cubicBezTo>
                  <a:cubicBezTo>
                    <a:pt x="82075" y="-34938"/>
                    <a:pt x="252145" y="35740"/>
                    <a:pt x="252145" y="35740"/>
                  </a:cubicBezTo>
                  <a:cubicBezTo>
                    <a:pt x="393501" y="42366"/>
                    <a:pt x="603327" y="37948"/>
                    <a:pt x="888249" y="62244"/>
                  </a:cubicBezTo>
                  <a:cubicBezTo>
                    <a:pt x="1173171" y="86540"/>
                    <a:pt x="1480179" y="150592"/>
                    <a:pt x="1961675" y="181514"/>
                  </a:cubicBezTo>
                  <a:cubicBezTo>
                    <a:pt x="2443171" y="212436"/>
                    <a:pt x="3414997" y="236732"/>
                    <a:pt x="3777223" y="247775"/>
                  </a:cubicBezTo>
                  <a:cubicBezTo>
                    <a:pt x="4139449" y="258818"/>
                    <a:pt x="4135032" y="247775"/>
                    <a:pt x="4135032" y="247775"/>
                  </a:cubicBezTo>
                </a:path>
              </a:pathLst>
            </a:cu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08496827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68535" y="-1"/>
            <a:ext cx="9143998" cy="6857999"/>
          </a:xfrm>
          <a:prstGeom prst="rect">
            <a:avLst/>
          </a:prstGeom>
        </p:spPr>
      </p:pic>
      <p:sp>
        <p:nvSpPr>
          <p:cNvPr id="4" name="Rectangle 3"/>
          <p:cNvSpPr/>
          <p:nvPr/>
        </p:nvSpPr>
        <p:spPr>
          <a:xfrm>
            <a:off x="7588118" y="0"/>
            <a:ext cx="4603881"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dirty="0"/>
          </a:p>
        </p:txBody>
      </p:sp>
      <p:sp>
        <p:nvSpPr>
          <p:cNvPr id="2" name="Title 1"/>
          <p:cNvSpPr>
            <a:spLocks noGrp="1"/>
          </p:cNvSpPr>
          <p:nvPr>
            <p:ph type="title"/>
          </p:nvPr>
        </p:nvSpPr>
        <p:spPr>
          <a:xfrm>
            <a:off x="483828" y="5649810"/>
            <a:ext cx="7104290" cy="970450"/>
          </a:xfrm>
          <a:effectLst>
            <a:outerShdw blurRad="50800" dist="76200" dir="2700000" algn="tl" rotWithShape="0">
              <a:prstClr val="black">
                <a:alpha val="40000"/>
              </a:prstClr>
            </a:outerShdw>
          </a:effectLst>
        </p:spPr>
        <p:txBody>
          <a:bodyPr/>
          <a:lstStyle/>
          <a:p>
            <a:r>
              <a:rPr lang="en-GB" dirty="0" smtClean="0">
                <a:solidFill>
                  <a:srgbClr val="CCEBE7"/>
                </a:solidFill>
              </a:rPr>
              <a:t>App</a:t>
            </a:r>
            <a:r>
              <a:rPr lang="en-GB" dirty="0" smtClean="0"/>
              <a:t> for End-Consumers   </a:t>
            </a:r>
            <a:endParaRPr lang="en-GB" dirty="0"/>
          </a:p>
        </p:txBody>
      </p:sp>
      <p:sp>
        <p:nvSpPr>
          <p:cNvPr id="10" name="Content Placeholder 2"/>
          <p:cNvSpPr>
            <a:spLocks noGrp="1"/>
          </p:cNvSpPr>
          <p:nvPr>
            <p:ph idx="1"/>
          </p:nvPr>
        </p:nvSpPr>
        <p:spPr>
          <a:xfrm>
            <a:off x="8049491" y="0"/>
            <a:ext cx="4142509" cy="6857999"/>
          </a:xfrm>
        </p:spPr>
        <p:txBody>
          <a:bodyPr>
            <a:normAutofit/>
          </a:bodyPr>
          <a:lstStyle/>
          <a:p>
            <a:pPr>
              <a:spcBef>
                <a:spcPts val="0"/>
              </a:spcBef>
              <a:spcAft>
                <a:spcPts val="3600"/>
              </a:spcAft>
            </a:pPr>
            <a:r>
              <a:rPr lang="en-US" sz="2800" b="1" dirty="0" smtClean="0"/>
              <a:t>Current</a:t>
            </a:r>
            <a:r>
              <a:rPr lang="en-US" sz="2800" b="1" dirty="0" smtClean="0">
                <a:solidFill>
                  <a:srgbClr val="57CABF"/>
                </a:solidFill>
              </a:rPr>
              <a:t> gas level</a:t>
            </a:r>
            <a:r>
              <a:rPr lang="en-US" sz="2800" dirty="0" smtClean="0"/>
              <a:t> indication</a:t>
            </a:r>
          </a:p>
          <a:p>
            <a:pPr>
              <a:spcBef>
                <a:spcPts val="0"/>
              </a:spcBef>
              <a:spcAft>
                <a:spcPts val="3600"/>
              </a:spcAft>
            </a:pPr>
            <a:r>
              <a:rPr lang="en-US" sz="2800" b="1" dirty="0" smtClean="0">
                <a:solidFill>
                  <a:srgbClr val="57CABF"/>
                </a:solidFill>
              </a:rPr>
              <a:t>Gas duration </a:t>
            </a:r>
            <a:r>
              <a:rPr lang="en-US" sz="2800" dirty="0" smtClean="0"/>
              <a:t>based on use</a:t>
            </a:r>
          </a:p>
          <a:p>
            <a:pPr>
              <a:spcBef>
                <a:spcPts val="0"/>
              </a:spcBef>
              <a:spcAft>
                <a:spcPts val="3600"/>
              </a:spcAft>
            </a:pPr>
            <a:r>
              <a:rPr lang="en-US" sz="2800" b="1" dirty="0">
                <a:solidFill>
                  <a:srgbClr val="57CABF"/>
                </a:solidFill>
              </a:rPr>
              <a:t>Scheduling</a:t>
            </a:r>
            <a:r>
              <a:rPr lang="en-US" sz="2800" dirty="0"/>
              <a:t> doorstep </a:t>
            </a:r>
            <a:r>
              <a:rPr lang="en-US" sz="2800" dirty="0" smtClean="0"/>
              <a:t>delivery</a:t>
            </a:r>
          </a:p>
        </p:txBody>
      </p:sp>
    </p:spTree>
    <p:extLst>
      <p:ext uri="{BB962C8B-B14F-4D97-AF65-F5344CB8AC3E}">
        <p14:creationId xmlns:p14="http://schemas.microsoft.com/office/powerpoint/2010/main" val="21055811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799907" y="168642"/>
            <a:ext cx="10571998" cy="970450"/>
          </a:xfrm>
        </p:spPr>
        <p:txBody>
          <a:bodyPr/>
          <a:lstStyle/>
          <a:p>
            <a:pPr algn="ctr"/>
            <a:r>
              <a:rPr lang="en-GB" dirty="0" smtClean="0">
                <a:solidFill>
                  <a:srgbClr val="57CABF"/>
                </a:solidFill>
              </a:rPr>
              <a:t>Business</a:t>
            </a:r>
            <a:r>
              <a:rPr lang="en-GB" dirty="0" smtClean="0"/>
              <a:t> model - B2</a:t>
            </a:r>
            <a:r>
              <a:rPr lang="en-GB" dirty="0" smtClean="0">
                <a:solidFill>
                  <a:srgbClr val="57CABF"/>
                </a:solidFill>
              </a:rPr>
              <a:t>B</a:t>
            </a:r>
            <a:endParaRPr lang="en-GB" dirty="0"/>
          </a:p>
        </p:txBody>
      </p:sp>
      <p:sp>
        <p:nvSpPr>
          <p:cNvPr id="6" name="Content Placeholder 5"/>
          <p:cNvSpPr>
            <a:spLocks noGrp="1"/>
          </p:cNvSpPr>
          <p:nvPr>
            <p:ph sz="quarter" idx="4"/>
          </p:nvPr>
        </p:nvSpPr>
        <p:spPr>
          <a:xfrm>
            <a:off x="799907" y="2518880"/>
            <a:ext cx="10815831" cy="2662329"/>
          </a:xfrm>
        </p:spPr>
        <p:txBody>
          <a:bodyPr>
            <a:normAutofit/>
          </a:bodyPr>
          <a:lstStyle/>
          <a:p>
            <a:pPr>
              <a:spcBef>
                <a:spcPts val="1200"/>
              </a:spcBef>
              <a:spcAft>
                <a:spcPts val="1200"/>
              </a:spcAft>
            </a:pPr>
            <a:r>
              <a:rPr lang="en-GB" sz="2800" dirty="0" smtClean="0"/>
              <a:t>NESTO scale is paid by LPG brand ~29€</a:t>
            </a:r>
            <a:br>
              <a:rPr lang="en-GB" sz="2800" dirty="0" smtClean="0"/>
            </a:br>
            <a:r>
              <a:rPr lang="en-GB" sz="2800" dirty="0" smtClean="0"/>
              <a:t>(possibly charged </a:t>
            </a:r>
            <a:r>
              <a:rPr lang="en-GB" sz="2800" dirty="0" smtClean="0"/>
              <a:t>back to end-consumer as a deposit)</a:t>
            </a:r>
          </a:p>
          <a:p>
            <a:pPr>
              <a:spcBef>
                <a:spcPts val="1200"/>
              </a:spcBef>
              <a:spcAft>
                <a:spcPts val="1200"/>
              </a:spcAft>
            </a:pPr>
            <a:r>
              <a:rPr lang="en-GB" sz="2800" dirty="0" smtClean="0"/>
              <a:t>NESTO service fee per delivery</a:t>
            </a:r>
          </a:p>
          <a:p>
            <a:pPr>
              <a:spcBef>
                <a:spcPts val="1200"/>
              </a:spcBef>
              <a:spcAft>
                <a:spcPts val="1200"/>
              </a:spcAft>
            </a:pPr>
            <a:r>
              <a:rPr lang="en-GB" sz="2800" dirty="0" smtClean="0"/>
              <a:t>Access to platform per distributor / per month</a:t>
            </a:r>
          </a:p>
          <a:p>
            <a:pPr>
              <a:spcBef>
                <a:spcPts val="1200"/>
              </a:spcBef>
              <a:spcAft>
                <a:spcPts val="1200"/>
              </a:spcAft>
            </a:pPr>
            <a:endParaRPr lang="en-GB" sz="2800" dirty="0" smtClean="0"/>
          </a:p>
        </p:txBody>
      </p:sp>
      <p:grpSp>
        <p:nvGrpSpPr>
          <p:cNvPr id="4" name="Group 3"/>
          <p:cNvGrpSpPr/>
          <p:nvPr/>
        </p:nvGrpSpPr>
        <p:grpSpPr>
          <a:xfrm>
            <a:off x="2051071" y="1139092"/>
            <a:ext cx="8411252" cy="1261081"/>
            <a:chOff x="2051071" y="1854387"/>
            <a:chExt cx="8411252" cy="1261081"/>
          </a:xfrm>
        </p:grpSpPr>
        <p:pic>
          <p:nvPicPr>
            <p:cNvPr id="22" name="Picture 21"/>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2051071" y="2234286"/>
              <a:ext cx="2549676" cy="619990"/>
            </a:xfrm>
            <a:prstGeom prst="rect">
              <a:avLst/>
            </a:prstGeom>
            <a:effectLst>
              <a:outerShdw blurRad="50800" dist="76200" dir="2700000" algn="tl" rotWithShape="0">
                <a:prstClr val="black">
                  <a:alpha val="40000"/>
                </a:prstClr>
              </a:outerShdw>
            </a:effectLst>
          </p:spPr>
        </p:pic>
        <p:pic>
          <p:nvPicPr>
            <p:cNvPr id="23" name="Picture 22"/>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4156154" y="1854387"/>
              <a:ext cx="1261081" cy="1261081"/>
            </a:xfrm>
            <a:prstGeom prst="rect">
              <a:avLst/>
            </a:prstGeom>
            <a:effectLst>
              <a:outerShdw blurRad="50800" dist="76200" dir="2700000" algn="tl" rotWithShape="0">
                <a:prstClr val="black">
                  <a:alpha val="40000"/>
                </a:prstClr>
              </a:outerShdw>
            </a:effectLst>
          </p:spPr>
        </p:pic>
        <p:pic>
          <p:nvPicPr>
            <p:cNvPr id="24" name="Picture 23"/>
            <p:cNvPicPr>
              <a:picLocks noChangeAspect="1"/>
            </p:cNvPicPr>
            <p:nvPr/>
          </p:nvPicPr>
          <p:blipFill rotWithShape="1">
            <a:blip r:embed="rId5">
              <a:extLst>
                <a:ext uri="{28A0092B-C50C-407E-A947-70E740481C1C}">
                  <a14:useLocalDpi xmlns:a14="http://schemas.microsoft.com/office/drawing/2010/main" val="0"/>
                </a:ext>
              </a:extLst>
            </a:blip>
            <a:srcRect l="55994" r="-55994"/>
            <a:stretch/>
          </p:blipFill>
          <p:spPr>
            <a:xfrm>
              <a:off x="6244705" y="1884306"/>
              <a:ext cx="1823162" cy="1215822"/>
            </a:xfrm>
            <a:prstGeom prst="rect">
              <a:avLst/>
            </a:prstGeom>
            <a:effectLst>
              <a:outerShdw blurRad="50800" dist="76200" dir="2700000" algn="tl" rotWithShape="0">
                <a:prstClr val="black">
                  <a:alpha val="40000"/>
                </a:prstClr>
              </a:outerShdw>
            </a:effectLst>
          </p:spPr>
        </p:pic>
        <p:pic>
          <p:nvPicPr>
            <p:cNvPr id="25" name="Picture 24"/>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7948545" y="2178675"/>
              <a:ext cx="1192828" cy="465838"/>
            </a:xfrm>
            <a:prstGeom prst="rect">
              <a:avLst/>
            </a:prstGeom>
            <a:effectLst>
              <a:outerShdw blurRad="50800" dist="76200" dir="2700000" algn="tl" rotWithShape="0">
                <a:prstClr val="black">
                  <a:alpha val="40000"/>
                </a:prstClr>
              </a:outerShdw>
            </a:effectLst>
          </p:spPr>
        </p:pic>
        <p:pic>
          <p:nvPicPr>
            <p:cNvPr id="26" name="Picture 25"/>
            <p:cNvPicPr>
              <a:picLocks noChangeAspect="1"/>
            </p:cNvPicPr>
            <p:nvPr/>
          </p:nvPicPr>
          <p:blipFill rotWithShape="1">
            <a:blip r:embed="rId7">
              <a:extLst>
                <a:ext uri="{28A0092B-C50C-407E-A947-70E740481C1C}">
                  <a14:useLocalDpi xmlns:a14="http://schemas.microsoft.com/office/drawing/2010/main" val="0"/>
                </a:ext>
              </a:extLst>
            </a:blip>
            <a:srcRect l="-50923" t="-430" r="50923" b="430"/>
            <a:stretch/>
          </p:blipFill>
          <p:spPr>
            <a:xfrm>
              <a:off x="9368418" y="2338736"/>
              <a:ext cx="1093905" cy="306963"/>
            </a:xfrm>
            <a:prstGeom prst="rect">
              <a:avLst/>
            </a:prstGeom>
            <a:effectLst>
              <a:outerShdw blurRad="50800" dist="76200" dir="2700000" algn="tl" rotWithShape="0">
                <a:prstClr val="black">
                  <a:alpha val="40000"/>
                </a:prstClr>
              </a:outerShdw>
            </a:effectLst>
          </p:spPr>
        </p:pic>
      </p:grpSp>
      <p:grpSp>
        <p:nvGrpSpPr>
          <p:cNvPr id="27" name="Group 26"/>
          <p:cNvGrpSpPr/>
          <p:nvPr/>
        </p:nvGrpSpPr>
        <p:grpSpPr>
          <a:xfrm>
            <a:off x="9641059" y="4973195"/>
            <a:ext cx="822229" cy="1024551"/>
            <a:chOff x="2247985" y="4548134"/>
            <a:chExt cx="979289" cy="1220258"/>
          </a:xfrm>
        </p:grpSpPr>
        <p:pic>
          <p:nvPicPr>
            <p:cNvPr id="28" name="Picture 27"/>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2387891" y="4548134"/>
              <a:ext cx="699479" cy="1220258"/>
            </a:xfrm>
            <a:prstGeom prst="rect">
              <a:avLst/>
            </a:prstGeom>
          </p:spPr>
        </p:pic>
        <p:sp>
          <p:nvSpPr>
            <p:cNvPr id="29" name="Title 1"/>
            <p:cNvSpPr txBox="1">
              <a:spLocks/>
            </p:cNvSpPr>
            <p:nvPr/>
          </p:nvSpPr>
          <p:spPr>
            <a:xfrm>
              <a:off x="2247985" y="4797942"/>
              <a:ext cx="979289" cy="970450"/>
            </a:xfrm>
            <a:prstGeom prst="rect">
              <a:avLst/>
            </a:prstGeom>
            <a:effectLst>
              <a:outerShdw blurRad="50800" dist="76200" dir="2700000" algn="tl" rotWithShape="0">
                <a:prstClr val="black">
                  <a:alpha val="40000"/>
                </a:prstClr>
              </a:outerShdw>
            </a:effectLst>
          </p:spPr>
          <p:txBody>
            <a:bodyPr vert="horz" lIns="91440" tIns="45720" rIns="91440" bIns="45720" rtlCol="0" anchor="ctr">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sz="2400" dirty="0" smtClean="0">
                  <a:solidFill>
                    <a:schemeClr val="tx1"/>
                  </a:solidFill>
                </a:rPr>
                <a:t>0.7€</a:t>
              </a:r>
              <a:endParaRPr lang="en-GB" sz="2400" dirty="0">
                <a:solidFill>
                  <a:schemeClr val="tx1"/>
                </a:solidFill>
              </a:endParaRPr>
            </a:p>
          </p:txBody>
        </p:sp>
      </p:grpSp>
      <p:grpSp>
        <p:nvGrpSpPr>
          <p:cNvPr id="30" name="Group 29"/>
          <p:cNvGrpSpPr/>
          <p:nvPr/>
        </p:nvGrpSpPr>
        <p:grpSpPr>
          <a:xfrm>
            <a:off x="10549676" y="3438498"/>
            <a:ext cx="822229" cy="2559248"/>
            <a:chOff x="9919910" y="3395839"/>
            <a:chExt cx="979289" cy="3048109"/>
          </a:xfrm>
        </p:grpSpPr>
        <p:pic>
          <p:nvPicPr>
            <p:cNvPr id="31" name="Picture 30"/>
            <p:cNvPicPr>
              <a:picLocks noChangeAspect="1"/>
            </p:cNvPicPr>
            <p:nvPr/>
          </p:nvPicPr>
          <p:blipFill>
            <a:blip r:embed="rId9">
              <a:extLst>
                <a:ext uri="{28A0092B-C50C-407E-A947-70E740481C1C}">
                  <a14:useLocalDpi xmlns:a14="http://schemas.microsoft.com/office/drawing/2010/main" val="0"/>
                </a:ext>
              </a:extLst>
            </a:blip>
            <a:stretch>
              <a:fillRect/>
            </a:stretch>
          </p:blipFill>
          <p:spPr>
            <a:xfrm>
              <a:off x="10061563" y="3395839"/>
              <a:ext cx="695985" cy="3048109"/>
            </a:xfrm>
            <a:prstGeom prst="rect">
              <a:avLst/>
            </a:prstGeom>
          </p:spPr>
        </p:pic>
        <p:sp>
          <p:nvSpPr>
            <p:cNvPr id="32" name="Title 1"/>
            <p:cNvSpPr txBox="1">
              <a:spLocks/>
            </p:cNvSpPr>
            <p:nvPr/>
          </p:nvSpPr>
          <p:spPr>
            <a:xfrm>
              <a:off x="9919910" y="4434668"/>
              <a:ext cx="979289" cy="970450"/>
            </a:xfrm>
            <a:prstGeom prst="rect">
              <a:avLst/>
            </a:prstGeom>
            <a:effectLst>
              <a:outerShdw blurRad="50800" dist="76200" dir="2700000" algn="tl" rotWithShape="0">
                <a:prstClr val="black">
                  <a:alpha val="40000"/>
                </a:prstClr>
              </a:outerShdw>
            </a:effectLst>
          </p:spPr>
          <p:txBody>
            <a:bodyPr vert="horz" lIns="91440" tIns="45720" rIns="91440" bIns="45720" rtlCol="0" anchor="ctr">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sz="2400" dirty="0" smtClean="0">
                  <a:solidFill>
                    <a:schemeClr val="tx1"/>
                  </a:solidFill>
                </a:rPr>
                <a:t>2€</a:t>
              </a:r>
              <a:endParaRPr lang="en-GB" sz="2400" dirty="0">
                <a:solidFill>
                  <a:schemeClr val="tx1"/>
                </a:solidFill>
              </a:endParaRPr>
            </a:p>
          </p:txBody>
        </p:sp>
      </p:grpSp>
    </p:spTree>
    <p:extLst>
      <p:ext uri="{BB962C8B-B14F-4D97-AF65-F5344CB8AC3E}">
        <p14:creationId xmlns:p14="http://schemas.microsoft.com/office/powerpoint/2010/main" val="97095583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096000" y="202687"/>
            <a:ext cx="5916156" cy="970450"/>
          </a:xfrm>
        </p:spPr>
        <p:txBody>
          <a:bodyPr/>
          <a:lstStyle/>
          <a:p>
            <a:pPr algn="ctr"/>
            <a:r>
              <a:rPr lang="en-GB" smtClean="0"/>
              <a:t>World – 266 B€</a:t>
            </a:r>
            <a:endParaRPr lang="en-GB"/>
          </a:p>
        </p:txBody>
      </p:sp>
      <p:graphicFrame>
        <p:nvGraphicFramePr>
          <p:cNvPr id="3" name="Chart 2"/>
          <p:cNvGraphicFramePr/>
          <p:nvPr>
            <p:extLst>
              <p:ext uri="{D42A27DB-BD31-4B8C-83A1-F6EECF244321}">
                <p14:modId xmlns:p14="http://schemas.microsoft.com/office/powerpoint/2010/main" val="310876040"/>
              </p:ext>
            </p:extLst>
          </p:nvPr>
        </p:nvGraphicFramePr>
        <p:xfrm>
          <a:off x="0" y="1479284"/>
          <a:ext cx="6096000" cy="4955458"/>
        </p:xfrm>
        <a:graphic>
          <a:graphicData uri="http://schemas.openxmlformats.org/drawingml/2006/chart">
            <c:chart xmlns:c="http://schemas.openxmlformats.org/drawingml/2006/chart" xmlns:r="http://schemas.openxmlformats.org/officeDocument/2006/relationships" r:id="rId3"/>
          </a:graphicData>
        </a:graphic>
      </p:graphicFrame>
      <p:pic>
        <p:nvPicPr>
          <p:cNvPr id="4" name="Picture 3"/>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2186520" y="4608463"/>
            <a:ext cx="2549676" cy="619990"/>
          </a:xfrm>
          <a:prstGeom prst="rect">
            <a:avLst/>
          </a:prstGeom>
          <a:effectLst>
            <a:outerShdw blurRad="50800" dist="76200" dir="2700000" algn="tl" rotWithShape="0">
              <a:prstClr val="black">
                <a:alpha val="40000"/>
              </a:prstClr>
            </a:outerShdw>
          </a:effectLst>
        </p:spPr>
      </p:pic>
      <p:pic>
        <p:nvPicPr>
          <p:cNvPr id="5" name="Picture 4"/>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1249512" y="2965951"/>
            <a:ext cx="1261081" cy="1261081"/>
          </a:xfrm>
          <a:prstGeom prst="rect">
            <a:avLst/>
          </a:prstGeom>
          <a:effectLst>
            <a:outerShdw blurRad="50800" dist="76200" dir="2700000" algn="tl" rotWithShape="0">
              <a:prstClr val="black">
                <a:alpha val="40000"/>
              </a:prstClr>
            </a:outerShdw>
          </a:effectLst>
        </p:spPr>
      </p:pic>
      <p:pic>
        <p:nvPicPr>
          <p:cNvPr id="6" name="Picture 5"/>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156451" y="1468702"/>
            <a:ext cx="1823162" cy="1215822"/>
          </a:xfrm>
          <a:prstGeom prst="rect">
            <a:avLst/>
          </a:prstGeom>
          <a:effectLst>
            <a:outerShdw blurRad="50800" dist="76200" dir="2700000" algn="tl" rotWithShape="0">
              <a:prstClr val="black">
                <a:alpha val="40000"/>
              </a:prstClr>
            </a:outerShdw>
          </a:effectLst>
        </p:spPr>
      </p:pic>
      <p:pic>
        <p:nvPicPr>
          <p:cNvPr id="7" name="Picture 6"/>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3638633" y="2229268"/>
            <a:ext cx="1192828" cy="465838"/>
          </a:xfrm>
          <a:prstGeom prst="rect">
            <a:avLst/>
          </a:prstGeom>
          <a:effectLst>
            <a:outerShdw blurRad="50800" dist="76200" dir="2700000" algn="tl" rotWithShape="0">
              <a:prstClr val="black">
                <a:alpha val="40000"/>
              </a:prstClr>
            </a:outerShdw>
          </a:effectLst>
        </p:spPr>
      </p:pic>
      <p:pic>
        <p:nvPicPr>
          <p:cNvPr id="8" name="Picture 7"/>
          <p:cNvPicPr>
            <a:picLocks noChangeAspect="1"/>
          </p:cNvPicPr>
          <p:nvPr/>
        </p:nvPicPr>
        <p:blipFill rotWithShape="1">
          <a:blip r:embed="rId8">
            <a:extLst>
              <a:ext uri="{28A0092B-C50C-407E-A947-70E740481C1C}">
                <a14:useLocalDpi xmlns:a14="http://schemas.microsoft.com/office/drawing/2010/main" val="0"/>
              </a:ext>
            </a:extLst>
          </a:blip>
          <a:srcRect l="-51042" r="51042"/>
          <a:stretch/>
        </p:blipFill>
        <p:spPr>
          <a:xfrm>
            <a:off x="3723089" y="2827224"/>
            <a:ext cx="1093905" cy="306963"/>
          </a:xfrm>
          <a:prstGeom prst="rect">
            <a:avLst/>
          </a:prstGeom>
          <a:effectLst>
            <a:outerShdw blurRad="50800" dist="76200" dir="2700000" algn="tl" rotWithShape="0">
              <a:prstClr val="black">
                <a:alpha val="40000"/>
              </a:prstClr>
            </a:outerShdw>
          </a:effectLst>
        </p:spPr>
      </p:pic>
      <p:sp>
        <p:nvSpPr>
          <p:cNvPr id="10" name="TextBox 9"/>
          <p:cNvSpPr txBox="1"/>
          <p:nvPr/>
        </p:nvSpPr>
        <p:spPr>
          <a:xfrm>
            <a:off x="4384244" y="3338931"/>
            <a:ext cx="1289225" cy="338554"/>
          </a:xfrm>
          <a:prstGeom prst="rect">
            <a:avLst/>
          </a:prstGeom>
          <a:noFill/>
          <a:effectLst>
            <a:outerShdw blurRad="50800" dist="76200" dir="2700000" algn="tl" rotWithShape="0">
              <a:prstClr val="black">
                <a:alpha val="40000"/>
              </a:prstClr>
            </a:outerShdw>
          </a:effectLst>
        </p:spPr>
        <p:txBody>
          <a:bodyPr wrap="square" rtlCol="0">
            <a:spAutoFit/>
          </a:bodyPr>
          <a:lstStyle/>
          <a:p>
            <a:r>
              <a:rPr lang="en-GB" sz="1600" b="1" smtClean="0">
                <a:solidFill>
                  <a:schemeClr val="bg1"/>
                </a:solidFill>
                <a:latin typeface="Raleway Light" charset="0"/>
                <a:ea typeface="Raleway Light" charset="0"/>
                <a:cs typeface="Raleway Light" charset="0"/>
              </a:rPr>
              <a:t>Others</a:t>
            </a:r>
            <a:endParaRPr lang="en-GB" sz="1600" b="1">
              <a:solidFill>
                <a:schemeClr val="bg1"/>
              </a:solidFill>
              <a:latin typeface="Raleway Light" charset="0"/>
              <a:ea typeface="Raleway Light" charset="0"/>
              <a:cs typeface="Raleway Light" charset="0"/>
            </a:endParaRPr>
          </a:p>
        </p:txBody>
      </p:sp>
      <p:graphicFrame>
        <p:nvGraphicFramePr>
          <p:cNvPr id="9" name="Chart 8"/>
          <p:cNvGraphicFramePr/>
          <p:nvPr>
            <p:extLst>
              <p:ext uri="{D42A27DB-BD31-4B8C-83A1-F6EECF244321}">
                <p14:modId xmlns:p14="http://schemas.microsoft.com/office/powerpoint/2010/main" val="737354356"/>
              </p:ext>
            </p:extLst>
          </p:nvPr>
        </p:nvGraphicFramePr>
        <p:xfrm>
          <a:off x="6320920" y="1417638"/>
          <a:ext cx="5691236" cy="5248708"/>
        </p:xfrm>
        <a:graphic>
          <a:graphicData uri="http://schemas.openxmlformats.org/drawingml/2006/chart">
            <c:chart xmlns:c="http://schemas.openxmlformats.org/drawingml/2006/chart" xmlns:r="http://schemas.openxmlformats.org/officeDocument/2006/relationships" r:id="rId9"/>
          </a:graphicData>
        </a:graphic>
      </p:graphicFrame>
      <p:sp>
        <p:nvSpPr>
          <p:cNvPr id="13" name="Title 1"/>
          <p:cNvSpPr txBox="1">
            <a:spLocks/>
          </p:cNvSpPr>
          <p:nvPr/>
        </p:nvSpPr>
        <p:spPr>
          <a:xfrm>
            <a:off x="219456" y="189813"/>
            <a:ext cx="5876543" cy="970450"/>
          </a:xfrm>
          <a:prstGeom prst="rect">
            <a:avLst/>
          </a:prstGeom>
          <a:effectLst>
            <a:outerShdw blurRad="50800" dir="14400000">
              <a:srgbClr val="000000">
                <a:alpha val="60000"/>
              </a:srgbClr>
            </a:outerShdw>
          </a:effectLst>
        </p:spPr>
        <p:txBody>
          <a:bodyPr vert="horz" lIns="91440" tIns="45720" rIns="91440" bIns="45720" rtlCol="0" anchor="b">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pPr algn="ctr"/>
            <a:r>
              <a:rPr lang="en-GB" dirty="0" smtClean="0"/>
              <a:t>Portugal – 659 M€</a:t>
            </a:r>
            <a:endParaRPr lang="en-GB" dirty="0"/>
          </a:p>
        </p:txBody>
      </p:sp>
      <p:sp>
        <p:nvSpPr>
          <p:cNvPr id="14" name="TextBox 13"/>
          <p:cNvSpPr txBox="1"/>
          <p:nvPr/>
        </p:nvSpPr>
        <p:spPr>
          <a:xfrm>
            <a:off x="92920" y="6456492"/>
            <a:ext cx="8941352" cy="276999"/>
          </a:xfrm>
          <a:prstGeom prst="rect">
            <a:avLst/>
          </a:prstGeom>
          <a:noFill/>
        </p:spPr>
        <p:txBody>
          <a:bodyPr wrap="square" rtlCol="0">
            <a:spAutoFit/>
          </a:bodyPr>
          <a:lstStyle/>
          <a:p>
            <a:r>
              <a:rPr lang="en-GB" sz="1200" b="1" smtClean="0">
                <a:solidFill>
                  <a:srgbClr val="CCEBE7"/>
                </a:solidFill>
                <a:latin typeface="Raleway" charset="0"/>
                <a:ea typeface="Raleway" charset="0"/>
                <a:cs typeface="Raleway" charset="0"/>
              </a:rPr>
              <a:t>Sources:</a:t>
            </a:r>
            <a:r>
              <a:rPr lang="en-GB" sz="1200" smtClean="0">
                <a:latin typeface="Raleway" charset="0"/>
                <a:ea typeface="Raleway" charset="0"/>
                <a:cs typeface="Raleway" charset="0"/>
              </a:rPr>
              <a:t> </a:t>
            </a:r>
            <a:r>
              <a:rPr lang="is-IS" sz="1200" smtClean="0">
                <a:latin typeface="Raleway" charset="0"/>
                <a:ea typeface="Raleway" charset="0"/>
                <a:cs typeface="Raleway" charset="0"/>
              </a:rPr>
              <a:t>Transparent Market Research  2014</a:t>
            </a:r>
            <a:endParaRPr lang="en-GB" sz="1200">
              <a:latin typeface="Raleway" charset="0"/>
              <a:ea typeface="Raleway" charset="0"/>
              <a:cs typeface="Raleway" charset="0"/>
            </a:endParaRPr>
          </a:p>
        </p:txBody>
      </p:sp>
    </p:spTree>
    <p:extLst>
      <p:ext uri="{BB962C8B-B14F-4D97-AF65-F5344CB8AC3E}">
        <p14:creationId xmlns:p14="http://schemas.microsoft.com/office/powerpoint/2010/main" val="6855405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p:cNvPicPr>
            <a:picLocks noChangeAspect="1"/>
          </p:cNvPicPr>
          <p:nvPr/>
        </p:nvPicPr>
        <p:blipFill>
          <a:blip r:embed="rId3">
            <a:alphaModFix amt="30000"/>
            <a:extLst>
              <a:ext uri="{28A0092B-C50C-407E-A947-70E740481C1C}">
                <a14:useLocalDpi xmlns:a14="http://schemas.microsoft.com/office/drawing/2010/main" val="0"/>
              </a:ext>
            </a:extLst>
          </a:blip>
          <a:stretch>
            <a:fillRect/>
          </a:stretch>
        </p:blipFill>
        <p:spPr>
          <a:xfrm>
            <a:off x="-14748" y="0"/>
            <a:ext cx="12192000" cy="6858000"/>
          </a:xfrm>
          <a:prstGeom prst="rect">
            <a:avLst/>
          </a:prstGeom>
        </p:spPr>
      </p:pic>
      <p:sp>
        <p:nvSpPr>
          <p:cNvPr id="2" name="Title 1"/>
          <p:cNvSpPr>
            <a:spLocks noGrp="1"/>
          </p:cNvSpPr>
          <p:nvPr>
            <p:ph type="title"/>
          </p:nvPr>
        </p:nvSpPr>
        <p:spPr/>
        <p:txBody>
          <a:bodyPr/>
          <a:lstStyle/>
          <a:p>
            <a:r>
              <a:rPr lang="en-GB" dirty="0" smtClean="0"/>
              <a:t>Some Figures for </a:t>
            </a:r>
            <a:r>
              <a:rPr lang="en-GB" dirty="0" smtClean="0">
                <a:solidFill>
                  <a:srgbClr val="00B050"/>
                </a:solidFill>
              </a:rPr>
              <a:t>Por</a:t>
            </a:r>
            <a:r>
              <a:rPr lang="en-GB" dirty="0" smtClean="0">
                <a:solidFill>
                  <a:srgbClr val="FFFF00"/>
                </a:solidFill>
              </a:rPr>
              <a:t>tu</a:t>
            </a:r>
            <a:r>
              <a:rPr lang="en-GB" dirty="0" smtClean="0">
                <a:solidFill>
                  <a:srgbClr val="FF0000"/>
                </a:solidFill>
              </a:rPr>
              <a:t>gal</a:t>
            </a:r>
            <a:endParaRPr lang="en-GB" dirty="0"/>
          </a:p>
        </p:txBody>
      </p:sp>
      <p:sp>
        <p:nvSpPr>
          <p:cNvPr id="3" name="Content Placeholder 2"/>
          <p:cNvSpPr>
            <a:spLocks noGrp="1"/>
          </p:cNvSpPr>
          <p:nvPr>
            <p:ph idx="1"/>
          </p:nvPr>
        </p:nvSpPr>
        <p:spPr/>
        <p:txBody>
          <a:bodyPr>
            <a:normAutofit/>
          </a:bodyPr>
          <a:lstStyle/>
          <a:p>
            <a:pPr>
              <a:spcBef>
                <a:spcPts val="0"/>
              </a:spcBef>
              <a:spcAft>
                <a:spcPts val="2400"/>
              </a:spcAft>
            </a:pPr>
            <a:r>
              <a:rPr lang="en-GB" sz="2800" b="1" dirty="0" smtClean="0">
                <a:solidFill>
                  <a:srgbClr val="FFFF00"/>
                </a:solidFill>
              </a:rPr>
              <a:t>58 </a:t>
            </a:r>
            <a:r>
              <a:rPr lang="en-GB" sz="2800" b="1" dirty="0">
                <a:solidFill>
                  <a:srgbClr val="FFFF00"/>
                </a:solidFill>
              </a:rPr>
              <a:t>%</a:t>
            </a:r>
            <a:r>
              <a:rPr lang="en-GB" sz="2800" dirty="0"/>
              <a:t> of the total consumption in gas is from bottled </a:t>
            </a:r>
            <a:r>
              <a:rPr lang="en-GB" sz="2800" dirty="0" smtClean="0"/>
              <a:t>LPG</a:t>
            </a:r>
          </a:p>
          <a:p>
            <a:pPr>
              <a:spcBef>
                <a:spcPts val="0"/>
              </a:spcBef>
              <a:spcAft>
                <a:spcPts val="2400"/>
              </a:spcAft>
            </a:pPr>
            <a:r>
              <a:rPr lang="en-GB" sz="2800" b="1" dirty="0">
                <a:solidFill>
                  <a:srgbClr val="FFFF00"/>
                </a:solidFill>
              </a:rPr>
              <a:t>H</a:t>
            </a:r>
            <a:r>
              <a:rPr lang="en-GB" sz="2800" b="1" dirty="0" smtClean="0">
                <a:solidFill>
                  <a:srgbClr val="FFFF00"/>
                </a:solidFill>
              </a:rPr>
              <a:t>ighest</a:t>
            </a:r>
            <a:r>
              <a:rPr lang="en-GB" sz="2800" dirty="0" smtClean="0"/>
              <a:t> </a:t>
            </a:r>
            <a:r>
              <a:rPr lang="en-GB" sz="2800" dirty="0"/>
              <a:t>LPG consumption </a:t>
            </a:r>
            <a:r>
              <a:rPr lang="en-GB" sz="2800" b="1" dirty="0" smtClean="0"/>
              <a:t>per </a:t>
            </a:r>
            <a:r>
              <a:rPr lang="en-GB" sz="2800" b="1" dirty="0"/>
              <a:t>capita in EU</a:t>
            </a:r>
          </a:p>
          <a:p>
            <a:pPr>
              <a:spcBef>
                <a:spcPts val="0"/>
              </a:spcBef>
              <a:spcAft>
                <a:spcPts val="2400"/>
              </a:spcAft>
            </a:pPr>
            <a:r>
              <a:rPr lang="en-GB" sz="2800" b="1" dirty="0">
                <a:solidFill>
                  <a:srgbClr val="FFFF00"/>
                </a:solidFill>
              </a:rPr>
              <a:t>3</a:t>
            </a:r>
            <a:r>
              <a:rPr lang="en-GB" sz="2800" b="1" baseline="30000" dirty="0">
                <a:solidFill>
                  <a:srgbClr val="FFFF00"/>
                </a:solidFill>
              </a:rPr>
              <a:t>rd</a:t>
            </a:r>
            <a:r>
              <a:rPr lang="en-GB" sz="2800" b="1" dirty="0">
                <a:solidFill>
                  <a:srgbClr val="FFFF00"/>
                </a:solidFill>
              </a:rPr>
              <a:t> highest</a:t>
            </a:r>
            <a:r>
              <a:rPr lang="en-GB" sz="2800" dirty="0"/>
              <a:t> </a:t>
            </a:r>
            <a:r>
              <a:rPr lang="en-GB" sz="2800" dirty="0" smtClean="0"/>
              <a:t>price </a:t>
            </a:r>
            <a:r>
              <a:rPr lang="en-GB" sz="2800" dirty="0"/>
              <a:t>in </a:t>
            </a:r>
            <a:r>
              <a:rPr lang="en-GB" sz="2800" dirty="0" smtClean="0"/>
              <a:t>EU</a:t>
            </a:r>
          </a:p>
        </p:txBody>
      </p:sp>
      <p:sp>
        <p:nvSpPr>
          <p:cNvPr id="6" name="TextBox 5"/>
          <p:cNvSpPr txBox="1"/>
          <p:nvPr/>
        </p:nvSpPr>
        <p:spPr>
          <a:xfrm>
            <a:off x="117305" y="6457106"/>
            <a:ext cx="4559300" cy="276999"/>
          </a:xfrm>
          <a:prstGeom prst="rect">
            <a:avLst/>
          </a:prstGeom>
          <a:noFill/>
        </p:spPr>
        <p:txBody>
          <a:bodyPr wrap="square" rtlCol="0">
            <a:spAutoFit/>
          </a:bodyPr>
          <a:lstStyle/>
          <a:p>
            <a:r>
              <a:rPr lang="en-GB" sz="1200" b="1" smtClean="0">
                <a:solidFill>
                  <a:srgbClr val="CCEBE7"/>
                </a:solidFill>
                <a:latin typeface="Raleway" charset="0"/>
                <a:ea typeface="Raleway" charset="0"/>
                <a:cs typeface="Raleway" charset="0"/>
              </a:rPr>
              <a:t>Source</a:t>
            </a:r>
            <a:r>
              <a:rPr lang="en-GB" sz="1200" smtClean="0">
                <a:latin typeface="Raleway" charset="0"/>
                <a:ea typeface="Raleway" charset="0"/>
                <a:cs typeface="Raleway" charset="0"/>
              </a:rPr>
              <a:t>: DECC Consumer association (2015)</a:t>
            </a:r>
            <a:endParaRPr lang="en-GB" sz="1200">
              <a:latin typeface="Raleway" charset="0"/>
              <a:ea typeface="Raleway" charset="0"/>
              <a:cs typeface="Raleway" charset="0"/>
            </a:endParaRPr>
          </a:p>
        </p:txBody>
      </p:sp>
    </p:spTree>
    <p:extLst>
      <p:ext uri="{BB962C8B-B14F-4D97-AF65-F5344CB8AC3E}">
        <p14:creationId xmlns:p14="http://schemas.microsoft.com/office/powerpoint/2010/main" val="1519455135"/>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graphicFrame>
        <p:nvGraphicFramePr>
          <p:cNvPr id="8" name="Table 7"/>
          <p:cNvGraphicFramePr>
            <a:graphicFrameLocks noGrp="1"/>
          </p:cNvGraphicFramePr>
          <p:nvPr>
            <p:extLst>
              <p:ext uri="{D42A27DB-BD31-4B8C-83A1-F6EECF244321}">
                <p14:modId xmlns:p14="http://schemas.microsoft.com/office/powerpoint/2010/main" val="1216551303"/>
              </p:ext>
            </p:extLst>
          </p:nvPr>
        </p:nvGraphicFramePr>
        <p:xfrm>
          <a:off x="971363" y="743683"/>
          <a:ext cx="10572000" cy="5592495"/>
        </p:xfrm>
        <a:graphic>
          <a:graphicData uri="http://schemas.openxmlformats.org/drawingml/2006/table">
            <a:tbl>
              <a:tblPr firstRow="1" bandRow="1">
                <a:tableStyleId>{5C22544A-7EE6-4342-B048-85BDC9FD1C3A}</a:tableStyleId>
              </a:tblPr>
              <a:tblGrid>
                <a:gridCol w="955300"/>
                <a:gridCol w="1842060"/>
                <a:gridCol w="1943660"/>
                <a:gridCol w="1943660"/>
                <a:gridCol w="1943660"/>
                <a:gridCol w="1943660"/>
              </a:tblGrid>
              <a:tr h="763337">
                <a:tc>
                  <a:txBody>
                    <a:bodyPr/>
                    <a:lstStyle/>
                    <a:p>
                      <a:pPr algn="ctr"/>
                      <a:endParaRPr lang="en-GB" sz="1400" b="0" dirty="0">
                        <a:latin typeface="Raleway" charset="0"/>
                        <a:ea typeface="Raleway" charset="0"/>
                        <a:cs typeface="Raleway" charset="0"/>
                      </a:endParaRPr>
                    </a:p>
                  </a:txBody>
                  <a:tcPr anchor="ctr"/>
                </a:tc>
                <a:tc>
                  <a:txBody>
                    <a:bodyPr/>
                    <a:lstStyle/>
                    <a:p>
                      <a:pPr algn="ctr"/>
                      <a:r>
                        <a:rPr lang="en-GB" sz="1400" b="0" dirty="0" err="1" smtClean="0">
                          <a:latin typeface="Raleway" charset="0"/>
                          <a:ea typeface="Raleway" charset="0"/>
                          <a:cs typeface="Raleway" charset="0"/>
                        </a:rPr>
                        <a:t>Nesto</a:t>
                      </a:r>
                      <a:r>
                        <a:rPr lang="en-GB" sz="1400" b="0" dirty="0" smtClean="0">
                          <a:latin typeface="Raleway" charset="0"/>
                          <a:ea typeface="Raleway" charset="0"/>
                          <a:cs typeface="Raleway" charset="0"/>
                        </a:rPr>
                        <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by </a:t>
                      </a:r>
                      <a:r>
                        <a:rPr lang="en-GB" sz="1400" b="0" dirty="0" err="1" smtClean="0">
                          <a:latin typeface="Raleway" charset="0"/>
                          <a:ea typeface="Raleway" charset="0"/>
                          <a:cs typeface="Raleway" charset="0"/>
                        </a:rPr>
                        <a:t>IoTA</a:t>
                      </a:r>
                      <a:endParaRPr lang="en-GB" sz="1400" b="0" dirty="0">
                        <a:latin typeface="Raleway" charset="0"/>
                        <a:ea typeface="Raleway" charset="0"/>
                        <a:cs typeface="Raleway" charset="0"/>
                      </a:endParaRPr>
                    </a:p>
                  </a:txBody>
                  <a:tcPr anchor="ctr"/>
                </a:tc>
                <a:tc>
                  <a:txBody>
                    <a:bodyPr/>
                    <a:lstStyle/>
                    <a:p>
                      <a:pPr algn="ctr"/>
                      <a:r>
                        <a:rPr lang="en-GB" sz="1400" b="0" dirty="0" err="1" smtClean="0">
                          <a:latin typeface="Raleway" charset="0"/>
                          <a:ea typeface="Raleway" charset="0"/>
                          <a:cs typeface="Raleway" charset="0"/>
                        </a:rPr>
                        <a:t>GasSense</a:t>
                      </a:r>
                      <a:r>
                        <a:rPr lang="en-GB" sz="1400" b="0" dirty="0" smtClean="0">
                          <a:latin typeface="Raleway" charset="0"/>
                          <a:ea typeface="Raleway" charset="0"/>
                          <a:cs typeface="Raleway" charset="0"/>
                        </a:rPr>
                        <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by George</a:t>
                      </a:r>
                      <a:r>
                        <a:rPr lang="en-GB" sz="1400" b="0" baseline="0" dirty="0" smtClean="0">
                          <a:latin typeface="Raleway" charset="0"/>
                          <a:ea typeface="Raleway" charset="0"/>
                          <a:cs typeface="Raleway" charset="0"/>
                        </a:rPr>
                        <a:t> Edwards</a:t>
                      </a:r>
                      <a:endParaRPr lang="en-GB" sz="1400" b="0" dirty="0">
                        <a:latin typeface="Raleway" charset="0"/>
                        <a:ea typeface="Raleway" charset="0"/>
                        <a:cs typeface="Raleway" charset="0"/>
                      </a:endParaRPr>
                    </a:p>
                  </a:txBody>
                  <a:tcPr anchor="ctr"/>
                </a:tc>
                <a:tc>
                  <a:txBody>
                    <a:bodyPr/>
                    <a:lstStyle/>
                    <a:p>
                      <a:pPr algn="ctr"/>
                      <a:r>
                        <a:rPr lang="en-GB" sz="1400" b="0" dirty="0" err="1" smtClean="0">
                          <a:latin typeface="Raleway" charset="0"/>
                          <a:ea typeface="Raleway" charset="0"/>
                          <a:cs typeface="Raleway" charset="0"/>
                        </a:rPr>
                        <a:t>SkyBlitz</a:t>
                      </a:r>
                      <a:endParaRPr lang="en-GB" sz="1400" b="0" dirty="0">
                        <a:latin typeface="Raleway" charset="0"/>
                        <a:ea typeface="Raleway" charset="0"/>
                        <a:cs typeface="Raleway" charset="0"/>
                      </a:endParaRPr>
                    </a:p>
                  </a:txBody>
                  <a:tcPr anchor="ctr"/>
                </a:tc>
                <a:tc>
                  <a:txBody>
                    <a:bodyPr/>
                    <a:lstStyle/>
                    <a:p>
                      <a:pPr algn="ctr"/>
                      <a:r>
                        <a:rPr lang="en-GB" sz="1400" b="0" dirty="0" err="1" smtClean="0">
                          <a:latin typeface="Raleway" charset="0"/>
                          <a:ea typeface="Raleway" charset="0"/>
                          <a:cs typeface="Raleway" charset="0"/>
                        </a:rPr>
                        <a:t>Gascale</a:t>
                      </a:r>
                      <a:r>
                        <a:rPr lang="en-GB" sz="1400" b="0" dirty="0" smtClean="0">
                          <a:latin typeface="Raleway" charset="0"/>
                          <a:ea typeface="Raleway" charset="0"/>
                          <a:cs typeface="Raleway" charset="0"/>
                        </a:rPr>
                        <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by </a:t>
                      </a:r>
                      <a:r>
                        <a:rPr lang="en-GB" sz="1400" b="0" dirty="0" err="1" smtClean="0">
                          <a:latin typeface="Raleway" charset="0"/>
                          <a:ea typeface="Raleway" charset="0"/>
                          <a:cs typeface="Raleway" charset="0"/>
                        </a:rPr>
                        <a:t>Mabe</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Refuel</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by Quirky</a:t>
                      </a:r>
                      <a:endParaRPr lang="en-GB" sz="1400" b="0" dirty="0">
                        <a:latin typeface="Raleway" charset="0"/>
                        <a:ea typeface="Raleway" charset="0"/>
                        <a:cs typeface="Raleway" charset="0"/>
                      </a:endParaRPr>
                    </a:p>
                  </a:txBody>
                  <a:tcPr anchor="ctr"/>
                </a:tc>
              </a:tr>
              <a:tr h="1096695">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c>
                  <a:txBody>
                    <a:bodyPr/>
                    <a:lstStyle/>
                    <a:p>
                      <a:pPr algn="ctr"/>
                      <a:endParaRPr lang="en-GB" sz="1400" b="0" dirty="0">
                        <a:latin typeface="Raleway" charset="0"/>
                        <a:ea typeface="Raleway" charset="0"/>
                        <a:cs typeface="Raleway" charset="0"/>
                      </a:endParaRPr>
                    </a:p>
                  </a:txBody>
                  <a:tcPr anchor="ctr">
                    <a:solidFill>
                      <a:schemeClr val="bg1"/>
                    </a:solidFill>
                  </a:tcPr>
                </a:tc>
              </a:tr>
              <a:tr h="653646">
                <a:tc>
                  <a:txBody>
                    <a:bodyPr/>
                    <a:lstStyle/>
                    <a:p>
                      <a:pPr algn="ctr"/>
                      <a:r>
                        <a:rPr lang="en-GB" sz="1400" b="0" dirty="0" smtClean="0">
                          <a:latin typeface="Raleway" charset="0"/>
                          <a:ea typeface="Raleway" charset="0"/>
                          <a:cs typeface="Raleway" charset="0"/>
                        </a:rPr>
                        <a:t>What ?</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SIGFOX</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Connected</a:t>
                      </a:r>
                      <a:r>
                        <a:rPr lang="en-GB" sz="1400" b="0" baseline="0" dirty="0" smtClean="0">
                          <a:latin typeface="Raleway" charset="0"/>
                          <a:ea typeface="Raleway" charset="0"/>
                          <a:cs typeface="Raleway" charset="0"/>
                        </a:rPr>
                        <a:t> Scale</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BLE</a:t>
                      </a:r>
                      <a:r>
                        <a:rPr lang="en-GB" sz="1400" b="0" baseline="0" dirty="0" smtClean="0">
                          <a:latin typeface="Raleway" charset="0"/>
                          <a:ea typeface="Raleway" charset="0"/>
                          <a:cs typeface="Raleway" charset="0"/>
                        </a:rPr>
                        <a:t> M</a:t>
                      </a:r>
                      <a:r>
                        <a:rPr lang="en-GB" sz="1400" b="0" dirty="0" smtClean="0">
                          <a:latin typeface="Raleway" charset="0"/>
                          <a:ea typeface="Raleway" charset="0"/>
                          <a:cs typeface="Raleway" charset="0"/>
                        </a:rPr>
                        <a:t>agnetic</a:t>
                      </a:r>
                      <a:r>
                        <a:rPr lang="en-GB" sz="1400" b="0" baseline="0" dirty="0" smtClean="0">
                          <a:latin typeface="Raleway" charset="0"/>
                          <a:ea typeface="Raleway" charset="0"/>
                          <a:cs typeface="Raleway" charset="0"/>
                        </a:rPr>
                        <a:t> Linear Temperature Sensor</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GPRS</a:t>
                      </a:r>
                      <a:r>
                        <a:rPr lang="en-GB" sz="1400" b="0" baseline="0" dirty="0" smtClean="0">
                          <a:latin typeface="Raleway" charset="0"/>
                          <a:ea typeface="Raleway" charset="0"/>
                          <a:cs typeface="Raleway" charset="0"/>
                        </a:rPr>
                        <a:t> </a:t>
                      </a:r>
                      <a:r>
                        <a:rPr lang="en-GB" sz="1400" b="0" dirty="0" smtClean="0">
                          <a:latin typeface="Raleway" charset="0"/>
                          <a:ea typeface="Raleway" charset="0"/>
                          <a:cs typeface="Raleway" charset="0"/>
                        </a:rPr>
                        <a:t>Connected</a:t>
                      </a:r>
                      <a:r>
                        <a:rPr lang="en-GB" sz="1400" b="0" baseline="0" dirty="0" smtClean="0">
                          <a:latin typeface="Raleway" charset="0"/>
                          <a:ea typeface="Raleway" charset="0"/>
                          <a:cs typeface="Raleway" charset="0"/>
                        </a:rPr>
                        <a:t> Pressure Sensor</a:t>
                      </a:r>
                      <a:endParaRPr lang="en-GB" sz="1400" b="0" dirty="0">
                        <a:latin typeface="Raleway" charset="0"/>
                        <a:ea typeface="Raleway" charset="0"/>
                        <a:cs typeface="Raleway" charset="0"/>
                      </a:endParaRPr>
                    </a:p>
                  </a:txBody>
                  <a:tcPr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sz="1400" b="0" dirty="0" smtClean="0">
                          <a:latin typeface="Raleway" charset="0"/>
                          <a:ea typeface="Raleway" charset="0"/>
                          <a:cs typeface="Raleway" charset="0"/>
                        </a:rPr>
                        <a:t>BLE</a:t>
                      </a:r>
                      <a:r>
                        <a:rPr lang="en-GB" sz="1400" b="0" baseline="0" dirty="0" smtClean="0">
                          <a:latin typeface="Raleway" charset="0"/>
                          <a:ea typeface="Raleway" charset="0"/>
                          <a:cs typeface="Raleway" charset="0"/>
                        </a:rPr>
                        <a:t/>
                      </a:r>
                      <a:br>
                        <a:rPr lang="en-GB" sz="1400" b="0" baseline="0" dirty="0" smtClean="0">
                          <a:latin typeface="Raleway" charset="0"/>
                          <a:ea typeface="Raleway" charset="0"/>
                          <a:cs typeface="Raleway" charset="0"/>
                        </a:rPr>
                      </a:br>
                      <a:r>
                        <a:rPr lang="en-GB" sz="1400" b="0" dirty="0" smtClean="0">
                          <a:latin typeface="Raleway" charset="0"/>
                          <a:ea typeface="Raleway" charset="0"/>
                          <a:cs typeface="Raleway" charset="0"/>
                        </a:rPr>
                        <a:t>Connected</a:t>
                      </a:r>
                      <a:r>
                        <a:rPr lang="en-GB" sz="1400" b="0" baseline="0" dirty="0" smtClean="0">
                          <a:latin typeface="Raleway" charset="0"/>
                          <a:ea typeface="Raleway" charset="0"/>
                          <a:cs typeface="Raleway" charset="0"/>
                        </a:rPr>
                        <a:t> Scale</a:t>
                      </a:r>
                      <a:endParaRPr lang="en-GB" sz="1400" b="0" dirty="0" smtClean="0">
                        <a:latin typeface="Raleway" charset="0"/>
                        <a:ea typeface="Raleway" charset="0"/>
                        <a:cs typeface="Raleway" charset="0"/>
                      </a:endParaRPr>
                    </a:p>
                  </a:txBody>
                  <a:tcPr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sz="1400" b="0" dirty="0" smtClean="0">
                          <a:latin typeface="Raleway" charset="0"/>
                          <a:ea typeface="Raleway" charset="0"/>
                          <a:cs typeface="Raleway" charset="0"/>
                        </a:rPr>
                        <a:t>Wi-Fi</a:t>
                      </a:r>
                      <a:br>
                        <a:rPr lang="en-GB" sz="1400" b="0" dirty="0" smtClean="0">
                          <a:latin typeface="Raleway" charset="0"/>
                          <a:ea typeface="Raleway" charset="0"/>
                          <a:cs typeface="Raleway" charset="0"/>
                        </a:rPr>
                      </a:br>
                      <a:r>
                        <a:rPr lang="en-GB" sz="1400" b="0" dirty="0" smtClean="0">
                          <a:latin typeface="Raleway" charset="0"/>
                          <a:ea typeface="Raleway" charset="0"/>
                          <a:cs typeface="Raleway" charset="0"/>
                        </a:rPr>
                        <a:t>Connected</a:t>
                      </a:r>
                      <a:r>
                        <a:rPr lang="en-GB" sz="1400" b="0" baseline="0" dirty="0" smtClean="0">
                          <a:latin typeface="Raleway" charset="0"/>
                          <a:ea typeface="Raleway" charset="0"/>
                          <a:cs typeface="Raleway" charset="0"/>
                        </a:rPr>
                        <a:t> Scale</a:t>
                      </a:r>
                      <a:endParaRPr lang="en-GB" sz="1400" b="0" dirty="0" smtClean="0">
                        <a:latin typeface="Raleway" charset="0"/>
                        <a:ea typeface="Raleway" charset="0"/>
                        <a:cs typeface="Raleway" charset="0"/>
                      </a:endParaRPr>
                    </a:p>
                  </a:txBody>
                  <a:tcPr anchor="ctr"/>
                </a:tc>
              </a:tr>
              <a:tr h="884257">
                <a:tc>
                  <a:txBody>
                    <a:bodyPr/>
                    <a:lstStyle/>
                    <a:p>
                      <a:pPr algn="ctr"/>
                      <a:r>
                        <a:rPr lang="en-GB" sz="1400" b="0" dirty="0" smtClean="0">
                          <a:latin typeface="Raleway" charset="0"/>
                          <a:ea typeface="Raleway" charset="0"/>
                          <a:cs typeface="Raleway" charset="0"/>
                        </a:rPr>
                        <a:t>Pro</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Doesn’t depend on user</a:t>
                      </a:r>
                      <a:r>
                        <a:rPr lang="en-GB" sz="1400" b="0" baseline="0" dirty="0" smtClean="0">
                          <a:latin typeface="Raleway" charset="0"/>
                          <a:ea typeface="Raleway" charset="0"/>
                          <a:cs typeface="Raleway" charset="0"/>
                        </a:rPr>
                        <a:t> </a:t>
                      </a:r>
                      <a:r>
                        <a:rPr lang="en-GB" sz="1400" b="0" dirty="0" smtClean="0">
                          <a:latin typeface="Raleway" charset="0"/>
                          <a:ea typeface="Raleway" charset="0"/>
                          <a:cs typeface="Raleway" charset="0"/>
                        </a:rPr>
                        <a:t>connectivity</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Smart &amp; un-obstructive</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baseline="0" dirty="0" smtClean="0">
                          <a:latin typeface="Raleway" charset="0"/>
                          <a:ea typeface="Raleway" charset="0"/>
                          <a:cs typeface="Raleway" charset="0"/>
                        </a:rPr>
                        <a:t>Usable for tank as well</a:t>
                      </a: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Free*</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Cheap</a:t>
                      </a:r>
                      <a:endParaRPr lang="en-GB" sz="1400" b="0" dirty="0">
                        <a:latin typeface="Raleway" charset="0"/>
                        <a:ea typeface="Raleway" charset="0"/>
                        <a:cs typeface="Raleway" charset="0"/>
                      </a:endParaRPr>
                    </a:p>
                  </a:txBody>
                  <a:tcPr anchor="ctr"/>
                </a:tc>
              </a:tr>
              <a:tr h="884257">
                <a:tc>
                  <a:txBody>
                    <a:bodyPr/>
                    <a:lstStyle/>
                    <a:p>
                      <a:pPr algn="ctr"/>
                      <a:r>
                        <a:rPr lang="en-GB" sz="1400" b="0" dirty="0" smtClean="0">
                          <a:latin typeface="Raleway" charset="0"/>
                          <a:ea typeface="Raleway" charset="0"/>
                          <a:cs typeface="Raleway" charset="0"/>
                        </a:rPr>
                        <a:t>Cons</a:t>
                      </a:r>
                      <a:endParaRPr lang="en-GB" sz="1400" b="0" dirty="0">
                        <a:latin typeface="Raleway" charset="0"/>
                        <a:ea typeface="Raleway" charset="0"/>
                        <a:cs typeface="Raleway" charset="0"/>
                      </a:endParaRPr>
                    </a:p>
                  </a:txBody>
                  <a:tcPr anchor="ctr"/>
                </a:tc>
                <a:tc>
                  <a:txBody>
                    <a:bodyPr/>
                    <a:lstStyle/>
                    <a:p>
                      <a:pPr marL="285750" marR="0" lvl="0" indent="-285750" algn="l" defTabSz="457200" rtl="0" eaLnBrk="1" fontAlgn="auto" latinLnBrk="0" hangingPunct="1">
                        <a:lnSpc>
                          <a:spcPct val="100000"/>
                        </a:lnSpc>
                        <a:spcBef>
                          <a:spcPts val="0"/>
                        </a:spcBef>
                        <a:spcAft>
                          <a:spcPts val="0"/>
                        </a:spcAft>
                        <a:buClrTx/>
                        <a:buSzTx/>
                        <a:buFont typeface="Arial" charset="0"/>
                        <a:buNone/>
                        <a:tabLst/>
                        <a:defRPr/>
                      </a:pP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Only for metallic bottle</a:t>
                      </a:r>
                    </a:p>
                    <a:p>
                      <a:pPr marL="285750" indent="-285750" algn="l">
                        <a:buFont typeface="Arial" charset="0"/>
                        <a:buChar char="•"/>
                      </a:pPr>
                      <a:r>
                        <a:rPr lang="en-GB" sz="1400" b="0" dirty="0" smtClean="0">
                          <a:latin typeface="Raleway" charset="0"/>
                          <a:ea typeface="Raleway" charset="0"/>
                          <a:cs typeface="Raleway" charset="0"/>
                        </a:rPr>
                        <a:t>Not </a:t>
                      </a:r>
                      <a:r>
                        <a:rPr lang="en-GB" sz="1400" b="0" baseline="0" dirty="0" smtClean="0">
                          <a:latin typeface="Raleway" charset="0"/>
                          <a:ea typeface="Raleway" charset="0"/>
                          <a:cs typeface="Raleway" charset="0"/>
                        </a:rPr>
                        <a:t>accurate</a:t>
                      </a:r>
                      <a:endParaRPr lang="en-GB" sz="1400" b="0" dirty="0">
                        <a:latin typeface="Raleway" charset="0"/>
                        <a:ea typeface="Raleway" charset="0"/>
                        <a:cs typeface="Raleway" charset="0"/>
                      </a:endParaRP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Expensive</a:t>
                      </a:r>
                      <a:endParaRPr lang="en-GB" sz="1400" b="0" dirty="0">
                        <a:latin typeface="Raleway" charset="0"/>
                        <a:ea typeface="Raleway" charset="0"/>
                        <a:cs typeface="Raleway" charset="0"/>
                      </a:endParaRPr>
                    </a:p>
                  </a:txBody>
                  <a:tcPr anchor="ctr"/>
                </a:tc>
                <a:tc>
                  <a:txBody>
                    <a:bodyPr/>
                    <a:lstStyle/>
                    <a:p>
                      <a:pPr marL="285750" marR="0" indent="-285750" algn="l" defTabSz="457200" rtl="0" eaLnBrk="1" fontAlgn="auto" latinLnBrk="0" hangingPunct="1">
                        <a:lnSpc>
                          <a:spcPct val="100000"/>
                        </a:lnSpc>
                        <a:spcBef>
                          <a:spcPts val="0"/>
                        </a:spcBef>
                        <a:spcAft>
                          <a:spcPts val="0"/>
                        </a:spcAft>
                        <a:buClrTx/>
                        <a:buSzTx/>
                        <a:buFont typeface="Arial" charset="0"/>
                        <a:buChar char="•"/>
                        <a:tabLst/>
                        <a:defRPr/>
                      </a:pPr>
                      <a:r>
                        <a:rPr lang="en-GB" sz="1400" b="0" dirty="0" smtClean="0">
                          <a:latin typeface="Raleway" charset="0"/>
                          <a:ea typeface="Raleway" charset="0"/>
                          <a:cs typeface="Raleway" charset="0"/>
                        </a:rPr>
                        <a:t>Only in Ecuador</a:t>
                      </a:r>
                    </a:p>
                  </a:txBody>
                  <a:tcPr anchor="ctr"/>
                </a:tc>
                <a:tc>
                  <a:txBody>
                    <a:bodyPr/>
                    <a:lstStyle/>
                    <a:p>
                      <a:pPr marL="285750" indent="-285750" algn="l">
                        <a:buFont typeface="Arial" charset="0"/>
                        <a:buChar char="•"/>
                      </a:pPr>
                      <a:r>
                        <a:rPr lang="en-GB" sz="1400" b="0" dirty="0" smtClean="0">
                          <a:latin typeface="Raleway" charset="0"/>
                          <a:ea typeface="Raleway" charset="0"/>
                          <a:cs typeface="Raleway" charset="0"/>
                        </a:rPr>
                        <a:t>Only for BBQ</a:t>
                      </a:r>
                    </a:p>
                    <a:p>
                      <a:pPr marL="285750" indent="-285750" algn="l">
                        <a:buFont typeface="Arial" charset="0"/>
                        <a:buChar char="•"/>
                      </a:pPr>
                      <a:r>
                        <a:rPr lang="en-GB" sz="1400" b="0" dirty="0" smtClean="0">
                          <a:latin typeface="Raleway" charset="0"/>
                          <a:ea typeface="Raleway" charset="0"/>
                          <a:cs typeface="Raleway" charset="0"/>
                        </a:rPr>
                        <a:t>Wi-Fi Only</a:t>
                      </a:r>
                    </a:p>
                    <a:p>
                      <a:pPr marL="285750" indent="-285750" algn="l">
                        <a:buFont typeface="Arial" charset="0"/>
                        <a:buChar char="•"/>
                      </a:pPr>
                      <a:r>
                        <a:rPr lang="en-GB" sz="1400" b="0" dirty="0" smtClean="0">
                          <a:latin typeface="Raleway" charset="0"/>
                          <a:ea typeface="Raleway" charset="0"/>
                          <a:cs typeface="Raleway" charset="0"/>
                        </a:rPr>
                        <a:t>Not accurate</a:t>
                      </a:r>
                    </a:p>
                  </a:txBody>
                  <a:tcPr anchor="ctr"/>
                </a:tc>
              </a:tr>
              <a:tr h="426046">
                <a:tc>
                  <a:txBody>
                    <a:bodyPr/>
                    <a:lstStyle/>
                    <a:p>
                      <a:pPr algn="ctr"/>
                      <a:r>
                        <a:rPr lang="en-GB" sz="1400" b="0" dirty="0" smtClean="0">
                          <a:latin typeface="Raleway" charset="0"/>
                          <a:ea typeface="Raleway" charset="0"/>
                          <a:cs typeface="Raleway" charset="0"/>
                        </a:rPr>
                        <a:t>Price</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29€</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40 €</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8</a:t>
                      </a:r>
                      <a:r>
                        <a:rPr lang="en-GB" sz="1400" b="0" baseline="0" dirty="0" smtClean="0">
                          <a:latin typeface="Raleway" charset="0"/>
                          <a:ea typeface="Raleway" charset="0"/>
                          <a:cs typeface="Raleway" charset="0"/>
                        </a:rPr>
                        <a:t>€</a:t>
                      </a:r>
                      <a:r>
                        <a:rPr lang="en-GB" sz="1400" b="0" dirty="0" smtClean="0">
                          <a:latin typeface="Raleway" charset="0"/>
                          <a:ea typeface="Raleway" charset="0"/>
                          <a:cs typeface="Raleway" charset="0"/>
                        </a:rPr>
                        <a:t>/month</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14 €</a:t>
                      </a:r>
                      <a:endParaRPr lang="en-GB" sz="1400" b="0" dirty="0">
                        <a:latin typeface="Raleway" charset="0"/>
                        <a:ea typeface="Raleway" charset="0"/>
                        <a:cs typeface="Raleway" charset="0"/>
                      </a:endParaRPr>
                    </a:p>
                  </a:txBody>
                  <a:tcPr anchor="ctr"/>
                </a:tc>
              </a:tr>
              <a:tr h="884257">
                <a:tc>
                  <a:txBody>
                    <a:bodyPr/>
                    <a:lstStyle/>
                    <a:p>
                      <a:pPr algn="ctr"/>
                      <a:r>
                        <a:rPr lang="en-GB" sz="1400" b="0" dirty="0" smtClean="0">
                          <a:latin typeface="Raleway" charset="0"/>
                          <a:ea typeface="Raleway" charset="0"/>
                          <a:cs typeface="Raleway" charset="0"/>
                        </a:rPr>
                        <a:t>Business</a:t>
                      </a:r>
                      <a:r>
                        <a:rPr lang="en-GB" sz="1400" b="0" baseline="0" dirty="0" smtClean="0">
                          <a:latin typeface="Raleway" charset="0"/>
                          <a:ea typeface="Raleway" charset="0"/>
                          <a:cs typeface="Raleway" charset="0"/>
                        </a:rPr>
                        <a:t> Model</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Platform</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One Shot / B2C</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Platform</a:t>
                      </a:r>
                      <a:endParaRPr lang="en-GB" sz="1400" b="0" dirty="0">
                        <a:latin typeface="Raleway" charset="0"/>
                        <a:ea typeface="Raleway" charset="0"/>
                        <a:cs typeface="Raleway" charset="0"/>
                      </a:endParaRPr>
                    </a:p>
                  </a:txBody>
                  <a:tcPr anchor="ctr"/>
                </a:tc>
                <a:tc>
                  <a:txBody>
                    <a:bodyPr/>
                    <a:lstStyle/>
                    <a:p>
                      <a:pPr marL="0" marR="0" indent="0" algn="ctr" defTabSz="457200" rtl="0" eaLnBrk="1" fontAlgn="auto" latinLnBrk="0" hangingPunct="1">
                        <a:lnSpc>
                          <a:spcPct val="100000"/>
                        </a:lnSpc>
                        <a:spcBef>
                          <a:spcPts val="0"/>
                        </a:spcBef>
                        <a:spcAft>
                          <a:spcPts val="0"/>
                        </a:spcAft>
                        <a:buClrTx/>
                        <a:buSzTx/>
                        <a:buFontTx/>
                        <a:buNone/>
                        <a:tabLst/>
                        <a:defRPr/>
                      </a:pPr>
                      <a:r>
                        <a:rPr lang="en-GB" sz="1400" b="0" dirty="0" smtClean="0">
                          <a:latin typeface="Raleway" charset="0"/>
                          <a:ea typeface="Raleway" charset="0"/>
                          <a:cs typeface="Raleway" charset="0"/>
                        </a:rPr>
                        <a:t>One Shot</a:t>
                      </a:r>
                      <a:r>
                        <a:rPr lang="en-GB" sz="1400" b="0" baseline="0" dirty="0" smtClean="0">
                          <a:latin typeface="Raleway" charset="0"/>
                          <a:ea typeface="Raleway" charset="0"/>
                          <a:cs typeface="Raleway" charset="0"/>
                        </a:rPr>
                        <a:t> / B2B</a:t>
                      </a:r>
                      <a:endParaRPr lang="en-GB" sz="1400" b="0" dirty="0">
                        <a:latin typeface="Raleway" charset="0"/>
                        <a:ea typeface="Raleway" charset="0"/>
                        <a:cs typeface="Raleway" charset="0"/>
                      </a:endParaRPr>
                    </a:p>
                  </a:txBody>
                  <a:tcPr anchor="ctr"/>
                </a:tc>
                <a:tc>
                  <a:txBody>
                    <a:bodyPr/>
                    <a:lstStyle/>
                    <a:p>
                      <a:pPr algn="ctr"/>
                      <a:r>
                        <a:rPr lang="en-GB" sz="1400" b="0" dirty="0" smtClean="0">
                          <a:latin typeface="Raleway" charset="0"/>
                          <a:ea typeface="Raleway" charset="0"/>
                          <a:cs typeface="Raleway" charset="0"/>
                        </a:rPr>
                        <a:t>One Shot</a:t>
                      </a:r>
                      <a:r>
                        <a:rPr lang="en-GB" sz="1400" b="0" baseline="0" dirty="0" smtClean="0">
                          <a:latin typeface="Raleway" charset="0"/>
                          <a:ea typeface="Raleway" charset="0"/>
                          <a:cs typeface="Raleway" charset="0"/>
                        </a:rPr>
                        <a:t> / B2C</a:t>
                      </a:r>
                      <a:endParaRPr lang="en-GB" sz="1400" b="0" dirty="0">
                        <a:latin typeface="Raleway" charset="0"/>
                        <a:ea typeface="Raleway" charset="0"/>
                        <a:cs typeface="Raleway" charset="0"/>
                      </a:endParaRPr>
                    </a:p>
                  </a:txBody>
                  <a:tcPr anchor="ctr"/>
                </a:tc>
              </a:tr>
            </a:tbl>
          </a:graphicData>
        </a:graphic>
      </p:graphicFrame>
      <p:grpSp>
        <p:nvGrpSpPr>
          <p:cNvPr id="17" name="Group 16"/>
          <p:cNvGrpSpPr/>
          <p:nvPr/>
        </p:nvGrpSpPr>
        <p:grpSpPr>
          <a:xfrm>
            <a:off x="2177961" y="1578919"/>
            <a:ext cx="9100274" cy="1009137"/>
            <a:chOff x="2016598" y="1401613"/>
            <a:chExt cx="9100274" cy="1009137"/>
          </a:xfrm>
        </p:grpSpPr>
        <p:pic>
          <p:nvPicPr>
            <p:cNvPr id="9" name="Picture 8"/>
            <p:cNvPicPr>
              <a:picLocks noChangeAspect="1"/>
            </p:cNvPicPr>
            <p:nvPr/>
          </p:nvPicPr>
          <p:blipFill>
            <a:blip r:embed="rId3"/>
            <a:stretch>
              <a:fillRect/>
            </a:stretch>
          </p:blipFill>
          <p:spPr>
            <a:xfrm>
              <a:off x="4343400" y="1480050"/>
              <a:ext cx="520700" cy="930700"/>
            </a:xfrm>
            <a:prstGeom prst="rect">
              <a:avLst/>
            </a:prstGeom>
            <a:effectLst>
              <a:softEdge rad="25400"/>
            </a:effectLst>
          </p:spPr>
        </p:pic>
        <p:pic>
          <p:nvPicPr>
            <p:cNvPr id="10" name="Picture 9"/>
            <p:cNvPicPr>
              <a:picLocks noChangeAspect="1"/>
            </p:cNvPicPr>
            <p:nvPr/>
          </p:nvPicPr>
          <p:blipFill>
            <a:blip r:embed="rId4"/>
            <a:stretch>
              <a:fillRect/>
            </a:stretch>
          </p:blipFill>
          <p:spPr>
            <a:xfrm>
              <a:off x="9705892" y="1401613"/>
              <a:ext cx="1410980" cy="940653"/>
            </a:xfrm>
            <a:prstGeom prst="rect">
              <a:avLst/>
            </a:prstGeom>
            <a:effectLst>
              <a:softEdge rad="25400"/>
            </a:effectLst>
          </p:spPr>
        </p:pic>
        <p:pic>
          <p:nvPicPr>
            <p:cNvPr id="12" name="Picture 11"/>
            <p:cNvPicPr>
              <a:picLocks noChangeAspect="1"/>
            </p:cNvPicPr>
            <p:nvPr/>
          </p:nvPicPr>
          <p:blipFill>
            <a:blip r:embed="rId5"/>
            <a:stretch>
              <a:fillRect/>
            </a:stretch>
          </p:blipFill>
          <p:spPr>
            <a:xfrm>
              <a:off x="7607795" y="1401613"/>
              <a:ext cx="1716666" cy="920407"/>
            </a:xfrm>
            <a:prstGeom prst="rect">
              <a:avLst/>
            </a:prstGeom>
            <a:effectLst>
              <a:softEdge rad="25400"/>
            </a:effectLst>
          </p:spPr>
        </p:pic>
        <p:pic>
          <p:nvPicPr>
            <p:cNvPr id="13" name="Picture 12"/>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16598" y="1532558"/>
              <a:ext cx="1293551" cy="789462"/>
            </a:xfrm>
            <a:prstGeom prst="rect">
              <a:avLst/>
            </a:prstGeom>
            <a:effectLst>
              <a:outerShdw blurRad="25400" dist="76200" dir="2700000" sx="96000" sy="96000" algn="tl" rotWithShape="0">
                <a:prstClr val="black">
                  <a:alpha val="40000"/>
                </a:prstClr>
              </a:outerShdw>
            </a:effectLst>
          </p:spPr>
        </p:pic>
        <p:pic>
          <p:nvPicPr>
            <p:cNvPr id="14" name="Picture 13"/>
            <p:cNvPicPr>
              <a:picLocks noChangeAspect="1"/>
            </p:cNvPicPr>
            <p:nvPr/>
          </p:nvPicPr>
          <p:blipFill>
            <a:blip r:embed="rId7"/>
            <a:stretch>
              <a:fillRect/>
            </a:stretch>
          </p:blipFill>
          <p:spPr>
            <a:xfrm>
              <a:off x="6095999" y="1462095"/>
              <a:ext cx="932465" cy="920407"/>
            </a:xfrm>
            <a:prstGeom prst="rect">
              <a:avLst/>
            </a:prstGeom>
          </p:spPr>
        </p:pic>
      </p:grpSp>
      <p:sp>
        <p:nvSpPr>
          <p:cNvPr id="15" name="Title 1"/>
          <p:cNvSpPr txBox="1">
            <a:spLocks/>
          </p:cNvSpPr>
          <p:nvPr/>
        </p:nvSpPr>
        <p:spPr>
          <a:xfrm rot="16200000">
            <a:off x="-1318703" y="2620241"/>
            <a:ext cx="3609682" cy="970450"/>
          </a:xfrm>
          <a:prstGeom prst="rect">
            <a:avLst/>
          </a:prstGeom>
          <a:effectLst/>
        </p:spPr>
        <p:txBody>
          <a:bodyPr vert="horz" lIns="91440" tIns="45720" rIns="91440" bIns="45720" rtlCol="0" anchor="b">
            <a:noAutofit/>
          </a:bodyPr>
          <a:lstStyle>
            <a:lvl1pPr algn="l" defTabSz="457200" rtl="0" eaLnBrk="1" latinLnBrk="0" hangingPunct="1">
              <a:spcBef>
                <a:spcPct val="0"/>
              </a:spcBef>
              <a:buNone/>
              <a:defRPr sz="4000" b="1" kern="1200" baseline="0">
                <a:solidFill>
                  <a:srgbClr val="FEFEFE"/>
                </a:solidFill>
                <a:latin typeface="Comfortaa" charset="0"/>
                <a:ea typeface="+mj-ea"/>
                <a:cs typeface="+mj-cs"/>
              </a:defRPr>
            </a:lvl1pPr>
            <a:lvl2pPr eaLnBrk="1" hangingPunct="1">
              <a:defRPr>
                <a:solidFill>
                  <a:schemeClr val="tx2"/>
                </a:solidFill>
              </a:defRPr>
            </a:lvl2pPr>
            <a:lvl3pPr eaLnBrk="1" hangingPunct="1">
              <a:defRPr>
                <a:solidFill>
                  <a:schemeClr val="tx2"/>
                </a:solidFill>
              </a:defRPr>
            </a:lvl3pPr>
            <a:lvl4pPr eaLnBrk="1" hangingPunct="1">
              <a:defRPr>
                <a:solidFill>
                  <a:schemeClr val="tx2"/>
                </a:solidFill>
              </a:defRPr>
            </a:lvl4pPr>
            <a:lvl5pPr eaLnBrk="1" hangingPunct="1">
              <a:defRPr>
                <a:solidFill>
                  <a:schemeClr val="tx2"/>
                </a:solidFill>
              </a:defRPr>
            </a:lvl5pPr>
            <a:lvl6pPr eaLnBrk="1" hangingPunct="1">
              <a:defRPr>
                <a:solidFill>
                  <a:schemeClr val="tx2"/>
                </a:solidFill>
              </a:defRPr>
            </a:lvl6pPr>
            <a:lvl7pPr eaLnBrk="1" hangingPunct="1">
              <a:defRPr>
                <a:solidFill>
                  <a:schemeClr val="tx2"/>
                </a:solidFill>
              </a:defRPr>
            </a:lvl7pPr>
            <a:lvl8pPr eaLnBrk="1" hangingPunct="1">
              <a:defRPr>
                <a:solidFill>
                  <a:schemeClr val="tx2"/>
                </a:solidFill>
              </a:defRPr>
            </a:lvl8pPr>
            <a:lvl9pPr eaLnBrk="1" hangingPunct="1">
              <a:defRPr>
                <a:solidFill>
                  <a:schemeClr val="tx2"/>
                </a:solidFill>
              </a:defRPr>
            </a:lvl9pPr>
          </a:lstStyle>
          <a:p>
            <a:r>
              <a:rPr lang="en-GB" dirty="0" smtClean="0">
                <a:solidFill>
                  <a:schemeClr val="tx1"/>
                </a:solidFill>
              </a:rPr>
              <a:t>Competition</a:t>
            </a:r>
            <a:endParaRPr lang="en-GB" dirty="0">
              <a:solidFill>
                <a:schemeClr val="tx1"/>
              </a:solidFill>
            </a:endParaRPr>
          </a:p>
        </p:txBody>
      </p:sp>
    </p:spTree>
    <p:extLst>
      <p:ext uri="{BB962C8B-B14F-4D97-AF65-F5344CB8AC3E}">
        <p14:creationId xmlns:p14="http://schemas.microsoft.com/office/powerpoint/2010/main" val="13147190"/>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GB" dirty="0" smtClean="0">
                <a:solidFill>
                  <a:schemeClr val="accent1"/>
                </a:solidFill>
              </a:rPr>
              <a:t>Go to Market </a:t>
            </a:r>
            <a:r>
              <a:rPr lang="en-GB" dirty="0" smtClean="0"/>
              <a:t>Strategy</a:t>
            </a:r>
            <a:endParaRPr lang="en-GB" dirty="0"/>
          </a:p>
        </p:txBody>
      </p:sp>
      <p:sp>
        <p:nvSpPr>
          <p:cNvPr id="6" name="Content Placeholder 2"/>
          <p:cNvSpPr txBox="1">
            <a:spLocks/>
          </p:cNvSpPr>
          <p:nvPr/>
        </p:nvSpPr>
        <p:spPr>
          <a:xfrm>
            <a:off x="818712" y="2222287"/>
            <a:ext cx="10554574" cy="3636511"/>
          </a:xfrm>
          <a:prstGeom prst="rect">
            <a:avLst/>
          </a:prstGeom>
          <a:effectLst>
            <a:outerShdw blurRad="50800" dir="14400000">
              <a:srgbClr val="000000">
                <a:alpha val="40000"/>
              </a:srgbClr>
            </a:outerShdw>
          </a:effectLst>
        </p:spPr>
        <p:txBody>
          <a:bodyPr vert="horz" lIns="91440" tIns="45720" rIns="91440" bIns="45720" rtlCol="0" anchor="ctr">
            <a:normAutofit/>
          </a:bodyPr>
          <a:lstStyle>
            <a:lvl1pPr marL="342900" indent="-342900" algn="l" defTabSz="457200" rtl="0" eaLnBrk="1" latinLnBrk="0" hangingPunct="1">
              <a:spcBef>
                <a:spcPct val="20000"/>
              </a:spcBef>
              <a:spcAft>
                <a:spcPts val="600"/>
              </a:spcAft>
              <a:buClr>
                <a:schemeClr val="accent1"/>
              </a:buClr>
              <a:buSzPct val="150000"/>
              <a:buFontTx/>
              <a:buBlip>
                <a:blip r:embed="rId3"/>
              </a:buBlip>
              <a:defRPr sz="1800" kern="1200" baseline="0">
                <a:solidFill>
                  <a:schemeClr val="tx1"/>
                </a:solidFill>
                <a:latin typeface="Raleway Light" charset="0"/>
                <a:ea typeface="+mn-ea"/>
                <a:cs typeface="+mn-cs"/>
              </a:defRPr>
            </a:lvl1pPr>
            <a:lvl2pPr marL="742950" indent="-285750" algn="l" defTabSz="457200" rtl="0" eaLnBrk="1" latinLnBrk="0" hangingPunct="1">
              <a:spcBef>
                <a:spcPct val="20000"/>
              </a:spcBef>
              <a:spcAft>
                <a:spcPts val="600"/>
              </a:spcAft>
              <a:buClr>
                <a:schemeClr val="accent1"/>
              </a:buClr>
              <a:buSzPct val="150000"/>
              <a:buFontTx/>
              <a:buBlip>
                <a:blip r:embed="rId3"/>
              </a:buBlip>
              <a:defRPr sz="1600" kern="1200" baseline="0">
                <a:solidFill>
                  <a:schemeClr val="tx1"/>
                </a:solidFill>
                <a:latin typeface="Raleway Light" charset="0"/>
                <a:ea typeface="+mn-ea"/>
                <a:cs typeface="+mn-cs"/>
              </a:defRPr>
            </a:lvl2pPr>
            <a:lvl3pPr marL="1143000" indent="-228600" algn="l" defTabSz="457200" rtl="0" eaLnBrk="1" latinLnBrk="0" hangingPunct="1">
              <a:spcBef>
                <a:spcPct val="20000"/>
              </a:spcBef>
              <a:spcAft>
                <a:spcPts val="600"/>
              </a:spcAft>
              <a:buClr>
                <a:schemeClr val="accent1"/>
              </a:buClr>
              <a:buSzPct val="150000"/>
              <a:buFontTx/>
              <a:buBlip>
                <a:blip r:embed="rId3"/>
              </a:buBlip>
              <a:defRPr sz="1400" kern="1200" baseline="0">
                <a:solidFill>
                  <a:schemeClr val="tx1"/>
                </a:solidFill>
                <a:latin typeface="Raleway Light" charset="0"/>
                <a:ea typeface="+mn-ea"/>
                <a:cs typeface="+mn-cs"/>
              </a:defRPr>
            </a:lvl3pPr>
            <a:lvl4pPr marL="16002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4pPr>
            <a:lvl5pPr marL="2057400" indent="-228600" algn="l" defTabSz="457200" rtl="0" eaLnBrk="1" latinLnBrk="0" hangingPunct="1">
              <a:spcBef>
                <a:spcPct val="20000"/>
              </a:spcBef>
              <a:spcAft>
                <a:spcPts val="600"/>
              </a:spcAft>
              <a:buClr>
                <a:schemeClr val="accent1"/>
              </a:buClr>
              <a:buSzPct val="150000"/>
              <a:buFontTx/>
              <a:buBlip>
                <a:blip r:embed="rId3"/>
              </a:buBlip>
              <a:defRPr sz="1200" kern="1200" baseline="0">
                <a:solidFill>
                  <a:schemeClr val="tx1"/>
                </a:solidFill>
                <a:latin typeface="Raleway Light" charset="0"/>
                <a:ea typeface="+mn-ea"/>
                <a:cs typeface="+mn-cs"/>
              </a:defRPr>
            </a:lvl5pPr>
            <a:lvl6pPr marL="24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6pPr>
            <a:lvl7pPr marL="28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7pPr>
            <a:lvl8pPr marL="32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8pPr>
            <a:lvl9pPr marL="3600000" indent="-228600" algn="l" defTabSz="457200" rtl="0" eaLnBrk="1" latinLnBrk="0" hangingPunct="1">
              <a:spcBef>
                <a:spcPct val="20000"/>
              </a:spcBef>
              <a:spcAft>
                <a:spcPts val="600"/>
              </a:spcAft>
              <a:buClr>
                <a:schemeClr val="accent1"/>
              </a:buClr>
              <a:buFont typeface="Wingdings 2" charset="2"/>
              <a:buChar char=""/>
              <a:defRPr sz="1200" kern="1200">
                <a:solidFill>
                  <a:schemeClr val="tx1"/>
                </a:solidFill>
                <a:latin typeface="+mn-lt"/>
                <a:ea typeface="+mn-ea"/>
                <a:cs typeface="+mn-cs"/>
              </a:defRPr>
            </a:lvl9pPr>
          </a:lstStyle>
          <a:p>
            <a:pPr>
              <a:spcBef>
                <a:spcPts val="0"/>
              </a:spcBef>
              <a:spcAft>
                <a:spcPts val="2400"/>
              </a:spcAft>
            </a:pPr>
            <a:r>
              <a:rPr lang="en-GB" sz="2400" dirty="0" smtClean="0"/>
              <a:t>Pilot with a Portuguese brand</a:t>
            </a:r>
          </a:p>
          <a:p>
            <a:pPr>
              <a:spcBef>
                <a:spcPts val="0"/>
              </a:spcBef>
              <a:spcAft>
                <a:spcPts val="2400"/>
              </a:spcAft>
            </a:pPr>
            <a:r>
              <a:rPr lang="en-GB" sz="2400" dirty="0" smtClean="0"/>
              <a:t>Phase 1 </a:t>
            </a:r>
            <a:r>
              <a:rPr lang="mr-IN" sz="2400" dirty="0"/>
              <a:t>–</a:t>
            </a:r>
            <a:r>
              <a:rPr lang="en-GB" sz="2400" dirty="0" smtClean="0"/>
              <a:t> </a:t>
            </a:r>
            <a:r>
              <a:rPr lang="en-GB" sz="2400" b="1" dirty="0" smtClean="0">
                <a:solidFill>
                  <a:schemeClr val="accent1"/>
                </a:solidFill>
              </a:rPr>
              <a:t>Large LPG </a:t>
            </a:r>
            <a:r>
              <a:rPr lang="en-GB" sz="2400" dirty="0" smtClean="0"/>
              <a:t>cylinder in rural area (with brand exclusivity)</a:t>
            </a:r>
          </a:p>
          <a:p>
            <a:pPr>
              <a:spcBef>
                <a:spcPts val="0"/>
              </a:spcBef>
              <a:spcAft>
                <a:spcPts val="2400"/>
              </a:spcAft>
            </a:pPr>
            <a:r>
              <a:rPr lang="en-GB" sz="2400" dirty="0" smtClean="0"/>
              <a:t>Phase </a:t>
            </a:r>
            <a:r>
              <a:rPr lang="en-GB" sz="2400" dirty="0"/>
              <a:t>2</a:t>
            </a:r>
            <a:r>
              <a:rPr lang="en-GB" sz="2400" dirty="0" smtClean="0"/>
              <a:t> </a:t>
            </a:r>
            <a:r>
              <a:rPr lang="mr-IN" sz="2400" dirty="0"/>
              <a:t>–</a:t>
            </a:r>
            <a:r>
              <a:rPr lang="en-GB" sz="2400" dirty="0" smtClean="0"/>
              <a:t> </a:t>
            </a:r>
            <a:r>
              <a:rPr lang="en-GB" sz="2400" b="1" dirty="0" smtClean="0">
                <a:solidFill>
                  <a:schemeClr val="accent1"/>
                </a:solidFill>
              </a:rPr>
              <a:t>Small LPG </a:t>
            </a:r>
            <a:r>
              <a:rPr lang="en-GB" sz="2400" dirty="0" smtClean="0"/>
              <a:t>cylinder</a:t>
            </a:r>
          </a:p>
          <a:p>
            <a:pPr>
              <a:spcBef>
                <a:spcPts val="0"/>
              </a:spcBef>
              <a:spcAft>
                <a:spcPts val="2400"/>
              </a:spcAft>
            </a:pPr>
            <a:r>
              <a:rPr lang="en-GB" sz="2400" b="1" dirty="0" smtClean="0"/>
              <a:t>Phase 3 </a:t>
            </a:r>
            <a:r>
              <a:rPr lang="mr-IN" sz="2400" b="1" dirty="0" smtClean="0"/>
              <a:t>–</a:t>
            </a:r>
            <a:r>
              <a:rPr lang="en-GB" sz="2400" b="1" dirty="0" smtClean="0"/>
              <a:t> </a:t>
            </a:r>
            <a:r>
              <a:rPr lang="en-GB" sz="2400" b="1" dirty="0" smtClean="0">
                <a:solidFill>
                  <a:schemeClr val="accent1"/>
                </a:solidFill>
              </a:rPr>
              <a:t>Smart rack </a:t>
            </a:r>
            <a:r>
              <a:rPr lang="en-GB" sz="2400" b="1" dirty="0" smtClean="0"/>
              <a:t>for service station and small self-service distribution point</a:t>
            </a:r>
            <a:endParaRPr lang="en-GB" sz="2400" dirty="0" smtClean="0"/>
          </a:p>
        </p:txBody>
      </p:sp>
    </p:spTree>
    <p:extLst>
      <p:ext uri="{BB962C8B-B14F-4D97-AF65-F5344CB8AC3E}">
        <p14:creationId xmlns:p14="http://schemas.microsoft.com/office/powerpoint/2010/main" val="1393407601"/>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p:cNvSpPr>
            <a:spLocks noGrp="1"/>
          </p:cNvSpPr>
          <p:nvPr>
            <p:ph type="title"/>
          </p:nvPr>
        </p:nvSpPr>
        <p:spPr>
          <a:xfrm>
            <a:off x="810000" y="512002"/>
            <a:ext cx="10571998" cy="970450"/>
          </a:xfrm>
          <a:effectLst/>
        </p:spPr>
        <p:txBody>
          <a:bodyPr/>
          <a:lstStyle/>
          <a:p>
            <a:r>
              <a:rPr lang="en-GB" dirty="0" smtClean="0">
                <a:solidFill>
                  <a:schemeClr val="tx1"/>
                </a:solidFill>
              </a:rPr>
              <a:t>SCTN / Industry Partner</a:t>
            </a:r>
            <a:endParaRPr lang="en-GB" dirty="0">
              <a:solidFill>
                <a:schemeClr val="tx1"/>
              </a:solidFill>
            </a:endParaRPr>
          </a:p>
        </p:txBody>
      </p:sp>
      <p:pic>
        <p:nvPicPr>
          <p:cNvPr id="3" name="Picture 2"/>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810000" y="3197667"/>
            <a:ext cx="1800000" cy="907500"/>
          </a:xfrm>
          <a:prstGeom prst="rect">
            <a:avLst/>
          </a:prstGeom>
        </p:spPr>
      </p:pic>
      <p:pic>
        <p:nvPicPr>
          <p:cNvPr id="9" name="Picture 8"/>
          <p:cNvPicPr>
            <a:picLocks noChangeAspect="1"/>
          </p:cNvPicPr>
          <p:nvPr/>
        </p:nvPicPr>
        <p:blipFill>
          <a:blip r:embed="rId4"/>
          <a:stretch>
            <a:fillRect/>
          </a:stretch>
        </p:blipFill>
        <p:spPr>
          <a:xfrm>
            <a:off x="810000" y="1854178"/>
            <a:ext cx="1800000" cy="834637"/>
          </a:xfrm>
          <a:prstGeom prst="rect">
            <a:avLst/>
          </a:prstGeom>
        </p:spPr>
      </p:pic>
      <p:grpSp>
        <p:nvGrpSpPr>
          <p:cNvPr id="18" name="Group 17"/>
          <p:cNvGrpSpPr/>
          <p:nvPr/>
        </p:nvGrpSpPr>
        <p:grpSpPr>
          <a:xfrm>
            <a:off x="810000" y="4478415"/>
            <a:ext cx="1800000" cy="702402"/>
            <a:chOff x="810000" y="4204513"/>
            <a:chExt cx="1800000" cy="702402"/>
          </a:xfrm>
        </p:grpSpPr>
        <p:pic>
          <p:nvPicPr>
            <p:cNvPr id="16" name="Picture 15"/>
            <p:cNvPicPr>
              <a:picLocks noChangeAspect="1"/>
            </p:cNvPicPr>
            <p:nvPr/>
          </p:nvPicPr>
          <p:blipFill>
            <a:blip r:embed="rId5"/>
            <a:stretch>
              <a:fillRect/>
            </a:stretch>
          </p:blipFill>
          <p:spPr>
            <a:xfrm>
              <a:off x="1267200" y="4524494"/>
              <a:ext cx="759720" cy="382421"/>
            </a:xfrm>
            <a:prstGeom prst="rect">
              <a:avLst/>
            </a:prstGeom>
          </p:spPr>
        </p:pic>
        <p:pic>
          <p:nvPicPr>
            <p:cNvPr id="17" name="Picture 16"/>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810000" y="4204513"/>
              <a:ext cx="1800000" cy="162688"/>
            </a:xfrm>
            <a:prstGeom prst="rect">
              <a:avLst/>
            </a:prstGeom>
          </p:spPr>
        </p:pic>
      </p:grpSp>
      <p:pic>
        <p:nvPicPr>
          <p:cNvPr id="20" name="Picture 19"/>
          <p:cNvPicPr>
            <a:picLocks noChangeAspect="1"/>
          </p:cNvPicPr>
          <p:nvPr/>
        </p:nvPicPr>
        <p:blipFill>
          <a:blip r:embed="rId7">
            <a:extLst>
              <a:ext uri="{28A0092B-C50C-407E-A947-70E740481C1C}">
                <a14:useLocalDpi xmlns:a14="http://schemas.microsoft.com/office/drawing/2010/main" val="0"/>
              </a:ext>
            </a:extLst>
          </a:blip>
          <a:stretch>
            <a:fillRect/>
          </a:stretch>
        </p:blipFill>
        <p:spPr>
          <a:xfrm>
            <a:off x="810000" y="5628943"/>
            <a:ext cx="4326033" cy="562661"/>
          </a:xfrm>
          <a:prstGeom prst="rect">
            <a:avLst/>
          </a:prstGeom>
        </p:spPr>
      </p:pic>
      <p:sp>
        <p:nvSpPr>
          <p:cNvPr id="21" name="Rectangle 20"/>
          <p:cNvSpPr/>
          <p:nvPr/>
        </p:nvSpPr>
        <p:spPr>
          <a:xfrm>
            <a:off x="2773680" y="1799218"/>
            <a:ext cx="7101840" cy="1277273"/>
          </a:xfrm>
          <a:prstGeom prst="rect">
            <a:avLst/>
          </a:prstGeom>
        </p:spPr>
        <p:txBody>
          <a:bodyPr wrap="square">
            <a:spAutoFit/>
          </a:bodyPr>
          <a:lstStyle/>
          <a:p>
            <a:pPr fontAlgn="base">
              <a:spcAft>
                <a:spcPts val="600"/>
              </a:spcAft>
            </a:pPr>
            <a:r>
              <a:rPr lang="en-US" b="1" dirty="0" smtClean="0">
                <a:latin typeface="Raleway" charset="0"/>
                <a:ea typeface="Raleway" charset="0"/>
                <a:cs typeface="Raleway" charset="0"/>
              </a:rPr>
              <a:t>NDA &amp; MoU</a:t>
            </a:r>
          </a:p>
          <a:p>
            <a:pPr marL="285750" indent="-285750" fontAlgn="base">
              <a:buFont typeface="Arial" charset="0"/>
              <a:buChar char="•"/>
            </a:pPr>
            <a:r>
              <a:rPr lang="en-US" dirty="0" smtClean="0">
                <a:latin typeface="Raleway" charset="0"/>
                <a:ea typeface="Raleway" charset="0"/>
                <a:cs typeface="Raleway" charset="0"/>
              </a:rPr>
              <a:t>Provide ready-to-use communication </a:t>
            </a:r>
            <a:r>
              <a:rPr lang="en-US" dirty="0">
                <a:latin typeface="Raleway" charset="0"/>
                <a:ea typeface="Raleway" charset="0"/>
                <a:cs typeface="Raleway" charset="0"/>
              </a:rPr>
              <a:t>module for the </a:t>
            </a:r>
            <a:r>
              <a:rPr lang="en-US" b="1" dirty="0">
                <a:latin typeface="Raleway" charset="0"/>
                <a:ea typeface="Raleway" charset="0"/>
                <a:cs typeface="Raleway" charset="0"/>
              </a:rPr>
              <a:t>Pilot</a:t>
            </a:r>
          </a:p>
          <a:p>
            <a:pPr marL="285750" indent="-285750" fontAlgn="base">
              <a:buFont typeface="Arial" charset="0"/>
              <a:buChar char="•"/>
            </a:pPr>
            <a:r>
              <a:rPr lang="en-US" dirty="0" smtClean="0">
                <a:latin typeface="Raleway" charset="0"/>
                <a:ea typeface="Raleway" charset="0"/>
                <a:cs typeface="Raleway" charset="0"/>
              </a:rPr>
              <a:t>Provide access to their </a:t>
            </a:r>
            <a:r>
              <a:rPr lang="en-US" b="1" dirty="0" smtClean="0">
                <a:latin typeface="Raleway" charset="0"/>
                <a:ea typeface="Raleway" charset="0"/>
                <a:cs typeface="Raleway" charset="0"/>
              </a:rPr>
              <a:t>IoT platform</a:t>
            </a:r>
          </a:p>
          <a:p>
            <a:pPr marL="285750" indent="-285750" fontAlgn="base">
              <a:buFont typeface="Arial" charset="0"/>
              <a:buChar char="•"/>
            </a:pPr>
            <a:r>
              <a:rPr lang="en-US" dirty="0" smtClean="0">
                <a:latin typeface="Raleway" charset="0"/>
                <a:ea typeface="Raleway" charset="0"/>
                <a:cs typeface="Raleway" charset="0"/>
              </a:rPr>
              <a:t>Later access to international partners through their network</a:t>
            </a:r>
            <a:endParaRPr lang="en-US" dirty="0">
              <a:latin typeface="Raleway" charset="0"/>
              <a:ea typeface="Raleway" charset="0"/>
              <a:cs typeface="Raleway" charset="0"/>
            </a:endParaRPr>
          </a:p>
        </p:txBody>
      </p:sp>
      <p:sp>
        <p:nvSpPr>
          <p:cNvPr id="22" name="Rectangle 21"/>
          <p:cNvSpPr/>
          <p:nvPr/>
        </p:nvSpPr>
        <p:spPr>
          <a:xfrm>
            <a:off x="2773680" y="3147373"/>
            <a:ext cx="8260080" cy="1000274"/>
          </a:xfrm>
          <a:prstGeom prst="rect">
            <a:avLst/>
          </a:prstGeom>
        </p:spPr>
        <p:txBody>
          <a:bodyPr wrap="square">
            <a:spAutoFit/>
          </a:bodyPr>
          <a:lstStyle/>
          <a:p>
            <a:pPr fontAlgn="base">
              <a:spcAft>
                <a:spcPts val="600"/>
              </a:spcAft>
            </a:pPr>
            <a:r>
              <a:rPr lang="en-US" b="1" dirty="0" smtClean="0">
                <a:latin typeface="Raleway" charset="0"/>
                <a:ea typeface="Raleway" charset="0"/>
                <a:cs typeface="Raleway" charset="0"/>
              </a:rPr>
              <a:t>NDA</a:t>
            </a:r>
          </a:p>
          <a:p>
            <a:pPr marL="285750" indent="-285750" fontAlgn="base">
              <a:buFont typeface="Arial" charset="0"/>
              <a:buChar char="•"/>
            </a:pPr>
            <a:r>
              <a:rPr lang="en-US" dirty="0" smtClean="0">
                <a:latin typeface="Raleway" charset="0"/>
                <a:ea typeface="Raleway" charset="0"/>
                <a:cs typeface="Raleway" charset="0"/>
              </a:rPr>
              <a:t>Provide access to </a:t>
            </a:r>
            <a:r>
              <a:rPr lang="en-US" b="1" dirty="0" smtClean="0">
                <a:latin typeface="Raleway" charset="0"/>
                <a:ea typeface="Raleway" charset="0"/>
                <a:cs typeface="Raleway" charset="0"/>
              </a:rPr>
              <a:t>validated</a:t>
            </a:r>
            <a:r>
              <a:rPr lang="en-US" dirty="0" smtClean="0">
                <a:latin typeface="Raleway" charset="0"/>
                <a:ea typeface="Raleway" charset="0"/>
                <a:cs typeface="Raleway" charset="0"/>
              </a:rPr>
              <a:t> suppliers for strain gauge</a:t>
            </a:r>
          </a:p>
          <a:p>
            <a:pPr marL="285750" indent="-285750" fontAlgn="base">
              <a:buFont typeface="Arial" charset="0"/>
              <a:buChar char="•"/>
            </a:pPr>
            <a:r>
              <a:rPr lang="en-US" dirty="0" smtClean="0">
                <a:latin typeface="Raleway" charset="0"/>
                <a:ea typeface="Raleway" charset="0"/>
                <a:cs typeface="Raleway" charset="0"/>
              </a:rPr>
              <a:t>Open to be the partner for </a:t>
            </a:r>
            <a:r>
              <a:rPr lang="en-US" b="1" dirty="0" smtClean="0">
                <a:latin typeface="Raleway" charset="0"/>
                <a:ea typeface="Raleway" charset="0"/>
                <a:cs typeface="Raleway" charset="0"/>
              </a:rPr>
              <a:t>industrialization</a:t>
            </a:r>
            <a:r>
              <a:rPr lang="en-US" dirty="0" smtClean="0">
                <a:latin typeface="Raleway" charset="0"/>
                <a:ea typeface="Raleway" charset="0"/>
                <a:cs typeface="Raleway" charset="0"/>
              </a:rPr>
              <a:t> (facilities in </a:t>
            </a:r>
            <a:r>
              <a:rPr lang="en-US" dirty="0" smtClean="0">
                <a:latin typeface="Raleway" charset="0"/>
                <a:ea typeface="Raleway" charset="0"/>
                <a:cs typeface="Raleway" charset="0"/>
                <a:hlinkClick r:id="rId8"/>
              </a:rPr>
              <a:t>Ningbo</a:t>
            </a:r>
            <a:r>
              <a:rPr lang="en-US" dirty="0" smtClean="0">
                <a:latin typeface="Raleway" charset="0"/>
                <a:ea typeface="Raleway" charset="0"/>
                <a:cs typeface="Raleway" charset="0"/>
              </a:rPr>
              <a:t>, China)</a:t>
            </a:r>
          </a:p>
        </p:txBody>
      </p:sp>
      <p:sp>
        <p:nvSpPr>
          <p:cNvPr id="23" name="Rectangle 22"/>
          <p:cNvSpPr/>
          <p:nvPr/>
        </p:nvSpPr>
        <p:spPr>
          <a:xfrm>
            <a:off x="2773680" y="4389441"/>
            <a:ext cx="6644640" cy="723275"/>
          </a:xfrm>
          <a:prstGeom prst="rect">
            <a:avLst/>
          </a:prstGeom>
        </p:spPr>
        <p:txBody>
          <a:bodyPr wrap="square">
            <a:spAutoFit/>
          </a:bodyPr>
          <a:lstStyle/>
          <a:p>
            <a:pPr fontAlgn="base">
              <a:spcAft>
                <a:spcPts val="600"/>
              </a:spcAft>
            </a:pPr>
            <a:r>
              <a:rPr lang="en-US" b="1" dirty="0" smtClean="0">
                <a:latin typeface="Raleway" charset="0"/>
                <a:ea typeface="Raleway" charset="0"/>
                <a:cs typeface="Raleway" charset="0"/>
              </a:rPr>
              <a:t>NDA &amp; Former relationship</a:t>
            </a:r>
          </a:p>
          <a:p>
            <a:pPr marL="285750" indent="-285750" fontAlgn="base">
              <a:buFont typeface="Arial" charset="0"/>
              <a:buChar char="•"/>
            </a:pPr>
            <a:r>
              <a:rPr lang="en-US" dirty="0" smtClean="0">
                <a:latin typeface="Raleway" charset="0"/>
                <a:ea typeface="Raleway" charset="0"/>
                <a:cs typeface="Raleway" charset="0"/>
              </a:rPr>
              <a:t>Will provide the route optimization of the pilot for free</a:t>
            </a:r>
          </a:p>
        </p:txBody>
      </p:sp>
      <p:sp>
        <p:nvSpPr>
          <p:cNvPr id="25" name="Rectangle 24"/>
          <p:cNvSpPr/>
          <p:nvPr/>
        </p:nvSpPr>
        <p:spPr>
          <a:xfrm>
            <a:off x="5410200" y="5509302"/>
            <a:ext cx="6644640" cy="1000274"/>
          </a:xfrm>
          <a:prstGeom prst="rect">
            <a:avLst/>
          </a:prstGeom>
        </p:spPr>
        <p:txBody>
          <a:bodyPr wrap="square">
            <a:spAutoFit/>
          </a:bodyPr>
          <a:lstStyle/>
          <a:p>
            <a:pPr fontAlgn="base">
              <a:spcAft>
                <a:spcPts val="600"/>
              </a:spcAft>
            </a:pPr>
            <a:r>
              <a:rPr lang="en-US" b="1" dirty="0" smtClean="0">
                <a:latin typeface="Raleway" charset="0"/>
                <a:ea typeface="Raleway" charset="0"/>
                <a:cs typeface="Raleway" charset="0"/>
              </a:rPr>
              <a:t>NDA</a:t>
            </a:r>
            <a:endParaRPr lang="en-US" dirty="0" smtClean="0">
              <a:latin typeface="Raleway" charset="0"/>
              <a:ea typeface="Raleway" charset="0"/>
              <a:cs typeface="Raleway" charset="0"/>
            </a:endParaRPr>
          </a:p>
          <a:p>
            <a:pPr marL="285750" indent="-285750" fontAlgn="base">
              <a:buFont typeface="Arial" charset="0"/>
              <a:buChar char="•"/>
            </a:pPr>
            <a:r>
              <a:rPr lang="en-US" dirty="0" smtClean="0">
                <a:latin typeface="Raleway" charset="0"/>
                <a:ea typeface="Raleway" charset="0"/>
                <a:cs typeface="Raleway" charset="0"/>
              </a:rPr>
              <a:t>Proposal to raise defensibility of the product by integrating nanotechnology for cheap weight sensing</a:t>
            </a:r>
          </a:p>
        </p:txBody>
      </p:sp>
    </p:spTree>
    <p:extLst>
      <p:ext uri="{BB962C8B-B14F-4D97-AF65-F5344CB8AC3E}">
        <p14:creationId xmlns:p14="http://schemas.microsoft.com/office/powerpoint/2010/main" val="1812143827"/>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810000" y="479345"/>
            <a:ext cx="10571998" cy="970450"/>
          </a:xfrm>
        </p:spPr>
        <p:txBody>
          <a:bodyPr/>
          <a:lstStyle/>
          <a:p>
            <a:r>
              <a:rPr lang="en-GB" dirty="0"/>
              <a:t>T</a:t>
            </a:r>
            <a:r>
              <a:rPr lang="en-GB" dirty="0" smtClean="0"/>
              <a:t>eam</a:t>
            </a:r>
            <a:endParaRPr lang="en-GB" dirty="0"/>
          </a:p>
        </p:txBody>
      </p:sp>
      <p:grpSp>
        <p:nvGrpSpPr>
          <p:cNvPr id="13" name="Group 12"/>
          <p:cNvGrpSpPr/>
          <p:nvPr/>
        </p:nvGrpSpPr>
        <p:grpSpPr>
          <a:xfrm>
            <a:off x="391183" y="1930351"/>
            <a:ext cx="4389537" cy="3485267"/>
            <a:chOff x="350102" y="2405441"/>
            <a:chExt cx="4389537" cy="3485267"/>
          </a:xfrm>
        </p:grpSpPr>
        <p:sp>
          <p:nvSpPr>
            <p:cNvPr id="5" name="Rectangle 4"/>
            <p:cNvSpPr/>
            <p:nvPr/>
          </p:nvSpPr>
          <p:spPr>
            <a:xfrm>
              <a:off x="350102" y="4674991"/>
              <a:ext cx="4389537" cy="1215717"/>
            </a:xfrm>
            <a:prstGeom prst="rect">
              <a:avLst/>
            </a:prstGeom>
          </p:spPr>
          <p:txBody>
            <a:bodyPr wrap="square">
              <a:spAutoFit/>
            </a:bodyPr>
            <a:lstStyle/>
            <a:p>
              <a:pPr algn="ctr" fontAlgn="base">
                <a:spcAft>
                  <a:spcPts val="600"/>
                </a:spcAft>
              </a:pPr>
              <a:r>
                <a:rPr lang="en-US" sz="2000" b="1" dirty="0">
                  <a:solidFill>
                    <a:srgbClr val="57CABF"/>
                  </a:solidFill>
                  <a:latin typeface="Raleway" charset="0"/>
                  <a:ea typeface="Raleway" charset="0"/>
                  <a:cs typeface="Raleway" charset="0"/>
                </a:rPr>
                <a:t>Andre </a:t>
              </a:r>
              <a:r>
                <a:rPr lang="en-US" sz="2000" b="1" dirty="0" smtClean="0">
                  <a:solidFill>
                    <a:srgbClr val="57CABF"/>
                  </a:solidFill>
                  <a:latin typeface="Raleway" charset="0"/>
                  <a:ea typeface="Raleway" charset="0"/>
                  <a:cs typeface="Raleway" charset="0"/>
                </a:rPr>
                <a:t>Marquet - CMO</a:t>
              </a:r>
              <a:endParaRPr lang="en-US" sz="1600" b="1" dirty="0">
                <a:solidFill>
                  <a:srgbClr val="57CABF"/>
                </a:solidFill>
                <a:latin typeface="Raleway" charset="0"/>
                <a:ea typeface="Raleway" charset="0"/>
                <a:cs typeface="Raleway" charset="0"/>
              </a:endParaRPr>
            </a:p>
            <a:p>
              <a:pPr algn="ctr" fontAlgn="base"/>
              <a:r>
                <a:rPr lang="en-US" sz="1600" dirty="0">
                  <a:latin typeface="Raleway" charset="0"/>
                  <a:ea typeface="Raleway" charset="0"/>
                  <a:cs typeface="Raleway" charset="0"/>
                </a:rPr>
                <a:t>Engineer. Product manager. </a:t>
              </a:r>
              <a:r>
                <a:rPr lang="en-US" sz="1600" dirty="0" smtClean="0">
                  <a:latin typeface="Raleway" charset="0"/>
                  <a:ea typeface="Raleway" charset="0"/>
                  <a:cs typeface="Raleway" charset="0"/>
                </a:rPr>
                <a:t>Lecturer.</a:t>
              </a:r>
            </a:p>
            <a:p>
              <a:pPr algn="ctr" fontAlgn="base"/>
              <a:r>
                <a:rPr lang="en-US" sz="1600" dirty="0" smtClean="0">
                  <a:latin typeface="Raleway" charset="0"/>
                  <a:ea typeface="Raleway" charset="0"/>
                  <a:cs typeface="Raleway" charset="0"/>
                </a:rPr>
                <a:t>Co-founder </a:t>
              </a:r>
              <a:r>
                <a:rPr lang="en-US" sz="1600" dirty="0">
                  <a:latin typeface="Raleway" charset="0"/>
                  <a:ea typeface="Raleway" charset="0"/>
                  <a:cs typeface="Raleway" charset="0"/>
                </a:rPr>
                <a:t>of Beta-</a:t>
              </a:r>
              <a:r>
                <a:rPr lang="en-US" sz="1600" dirty="0" err="1">
                  <a:latin typeface="Raleway" charset="0"/>
                  <a:ea typeface="Raleway" charset="0"/>
                  <a:cs typeface="Raleway" charset="0"/>
                </a:rPr>
                <a:t>i</a:t>
              </a:r>
              <a:r>
                <a:rPr lang="en-US" sz="1600" dirty="0">
                  <a:latin typeface="Raleway" charset="0"/>
                  <a:ea typeface="Raleway" charset="0"/>
                  <a:cs typeface="Raleway" charset="0"/>
                </a:rPr>
                <a:t> and Producer of Productized Conf.</a:t>
              </a:r>
              <a:endParaRPr lang="en-US" sz="1600" b="0" i="0" dirty="0">
                <a:effectLst/>
                <a:latin typeface="Raleway" charset="0"/>
                <a:ea typeface="Raleway" charset="0"/>
                <a:cs typeface="Raleway" charset="0"/>
              </a:endParaRPr>
            </a:p>
          </p:txBody>
        </p:sp>
        <p:pic>
          <p:nvPicPr>
            <p:cNvPr id="6" name="Picture 5"/>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464870" y="2405441"/>
              <a:ext cx="2160000" cy="2160000"/>
            </a:xfrm>
            <a:prstGeom prst="rect">
              <a:avLst/>
            </a:prstGeom>
            <a:effectLst>
              <a:glow rad="63500">
                <a:schemeClr val="accent1">
                  <a:satMod val="175000"/>
                  <a:alpha val="40000"/>
                </a:schemeClr>
              </a:glow>
            </a:effectLst>
          </p:spPr>
        </p:pic>
      </p:grpSp>
      <p:grpSp>
        <p:nvGrpSpPr>
          <p:cNvPr id="15" name="Group 14"/>
          <p:cNvGrpSpPr/>
          <p:nvPr/>
        </p:nvGrpSpPr>
        <p:grpSpPr>
          <a:xfrm>
            <a:off x="7112999" y="1930351"/>
            <a:ext cx="4389537" cy="3485267"/>
            <a:chOff x="6834805" y="2405441"/>
            <a:chExt cx="4389537" cy="3485267"/>
          </a:xfrm>
        </p:grpSpPr>
        <p:pic>
          <p:nvPicPr>
            <p:cNvPr id="7" name="Picture 6"/>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7949574" y="2405441"/>
              <a:ext cx="2160000" cy="2160000"/>
            </a:xfrm>
            <a:prstGeom prst="rect">
              <a:avLst/>
            </a:prstGeom>
            <a:effectLst>
              <a:glow rad="63500">
                <a:schemeClr val="accent1">
                  <a:satMod val="175000"/>
                  <a:alpha val="40000"/>
                </a:schemeClr>
              </a:glow>
            </a:effectLst>
          </p:spPr>
        </p:pic>
        <p:sp>
          <p:nvSpPr>
            <p:cNvPr id="11" name="Rectangle 10"/>
            <p:cNvSpPr/>
            <p:nvPr/>
          </p:nvSpPr>
          <p:spPr>
            <a:xfrm>
              <a:off x="6834805" y="4674991"/>
              <a:ext cx="4389537" cy="1215717"/>
            </a:xfrm>
            <a:prstGeom prst="rect">
              <a:avLst/>
            </a:prstGeom>
          </p:spPr>
          <p:txBody>
            <a:bodyPr wrap="square">
              <a:spAutoFit/>
            </a:bodyPr>
            <a:lstStyle/>
            <a:p>
              <a:pPr algn="ctr" fontAlgn="base">
                <a:spcAft>
                  <a:spcPts val="600"/>
                </a:spcAft>
              </a:pPr>
              <a:r>
                <a:rPr lang="en-US" sz="2000" b="1" dirty="0" smtClean="0">
                  <a:solidFill>
                    <a:srgbClr val="57CABF"/>
                  </a:solidFill>
                  <a:latin typeface="Raleway" charset="0"/>
                  <a:ea typeface="Raleway" charset="0"/>
                  <a:cs typeface="Raleway" charset="0"/>
                </a:rPr>
                <a:t>Pedro Filipe - CFO</a:t>
              </a:r>
              <a:endParaRPr lang="en-US" sz="1600" b="1" dirty="0">
                <a:solidFill>
                  <a:srgbClr val="57CABF"/>
                </a:solidFill>
                <a:latin typeface="Raleway" charset="0"/>
                <a:ea typeface="Raleway" charset="0"/>
                <a:cs typeface="Raleway" charset="0"/>
              </a:endParaRPr>
            </a:p>
            <a:p>
              <a:pPr algn="ctr" fontAlgn="base"/>
              <a:r>
                <a:rPr lang="en-US" sz="1600" dirty="0">
                  <a:latin typeface="Raleway" charset="0"/>
                  <a:ea typeface="Raleway" charset="0"/>
                  <a:cs typeface="Raleway" charset="0"/>
                </a:rPr>
                <a:t>Business </a:t>
              </a:r>
              <a:r>
                <a:rPr lang="en-US" sz="1600" dirty="0" smtClean="0">
                  <a:latin typeface="Raleway" charset="0"/>
                  <a:ea typeface="Raleway" charset="0"/>
                  <a:cs typeface="Raleway" charset="0"/>
                </a:rPr>
                <a:t>Developer with proven track of records in complex project management and Logistics </a:t>
              </a:r>
              <a:endParaRPr lang="en-US" sz="1600" b="0" i="0" dirty="0">
                <a:effectLst/>
                <a:latin typeface="Raleway" charset="0"/>
                <a:ea typeface="Raleway" charset="0"/>
                <a:cs typeface="Raleway" charset="0"/>
              </a:endParaRPr>
            </a:p>
          </p:txBody>
        </p:sp>
      </p:grpSp>
      <p:grpSp>
        <p:nvGrpSpPr>
          <p:cNvPr id="14" name="Group 13"/>
          <p:cNvGrpSpPr/>
          <p:nvPr/>
        </p:nvGrpSpPr>
        <p:grpSpPr>
          <a:xfrm>
            <a:off x="3838231" y="1086075"/>
            <a:ext cx="4389537" cy="3300312"/>
            <a:chOff x="3624871" y="369795"/>
            <a:chExt cx="4389537" cy="3300312"/>
          </a:xfrm>
        </p:grpSpPr>
        <p:pic>
          <p:nvPicPr>
            <p:cNvPr id="8" name="Picture 7"/>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4707222" y="369795"/>
              <a:ext cx="2160000" cy="2160000"/>
            </a:xfrm>
            <a:prstGeom prst="rect">
              <a:avLst/>
            </a:prstGeom>
            <a:effectLst>
              <a:glow rad="63500">
                <a:schemeClr val="accent1">
                  <a:satMod val="175000"/>
                  <a:alpha val="40000"/>
                </a:schemeClr>
              </a:glow>
            </a:effectLst>
          </p:spPr>
        </p:pic>
        <p:sp>
          <p:nvSpPr>
            <p:cNvPr id="12" name="Rectangle 11"/>
            <p:cNvSpPr/>
            <p:nvPr/>
          </p:nvSpPr>
          <p:spPr>
            <a:xfrm>
              <a:off x="3624871" y="2700611"/>
              <a:ext cx="4389537" cy="969496"/>
            </a:xfrm>
            <a:prstGeom prst="rect">
              <a:avLst/>
            </a:prstGeom>
          </p:spPr>
          <p:txBody>
            <a:bodyPr wrap="square">
              <a:spAutoFit/>
            </a:bodyPr>
            <a:lstStyle/>
            <a:p>
              <a:pPr algn="ctr" fontAlgn="base">
                <a:spcAft>
                  <a:spcPts val="600"/>
                </a:spcAft>
              </a:pPr>
              <a:r>
                <a:rPr lang="en-US" sz="2000" b="1" dirty="0" smtClean="0">
                  <a:solidFill>
                    <a:srgbClr val="57CABF"/>
                  </a:solidFill>
                  <a:latin typeface="Raleway" charset="0"/>
                  <a:ea typeface="Raleway" charset="0"/>
                  <a:cs typeface="Raleway" charset="0"/>
                </a:rPr>
                <a:t>Michaël Memeteau - CEO</a:t>
              </a:r>
              <a:endParaRPr lang="en-US" sz="1600" b="1" dirty="0">
                <a:solidFill>
                  <a:srgbClr val="57CABF"/>
                </a:solidFill>
                <a:latin typeface="Raleway" charset="0"/>
                <a:ea typeface="Raleway" charset="0"/>
                <a:cs typeface="Raleway" charset="0"/>
              </a:endParaRPr>
            </a:p>
            <a:p>
              <a:pPr algn="ctr" fontAlgn="base"/>
              <a:r>
                <a:rPr lang="en-US" sz="1600" dirty="0" smtClean="0">
                  <a:latin typeface="Raleway" charset="0"/>
                  <a:ea typeface="Raleway" charset="0"/>
                  <a:cs typeface="Raleway" charset="0"/>
                </a:rPr>
                <a:t>M2M/IoT Specialist</a:t>
              </a:r>
              <a:br>
                <a:rPr lang="en-US" sz="1600" dirty="0" smtClean="0">
                  <a:latin typeface="Raleway" charset="0"/>
                  <a:ea typeface="Raleway" charset="0"/>
                  <a:cs typeface="Raleway" charset="0"/>
                </a:rPr>
              </a:br>
              <a:r>
                <a:rPr lang="en-US" sz="1600" dirty="0" smtClean="0">
                  <a:latin typeface="Raleway" charset="0"/>
                  <a:ea typeface="Raleway" charset="0"/>
                  <a:cs typeface="Raleway" charset="0"/>
                </a:rPr>
                <a:t>Co-Founder &amp; 1 Exit</a:t>
              </a:r>
              <a:endParaRPr lang="en-US" sz="1600" b="0" i="0" dirty="0">
                <a:effectLst/>
                <a:latin typeface="Raleway" charset="0"/>
                <a:ea typeface="Raleway" charset="0"/>
                <a:cs typeface="Raleway" charset="0"/>
              </a:endParaRPr>
            </a:p>
          </p:txBody>
        </p:sp>
      </p:grpSp>
    </p:spTree>
    <p:extLst>
      <p:ext uri="{BB962C8B-B14F-4D97-AF65-F5344CB8AC3E}">
        <p14:creationId xmlns:p14="http://schemas.microsoft.com/office/powerpoint/2010/main" val="1201102298"/>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3597912" y="4902006"/>
            <a:ext cx="1742386" cy="790112"/>
          </a:xfrm>
          <a:prstGeom prst="rect">
            <a:avLst/>
          </a:prstGeom>
        </p:spPr>
      </p:pic>
      <p:cxnSp>
        <p:nvCxnSpPr>
          <p:cNvPr id="6" name="Straight Connector 5"/>
          <p:cNvCxnSpPr/>
          <p:nvPr/>
        </p:nvCxnSpPr>
        <p:spPr>
          <a:xfrm flipV="1">
            <a:off x="628650" y="4258033"/>
            <a:ext cx="10678203" cy="13703"/>
          </a:xfrm>
          <a:prstGeom prst="line">
            <a:avLst/>
          </a:prstGeom>
        </p:spPr>
        <p:style>
          <a:lnRef idx="1">
            <a:schemeClr val="accent1"/>
          </a:lnRef>
          <a:fillRef idx="0">
            <a:schemeClr val="accent1"/>
          </a:fillRef>
          <a:effectRef idx="0">
            <a:schemeClr val="accent1"/>
          </a:effectRef>
          <a:fontRef idx="minor">
            <a:schemeClr val="tx1"/>
          </a:fontRef>
        </p:style>
      </p:cxnSp>
      <p:sp>
        <p:nvSpPr>
          <p:cNvPr id="7" name="Oval 6"/>
          <p:cNvSpPr/>
          <p:nvPr/>
        </p:nvSpPr>
        <p:spPr>
          <a:xfrm>
            <a:off x="868577" y="4202834"/>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8" name="TextBox 7"/>
          <p:cNvSpPr txBox="1"/>
          <p:nvPr/>
        </p:nvSpPr>
        <p:spPr>
          <a:xfrm rot="18900000">
            <a:off x="1999292" y="2482711"/>
            <a:ext cx="3283559" cy="707886"/>
          </a:xfrm>
          <a:prstGeom prst="rect">
            <a:avLst/>
          </a:prstGeom>
          <a:noFill/>
        </p:spPr>
        <p:txBody>
          <a:bodyPr wrap="square" rtlCol="0">
            <a:spAutoFit/>
          </a:bodyPr>
          <a:lstStyle/>
          <a:p>
            <a:r>
              <a:rPr lang="en-GB" sz="2000" dirty="0" smtClean="0">
                <a:latin typeface="Comfortaa" charset="0"/>
                <a:ea typeface="Comfortaa" charset="0"/>
                <a:cs typeface="Comfortaa" charset="0"/>
              </a:rPr>
              <a:t>Winner in</a:t>
            </a:r>
            <a:r>
              <a:rPr lang="en-GB" sz="2000" b="1" dirty="0" smtClean="0">
                <a:latin typeface="Comfortaa" charset="0"/>
                <a:ea typeface="Comfortaa" charset="0"/>
                <a:cs typeface="Comfortaa" charset="0"/>
              </a:rPr>
              <a:t> </a:t>
            </a:r>
            <a:r>
              <a:rPr lang="en-GB" sz="2000" b="1" dirty="0" smtClean="0">
                <a:solidFill>
                  <a:srgbClr val="57CABF"/>
                </a:solidFill>
                <a:latin typeface="Comfortaa" charset="0"/>
                <a:ea typeface="Comfortaa" charset="0"/>
                <a:cs typeface="Comfortaa" charset="0"/>
              </a:rPr>
              <a:t>Singapore</a:t>
            </a:r>
          </a:p>
          <a:p>
            <a:r>
              <a:rPr lang="en-GB" sz="2000" dirty="0" smtClean="0">
                <a:latin typeface="Comfortaa" charset="0"/>
                <a:ea typeface="Comfortaa" charset="0"/>
                <a:cs typeface="Comfortaa" charset="0"/>
              </a:rPr>
              <a:t>“the Game Changer”</a:t>
            </a:r>
            <a:endParaRPr lang="en-GB" sz="2000" dirty="0">
              <a:latin typeface="Comfortaa" charset="0"/>
              <a:ea typeface="Comfortaa" charset="0"/>
              <a:cs typeface="Comfortaa" charset="0"/>
            </a:endParaRPr>
          </a:p>
        </p:txBody>
      </p:sp>
      <p:sp>
        <p:nvSpPr>
          <p:cNvPr id="9" name="TextBox 8"/>
          <p:cNvSpPr txBox="1"/>
          <p:nvPr/>
        </p:nvSpPr>
        <p:spPr>
          <a:xfrm>
            <a:off x="3834297" y="4454047"/>
            <a:ext cx="1282677" cy="338554"/>
          </a:xfrm>
          <a:prstGeom prst="rect">
            <a:avLst/>
          </a:prstGeom>
          <a:noFill/>
        </p:spPr>
        <p:txBody>
          <a:bodyPr wrap="square" rtlCol="0">
            <a:spAutoFit/>
          </a:bodyPr>
          <a:lstStyle/>
          <a:p>
            <a:pPr algn="ctr"/>
            <a:r>
              <a:rPr lang="en-GB" sz="1600" b="1" smtClean="0">
                <a:latin typeface="Comfortaa" charset="0"/>
                <a:ea typeface="Comfortaa" charset="0"/>
                <a:cs typeface="Comfortaa" charset="0"/>
              </a:rPr>
              <a:t>July</a:t>
            </a:r>
            <a:endParaRPr lang="en-GB" sz="1600" b="1">
              <a:latin typeface="Comfortaa" charset="0"/>
              <a:ea typeface="Comfortaa" charset="0"/>
              <a:cs typeface="Comfortaa" charset="0"/>
            </a:endParaRPr>
          </a:p>
        </p:txBody>
      </p:sp>
      <p:sp>
        <p:nvSpPr>
          <p:cNvPr id="11" name="TextBox 10"/>
          <p:cNvSpPr txBox="1"/>
          <p:nvPr/>
        </p:nvSpPr>
        <p:spPr>
          <a:xfrm>
            <a:off x="5631751" y="4454047"/>
            <a:ext cx="1282677" cy="338554"/>
          </a:xfrm>
          <a:prstGeom prst="rect">
            <a:avLst/>
          </a:prstGeom>
          <a:noFill/>
        </p:spPr>
        <p:txBody>
          <a:bodyPr wrap="square" rtlCol="0">
            <a:spAutoFit/>
          </a:bodyPr>
          <a:lstStyle/>
          <a:p>
            <a:pPr algn="ctr"/>
            <a:r>
              <a:rPr lang="en-GB" sz="1600" b="1" smtClean="0">
                <a:latin typeface="Comfortaa" charset="0"/>
                <a:ea typeface="Comfortaa" charset="0"/>
                <a:cs typeface="Comfortaa" charset="0"/>
              </a:rPr>
              <a:t>Aug</a:t>
            </a:r>
            <a:endParaRPr lang="en-GB" sz="1600" b="1">
              <a:latin typeface="Comfortaa" charset="0"/>
              <a:ea typeface="Comfortaa" charset="0"/>
              <a:cs typeface="Comfortaa" charset="0"/>
            </a:endParaRPr>
          </a:p>
        </p:txBody>
      </p:sp>
      <p:sp>
        <p:nvSpPr>
          <p:cNvPr id="13" name="TextBox 12"/>
          <p:cNvSpPr txBox="1"/>
          <p:nvPr/>
        </p:nvSpPr>
        <p:spPr>
          <a:xfrm>
            <a:off x="7525417" y="4454047"/>
            <a:ext cx="1282677" cy="338554"/>
          </a:xfrm>
          <a:prstGeom prst="rect">
            <a:avLst/>
          </a:prstGeom>
          <a:noFill/>
        </p:spPr>
        <p:txBody>
          <a:bodyPr wrap="square" rtlCol="0">
            <a:spAutoFit/>
          </a:bodyPr>
          <a:lstStyle/>
          <a:p>
            <a:pPr algn="ctr"/>
            <a:r>
              <a:rPr lang="en-GB" sz="1600" b="1" dirty="0" smtClean="0">
                <a:latin typeface="Comfortaa" charset="0"/>
                <a:ea typeface="Comfortaa" charset="0"/>
                <a:cs typeface="Comfortaa" charset="0"/>
              </a:rPr>
              <a:t>Oct</a:t>
            </a:r>
          </a:p>
        </p:txBody>
      </p:sp>
      <p:pic>
        <p:nvPicPr>
          <p:cNvPr id="14" name="Picture 13"/>
          <p:cNvPicPr>
            <a:picLocks noChangeAspect="1"/>
          </p:cNvPicPr>
          <p:nvPr/>
        </p:nvPicPr>
        <p:blipFill>
          <a:blip r:embed="rId4"/>
          <a:stretch>
            <a:fillRect/>
          </a:stretch>
        </p:blipFill>
        <p:spPr>
          <a:xfrm>
            <a:off x="2092910" y="4904874"/>
            <a:ext cx="1229443" cy="525800"/>
          </a:xfrm>
          <a:prstGeom prst="rect">
            <a:avLst/>
          </a:prstGeom>
        </p:spPr>
      </p:pic>
      <p:sp>
        <p:nvSpPr>
          <p:cNvPr id="17" name="TextBox 16"/>
          <p:cNvSpPr txBox="1"/>
          <p:nvPr/>
        </p:nvSpPr>
        <p:spPr>
          <a:xfrm rot="18900000">
            <a:off x="464954" y="2928031"/>
            <a:ext cx="2636038" cy="400110"/>
          </a:xfrm>
          <a:prstGeom prst="rect">
            <a:avLst/>
          </a:prstGeom>
          <a:noFill/>
        </p:spPr>
        <p:txBody>
          <a:bodyPr wrap="square" rtlCol="0">
            <a:spAutoFit/>
          </a:bodyPr>
          <a:lstStyle/>
          <a:p>
            <a:r>
              <a:rPr lang="en-GB" sz="2000" b="1" smtClean="0">
                <a:solidFill>
                  <a:srgbClr val="57CABF"/>
                </a:solidFill>
                <a:latin typeface="Comfortaa" charset="0"/>
                <a:ea typeface="Comfortaa" charset="0"/>
                <a:cs typeface="Comfortaa" charset="0"/>
              </a:rPr>
              <a:t>Patent </a:t>
            </a:r>
            <a:r>
              <a:rPr lang="en-GB" sz="2000" smtClean="0">
                <a:latin typeface="Comfortaa" charset="0"/>
                <a:ea typeface="Comfortaa" charset="0"/>
                <a:cs typeface="Comfortaa" charset="0"/>
              </a:rPr>
              <a:t>Filed</a:t>
            </a:r>
            <a:endParaRPr lang="en-GB" sz="2000">
              <a:latin typeface="Comfortaa" charset="0"/>
              <a:ea typeface="Comfortaa" charset="0"/>
              <a:cs typeface="Comfortaa" charset="0"/>
            </a:endParaRPr>
          </a:p>
        </p:txBody>
      </p:sp>
      <p:sp>
        <p:nvSpPr>
          <p:cNvPr id="18" name="TextBox 17"/>
          <p:cNvSpPr txBox="1"/>
          <p:nvPr/>
        </p:nvSpPr>
        <p:spPr>
          <a:xfrm>
            <a:off x="2039676" y="4454047"/>
            <a:ext cx="1282677" cy="458385"/>
          </a:xfrm>
          <a:prstGeom prst="rect">
            <a:avLst/>
          </a:prstGeom>
          <a:noFill/>
        </p:spPr>
        <p:txBody>
          <a:bodyPr wrap="square" rtlCol="0">
            <a:spAutoFit/>
          </a:bodyPr>
          <a:lstStyle/>
          <a:p>
            <a:pPr algn="ctr"/>
            <a:r>
              <a:rPr lang="en-GB" sz="1600" b="1">
                <a:latin typeface="Comfortaa" charset="0"/>
                <a:ea typeface="Comfortaa" charset="0"/>
                <a:cs typeface="Comfortaa" charset="0"/>
              </a:rPr>
              <a:t>July</a:t>
            </a:r>
          </a:p>
        </p:txBody>
      </p:sp>
      <p:sp>
        <p:nvSpPr>
          <p:cNvPr id="19" name="TextBox 18"/>
          <p:cNvSpPr txBox="1"/>
          <p:nvPr/>
        </p:nvSpPr>
        <p:spPr>
          <a:xfrm>
            <a:off x="307048" y="4454047"/>
            <a:ext cx="1282677" cy="458385"/>
          </a:xfrm>
          <a:prstGeom prst="rect">
            <a:avLst/>
          </a:prstGeom>
          <a:noFill/>
        </p:spPr>
        <p:txBody>
          <a:bodyPr wrap="square" rtlCol="0">
            <a:spAutoFit/>
          </a:bodyPr>
          <a:lstStyle/>
          <a:p>
            <a:pPr algn="ctr"/>
            <a:r>
              <a:rPr lang="en-GB" sz="1600" b="1" smtClean="0">
                <a:latin typeface="Comfortaa" charset="0"/>
                <a:ea typeface="Comfortaa" charset="0"/>
                <a:cs typeface="Comfortaa" charset="0"/>
              </a:rPr>
              <a:t>June</a:t>
            </a:r>
            <a:endParaRPr lang="en-GB" sz="1600" b="1">
              <a:latin typeface="Comfortaa" charset="0"/>
              <a:ea typeface="Comfortaa" charset="0"/>
              <a:cs typeface="Comfortaa" charset="0"/>
            </a:endParaRPr>
          </a:p>
        </p:txBody>
      </p:sp>
      <p:sp>
        <p:nvSpPr>
          <p:cNvPr id="20" name="Oval 19"/>
          <p:cNvSpPr/>
          <p:nvPr/>
        </p:nvSpPr>
        <p:spPr>
          <a:xfrm>
            <a:off x="2579752" y="4174252"/>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21" name="Oval 20"/>
          <p:cNvSpPr/>
          <p:nvPr/>
        </p:nvSpPr>
        <p:spPr>
          <a:xfrm>
            <a:off x="4405512" y="4179764"/>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22" name="Oval 21"/>
          <p:cNvSpPr/>
          <p:nvPr/>
        </p:nvSpPr>
        <p:spPr>
          <a:xfrm>
            <a:off x="6222030" y="4170679"/>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23" name="Oval 22"/>
          <p:cNvSpPr/>
          <p:nvPr/>
        </p:nvSpPr>
        <p:spPr>
          <a:xfrm>
            <a:off x="8065499" y="4160549"/>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2" name="Title 1"/>
          <p:cNvSpPr>
            <a:spLocks noGrp="1"/>
          </p:cNvSpPr>
          <p:nvPr>
            <p:ph type="title"/>
          </p:nvPr>
        </p:nvSpPr>
        <p:spPr/>
        <p:txBody>
          <a:bodyPr/>
          <a:lstStyle/>
          <a:p>
            <a:r>
              <a:rPr lang="en-GB" smtClean="0">
                <a:latin typeface="Comfortaa" charset="0"/>
                <a:ea typeface="Comfortaa" charset="0"/>
                <a:cs typeface="Comfortaa" charset="0"/>
              </a:rPr>
              <a:t>Traction</a:t>
            </a:r>
            <a:endParaRPr lang="en-GB">
              <a:latin typeface="Comfortaa" charset="0"/>
              <a:ea typeface="Comfortaa" charset="0"/>
              <a:cs typeface="Comfortaa" charset="0"/>
            </a:endParaRPr>
          </a:p>
        </p:txBody>
      </p:sp>
      <p:sp>
        <p:nvSpPr>
          <p:cNvPr id="24" name="TextBox 23"/>
          <p:cNvSpPr txBox="1"/>
          <p:nvPr/>
        </p:nvSpPr>
        <p:spPr>
          <a:xfrm rot="18900000">
            <a:off x="5442597" y="2054169"/>
            <a:ext cx="4151944" cy="707886"/>
          </a:xfrm>
          <a:prstGeom prst="rect">
            <a:avLst/>
          </a:prstGeom>
          <a:noFill/>
        </p:spPr>
        <p:txBody>
          <a:bodyPr wrap="square" rtlCol="0">
            <a:spAutoFit/>
          </a:bodyPr>
          <a:lstStyle/>
          <a:p>
            <a:r>
              <a:rPr lang="en-GB" sz="2000" dirty="0" smtClean="0">
                <a:latin typeface="Comfortaa" charset="0"/>
                <a:ea typeface="Comfortaa" charset="0"/>
                <a:cs typeface="Comfortaa" charset="0"/>
              </a:rPr>
              <a:t>Portugal Venture</a:t>
            </a:r>
            <a:br>
              <a:rPr lang="en-GB" sz="2000" dirty="0" smtClean="0">
                <a:latin typeface="Comfortaa" charset="0"/>
                <a:ea typeface="Comfortaa" charset="0"/>
                <a:cs typeface="Comfortaa" charset="0"/>
              </a:rPr>
            </a:br>
            <a:r>
              <a:rPr lang="en-GB" sz="2000" dirty="0" smtClean="0">
                <a:latin typeface="Comfortaa" charset="0"/>
                <a:ea typeface="Comfortaa" charset="0"/>
                <a:cs typeface="Comfortaa" charset="0"/>
              </a:rPr>
              <a:t>Submission Call </a:t>
            </a:r>
            <a:r>
              <a:rPr lang="en-GB" sz="2000" b="1" dirty="0" smtClean="0">
                <a:solidFill>
                  <a:srgbClr val="57CABF"/>
                </a:solidFill>
                <a:latin typeface="Comfortaa" charset="0"/>
                <a:ea typeface="Comfortaa" charset="0"/>
                <a:cs typeface="Comfortaa" charset="0"/>
              </a:rPr>
              <a:t>Industry 4.0</a:t>
            </a:r>
            <a:endParaRPr lang="en-GB" sz="2000" b="1" dirty="0">
              <a:solidFill>
                <a:srgbClr val="57CABF"/>
              </a:solidFill>
              <a:latin typeface="Comfortaa" charset="0"/>
              <a:ea typeface="Comfortaa" charset="0"/>
              <a:cs typeface="Comfortaa" charset="0"/>
            </a:endParaRPr>
          </a:p>
        </p:txBody>
      </p:sp>
      <p:sp>
        <p:nvSpPr>
          <p:cNvPr id="25" name="TextBox 24"/>
          <p:cNvSpPr txBox="1"/>
          <p:nvPr/>
        </p:nvSpPr>
        <p:spPr>
          <a:xfrm rot="18900000">
            <a:off x="7395647" y="2398990"/>
            <a:ext cx="3283559" cy="707886"/>
          </a:xfrm>
          <a:prstGeom prst="rect">
            <a:avLst/>
          </a:prstGeom>
          <a:noFill/>
        </p:spPr>
        <p:txBody>
          <a:bodyPr wrap="square" rtlCol="0">
            <a:spAutoFit/>
          </a:bodyPr>
          <a:lstStyle/>
          <a:p>
            <a:r>
              <a:rPr lang="en-GB" sz="2000" b="1" dirty="0" smtClean="0">
                <a:solidFill>
                  <a:srgbClr val="57CABF"/>
                </a:solidFill>
                <a:latin typeface="Comfortaa" charset="0"/>
                <a:ea typeface="Comfortaa" charset="0"/>
                <a:cs typeface="Comfortaa" charset="0"/>
              </a:rPr>
              <a:t>Featured Start-up </a:t>
            </a:r>
            <a:br>
              <a:rPr lang="en-GB" sz="2000" b="1" dirty="0" smtClean="0">
                <a:solidFill>
                  <a:srgbClr val="57CABF"/>
                </a:solidFill>
                <a:latin typeface="Comfortaa" charset="0"/>
                <a:ea typeface="Comfortaa" charset="0"/>
                <a:cs typeface="Comfortaa" charset="0"/>
              </a:rPr>
            </a:br>
            <a:r>
              <a:rPr lang="en-GB" sz="2000" b="1" dirty="0" smtClean="0">
                <a:latin typeface="Comfortaa" charset="0"/>
                <a:ea typeface="Comfortaa" charset="0"/>
                <a:cs typeface="Comfortaa" charset="0"/>
              </a:rPr>
              <a:t>@PT IoT Challenge</a:t>
            </a:r>
            <a:endParaRPr lang="en-GB" sz="2000" dirty="0" smtClean="0">
              <a:latin typeface="Comfortaa" charset="0"/>
              <a:ea typeface="Comfortaa" charset="0"/>
              <a:cs typeface="Comfortaa" charset="0"/>
            </a:endParaRPr>
          </a:p>
        </p:txBody>
      </p:sp>
      <p:pic>
        <p:nvPicPr>
          <p:cNvPr id="26" name="Picture 25"/>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2092910" y="5459433"/>
            <a:ext cx="1229443" cy="465370"/>
          </a:xfrm>
          <a:prstGeom prst="rect">
            <a:avLst/>
          </a:prstGeom>
        </p:spPr>
      </p:pic>
      <p:pic>
        <p:nvPicPr>
          <p:cNvPr id="10" name="Picture 9"/>
          <p:cNvPicPr>
            <a:picLocks noChangeAspect="1"/>
          </p:cNvPicPr>
          <p:nvPr/>
        </p:nvPicPr>
        <p:blipFill>
          <a:blip r:embed="rId6">
            <a:extLst>
              <a:ext uri="{28A0092B-C50C-407E-A947-70E740481C1C}">
                <a14:useLocalDpi xmlns:a14="http://schemas.microsoft.com/office/drawing/2010/main" val="0"/>
              </a:ext>
            </a:extLst>
          </a:blip>
          <a:stretch>
            <a:fillRect/>
          </a:stretch>
        </p:blipFill>
        <p:spPr>
          <a:xfrm>
            <a:off x="2092910" y="5924803"/>
            <a:ext cx="1229443" cy="585647"/>
          </a:xfrm>
          <a:prstGeom prst="rect">
            <a:avLst/>
          </a:prstGeom>
        </p:spPr>
      </p:pic>
      <p:sp>
        <p:nvSpPr>
          <p:cNvPr id="28" name="TextBox 27"/>
          <p:cNvSpPr txBox="1"/>
          <p:nvPr/>
        </p:nvSpPr>
        <p:spPr>
          <a:xfrm rot="18900000">
            <a:off x="3657241" y="1982311"/>
            <a:ext cx="4445838" cy="707886"/>
          </a:xfrm>
          <a:prstGeom prst="rect">
            <a:avLst/>
          </a:prstGeom>
          <a:noFill/>
        </p:spPr>
        <p:txBody>
          <a:bodyPr wrap="square" rtlCol="0">
            <a:spAutoFit/>
          </a:bodyPr>
          <a:lstStyle/>
          <a:p>
            <a:r>
              <a:rPr lang="en-GB" sz="2000" b="1" smtClean="0">
                <a:solidFill>
                  <a:srgbClr val="57CABF"/>
                </a:solidFill>
                <a:latin typeface="Comfortaa" charset="0"/>
                <a:ea typeface="Comfortaa" charset="0"/>
                <a:cs typeface="Comfortaa" charset="0"/>
              </a:rPr>
              <a:t>1</a:t>
            </a:r>
            <a:r>
              <a:rPr lang="en-GB" sz="2000" b="1" baseline="30000" smtClean="0">
                <a:solidFill>
                  <a:srgbClr val="57CABF"/>
                </a:solidFill>
                <a:latin typeface="Comfortaa" charset="0"/>
                <a:ea typeface="Comfortaa" charset="0"/>
                <a:cs typeface="Comfortaa" charset="0"/>
              </a:rPr>
              <a:t>st</a:t>
            </a:r>
            <a:r>
              <a:rPr lang="en-GB" sz="2000" b="1" smtClean="0">
                <a:solidFill>
                  <a:srgbClr val="57CABF"/>
                </a:solidFill>
                <a:latin typeface="Comfortaa" charset="0"/>
                <a:ea typeface="Comfortaa" charset="0"/>
                <a:cs typeface="Comfortaa" charset="0"/>
              </a:rPr>
              <a:t> Place </a:t>
            </a:r>
            <a:r>
              <a:rPr lang="en-GB" sz="2000" smtClean="0">
                <a:latin typeface="Comfortaa" charset="0"/>
                <a:ea typeface="Comfortaa" charset="0"/>
                <a:cs typeface="Comfortaa" charset="0"/>
              </a:rPr>
              <a:t>in Productized</a:t>
            </a:r>
            <a:br>
              <a:rPr lang="en-GB" sz="2000" smtClean="0">
                <a:latin typeface="Comfortaa" charset="0"/>
                <a:ea typeface="Comfortaa" charset="0"/>
                <a:cs typeface="Comfortaa" charset="0"/>
              </a:rPr>
            </a:br>
            <a:r>
              <a:rPr lang="en-GB" sz="2000" smtClean="0">
                <a:latin typeface="Comfortaa" charset="0"/>
                <a:ea typeface="Comfortaa" charset="0"/>
                <a:cs typeface="Comfortaa" charset="0"/>
              </a:rPr>
              <a:t>Lisbon Hardware Accelerator</a:t>
            </a:r>
            <a:endParaRPr lang="en-GB" sz="2000">
              <a:latin typeface="Comfortaa" charset="0"/>
              <a:ea typeface="Comfortaa" charset="0"/>
              <a:cs typeface="Comfortaa" charset="0"/>
            </a:endParaRPr>
          </a:p>
        </p:txBody>
      </p:sp>
      <p:grpSp>
        <p:nvGrpSpPr>
          <p:cNvPr id="12" name="Group 11"/>
          <p:cNvGrpSpPr/>
          <p:nvPr/>
        </p:nvGrpSpPr>
        <p:grpSpPr>
          <a:xfrm>
            <a:off x="5501688" y="4916595"/>
            <a:ext cx="1639682" cy="1085676"/>
            <a:chOff x="7629009" y="4903160"/>
            <a:chExt cx="1639682" cy="1085676"/>
          </a:xfrm>
        </p:grpSpPr>
        <p:pic>
          <p:nvPicPr>
            <p:cNvPr id="3" name="Picture 2"/>
            <p:cNvPicPr>
              <a:picLocks noChangeAspect="1"/>
            </p:cNvPicPr>
            <p:nvPr/>
          </p:nvPicPr>
          <p:blipFill>
            <a:blip r:embed="rId7"/>
            <a:stretch>
              <a:fillRect/>
            </a:stretch>
          </p:blipFill>
          <p:spPr>
            <a:xfrm>
              <a:off x="7629010" y="4903160"/>
              <a:ext cx="1639681" cy="353163"/>
            </a:xfrm>
            <a:prstGeom prst="rect">
              <a:avLst/>
            </a:prstGeom>
          </p:spPr>
        </p:pic>
        <p:pic>
          <p:nvPicPr>
            <p:cNvPr id="5" name="Picture 4"/>
            <p:cNvPicPr>
              <a:picLocks noChangeAspect="1"/>
            </p:cNvPicPr>
            <p:nvPr/>
          </p:nvPicPr>
          <p:blipFill>
            <a:blip r:embed="rId8"/>
            <a:stretch>
              <a:fillRect/>
            </a:stretch>
          </p:blipFill>
          <p:spPr>
            <a:xfrm>
              <a:off x="7629009" y="5256323"/>
              <a:ext cx="1639681" cy="732513"/>
            </a:xfrm>
            <a:prstGeom prst="rect">
              <a:avLst/>
            </a:prstGeom>
          </p:spPr>
        </p:pic>
      </p:grpSp>
      <p:pic>
        <p:nvPicPr>
          <p:cNvPr id="15" name="Picture 14"/>
          <p:cNvPicPr>
            <a:picLocks noChangeAspect="1"/>
          </p:cNvPicPr>
          <p:nvPr/>
        </p:nvPicPr>
        <p:blipFill>
          <a:blip r:embed="rId9"/>
          <a:stretch>
            <a:fillRect/>
          </a:stretch>
        </p:blipFill>
        <p:spPr>
          <a:xfrm>
            <a:off x="7271576" y="4887959"/>
            <a:ext cx="1945357" cy="381799"/>
          </a:xfrm>
          <a:prstGeom prst="rect">
            <a:avLst/>
          </a:prstGeom>
        </p:spPr>
      </p:pic>
      <p:sp>
        <p:nvSpPr>
          <p:cNvPr id="29" name="TextBox 28"/>
          <p:cNvSpPr txBox="1"/>
          <p:nvPr/>
        </p:nvSpPr>
        <p:spPr>
          <a:xfrm>
            <a:off x="9290550" y="4448296"/>
            <a:ext cx="1282677" cy="338554"/>
          </a:xfrm>
          <a:prstGeom prst="rect">
            <a:avLst/>
          </a:prstGeom>
          <a:noFill/>
        </p:spPr>
        <p:txBody>
          <a:bodyPr wrap="square" rtlCol="0">
            <a:spAutoFit/>
          </a:bodyPr>
          <a:lstStyle/>
          <a:p>
            <a:pPr algn="ctr"/>
            <a:r>
              <a:rPr lang="en-GB" sz="1600" b="1" dirty="0" smtClean="0">
                <a:latin typeface="Comfortaa" charset="0"/>
                <a:ea typeface="Comfortaa" charset="0"/>
                <a:cs typeface="Comfortaa" charset="0"/>
              </a:rPr>
              <a:t>Nov</a:t>
            </a:r>
          </a:p>
        </p:txBody>
      </p:sp>
      <p:sp>
        <p:nvSpPr>
          <p:cNvPr id="30" name="Oval 29"/>
          <p:cNvSpPr/>
          <p:nvPr/>
        </p:nvSpPr>
        <p:spPr>
          <a:xfrm>
            <a:off x="9830632" y="4154798"/>
            <a:ext cx="194969" cy="194969"/>
          </a:xfrm>
          <a:prstGeom prst="ellipse">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350">
              <a:latin typeface="Comfortaa" charset="0"/>
              <a:ea typeface="Comfortaa" charset="0"/>
              <a:cs typeface="Comfortaa" charset="0"/>
            </a:endParaRPr>
          </a:p>
        </p:txBody>
      </p:sp>
      <p:sp>
        <p:nvSpPr>
          <p:cNvPr id="31" name="TextBox 30"/>
          <p:cNvSpPr txBox="1"/>
          <p:nvPr/>
        </p:nvSpPr>
        <p:spPr>
          <a:xfrm rot="18900000">
            <a:off x="9160780" y="2547127"/>
            <a:ext cx="3283559" cy="400110"/>
          </a:xfrm>
          <a:prstGeom prst="rect">
            <a:avLst/>
          </a:prstGeom>
          <a:noFill/>
        </p:spPr>
        <p:txBody>
          <a:bodyPr wrap="square" rtlCol="0">
            <a:spAutoFit/>
          </a:bodyPr>
          <a:lstStyle/>
          <a:p>
            <a:r>
              <a:rPr lang="en-GB" sz="2000" b="1" dirty="0" smtClean="0">
                <a:solidFill>
                  <a:srgbClr val="57CABF"/>
                </a:solidFill>
                <a:latin typeface="Comfortaa" charset="0"/>
                <a:ea typeface="Comfortaa" charset="0"/>
                <a:cs typeface="Comfortaa" charset="0"/>
              </a:rPr>
              <a:t>Alpha Pass </a:t>
            </a:r>
            <a:r>
              <a:rPr lang="en-GB" sz="2000" b="1" dirty="0" smtClean="0">
                <a:latin typeface="Comfortaa" charset="0"/>
                <a:ea typeface="Comfortaa" charset="0"/>
                <a:cs typeface="Comfortaa" charset="0"/>
              </a:rPr>
              <a:t>Web Summit</a:t>
            </a:r>
            <a:endParaRPr lang="en-GB" sz="2000" dirty="0" smtClean="0">
              <a:latin typeface="Comfortaa" charset="0"/>
              <a:ea typeface="Comfortaa" charset="0"/>
              <a:cs typeface="Comfortaa" charset="0"/>
            </a:endParaRPr>
          </a:p>
        </p:txBody>
      </p:sp>
      <p:pic>
        <p:nvPicPr>
          <p:cNvPr id="16" name="Picture 15"/>
          <p:cNvPicPr>
            <a:picLocks noChangeAspect="1"/>
          </p:cNvPicPr>
          <p:nvPr/>
        </p:nvPicPr>
        <p:blipFill>
          <a:blip r:embed="rId10">
            <a:extLst>
              <a:ext uri="{28A0092B-C50C-407E-A947-70E740481C1C}">
                <a14:useLocalDpi xmlns:a14="http://schemas.microsoft.com/office/drawing/2010/main" val="0"/>
              </a:ext>
            </a:extLst>
          </a:blip>
          <a:stretch>
            <a:fillRect/>
          </a:stretch>
        </p:blipFill>
        <p:spPr>
          <a:xfrm>
            <a:off x="9325474" y="4902006"/>
            <a:ext cx="1144567" cy="1138768"/>
          </a:xfrm>
          <a:prstGeom prst="rect">
            <a:avLst/>
          </a:prstGeom>
          <a:solidFill>
            <a:schemeClr val="tx1"/>
          </a:solidFill>
        </p:spPr>
      </p:pic>
    </p:spTree>
    <p:extLst>
      <p:ext uri="{BB962C8B-B14F-4D97-AF65-F5344CB8AC3E}">
        <p14:creationId xmlns:p14="http://schemas.microsoft.com/office/powerpoint/2010/main" val="581451492"/>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tx1"/>
        </a:solidFill>
        <a:effectLst/>
      </p:bgPr>
    </p:bg>
    <p:spTree>
      <p:nvGrpSpPr>
        <p:cNvPr id="1" name=""/>
        <p:cNvGrpSpPr/>
        <p:nvPr/>
      </p:nvGrpSpPr>
      <p:grpSpPr>
        <a:xfrm>
          <a:off x="0" y="0"/>
          <a:ext cx="0" cy="0"/>
          <a:chOff x="0" y="0"/>
          <a:chExt cx="0" cy="0"/>
        </a:xfrm>
      </p:grpSpPr>
      <p:pic>
        <p:nvPicPr>
          <p:cNvPr id="11" name="Picture 10"/>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4037323" y="1223085"/>
            <a:ext cx="8154677" cy="4635713"/>
          </a:xfrm>
          <a:prstGeom prst="rect">
            <a:avLst/>
          </a:prstGeom>
        </p:spPr>
      </p:pic>
      <p:sp>
        <p:nvSpPr>
          <p:cNvPr id="2" name="Title 1"/>
          <p:cNvSpPr>
            <a:spLocks noGrp="1"/>
          </p:cNvSpPr>
          <p:nvPr>
            <p:ph type="title"/>
          </p:nvPr>
        </p:nvSpPr>
        <p:spPr>
          <a:xfrm>
            <a:off x="810000" y="473692"/>
            <a:ext cx="10571998" cy="970450"/>
          </a:xfrm>
          <a:effectLst/>
        </p:spPr>
        <p:txBody>
          <a:bodyPr/>
          <a:lstStyle/>
          <a:p>
            <a:r>
              <a:rPr lang="en-GB" dirty="0" smtClean="0">
                <a:solidFill>
                  <a:schemeClr val="bg1"/>
                </a:solidFill>
              </a:rPr>
              <a:t>Contact</a:t>
            </a:r>
            <a:endParaRPr lang="en-GB" dirty="0">
              <a:solidFill>
                <a:schemeClr val="bg1"/>
              </a:solidFill>
            </a:endParaRPr>
          </a:p>
        </p:txBody>
      </p:sp>
      <p:sp>
        <p:nvSpPr>
          <p:cNvPr id="3" name="Content Placeholder 2"/>
          <p:cNvSpPr>
            <a:spLocks noGrp="1"/>
          </p:cNvSpPr>
          <p:nvPr>
            <p:ph idx="1"/>
          </p:nvPr>
        </p:nvSpPr>
        <p:spPr/>
        <p:txBody>
          <a:bodyPr>
            <a:normAutofit/>
          </a:bodyPr>
          <a:lstStyle/>
          <a:p>
            <a:pPr marL="0" indent="0">
              <a:buNone/>
            </a:pPr>
            <a:r>
              <a:rPr lang="pt-PT" sz="2400" dirty="0" smtClean="0">
                <a:solidFill>
                  <a:schemeClr val="bg1"/>
                </a:solidFill>
              </a:rPr>
              <a:t>Michaël MEMETEAU</a:t>
            </a:r>
          </a:p>
          <a:p>
            <a:pPr marL="0" indent="0">
              <a:buNone/>
            </a:pPr>
            <a:r>
              <a:rPr lang="en-US" sz="2400" dirty="0" err="1" smtClean="0">
                <a:solidFill>
                  <a:schemeClr val="bg1"/>
                </a:solidFill>
              </a:rPr>
              <a:t>michael@iotagas.com</a:t>
            </a:r>
            <a:endParaRPr lang="en-US" sz="2400" dirty="0">
              <a:solidFill>
                <a:schemeClr val="bg1"/>
              </a:solidFill>
            </a:endParaRPr>
          </a:p>
          <a:p>
            <a:pPr marL="0" indent="0">
              <a:buNone/>
            </a:pPr>
            <a:r>
              <a:rPr lang="en-US" sz="2400" dirty="0">
                <a:solidFill>
                  <a:schemeClr val="bg1"/>
                </a:solidFill>
              </a:rPr>
              <a:t>+351 91 225 87 </a:t>
            </a:r>
            <a:r>
              <a:rPr lang="en-US" sz="2400" dirty="0" smtClean="0">
                <a:solidFill>
                  <a:schemeClr val="bg1"/>
                </a:solidFill>
              </a:rPr>
              <a:t>14</a:t>
            </a:r>
            <a:endParaRPr lang="en-GB" sz="2400" dirty="0" smtClean="0">
              <a:solidFill>
                <a:schemeClr val="bg1"/>
              </a:solidFill>
            </a:endParaRPr>
          </a:p>
          <a:p>
            <a:pPr marL="0" indent="0">
              <a:buNone/>
            </a:pPr>
            <a:r>
              <a:rPr lang="en-GB" sz="2400" dirty="0" smtClean="0">
                <a:solidFill>
                  <a:schemeClr val="bg1"/>
                </a:solidFill>
              </a:rPr>
              <a:t>+351 21 887 04 87</a:t>
            </a:r>
            <a:endParaRPr lang="en-US" sz="2400" dirty="0">
              <a:solidFill>
                <a:schemeClr val="bg1"/>
              </a:solidFill>
            </a:endParaRPr>
          </a:p>
        </p:txBody>
      </p:sp>
    </p:spTree>
    <p:extLst>
      <p:ext uri="{BB962C8B-B14F-4D97-AF65-F5344CB8AC3E}">
        <p14:creationId xmlns:p14="http://schemas.microsoft.com/office/powerpoint/2010/main" val="878274216"/>
      </p:ext>
    </p:extLst>
  </p:cSld>
  <p:clrMapOvr>
    <a:masterClrMapping/>
  </p:clrMapOvr>
  <mc:AlternateContent xmlns:mc="http://schemas.openxmlformats.org/markup-compatibility/2006">
    <mc:Choice xmlns:p14="http://schemas.microsoft.com/office/powerpoint/2010/main" Requires="p14">
      <p:transition spd="slow" p14:dur="2000"/>
    </mc:Choice>
    <mc:Fallback>
      <p:transition spd="slow"/>
    </mc:Fallback>
  </mc:AlternateContent>
  <p:timing>
    <p:tnLst>
      <p:par>
        <p:cTn id="1" dur="indefinite" restart="never" nodeType="tmRoot"/>
      </p:par>
    </p:tnLst>
  </p:timing>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Quotable">
  <a:themeElements>
    <a:clrScheme name="Quotable">
      <a:dk1>
        <a:sysClr val="windowText" lastClr="000000"/>
      </a:dk1>
      <a:lt1>
        <a:sysClr val="window" lastClr="FFFFFF"/>
      </a:lt1>
      <a:dk2>
        <a:srgbClr val="212121"/>
      </a:dk2>
      <a:lt2>
        <a:srgbClr val="636363"/>
      </a:lt2>
      <a:accent1>
        <a:srgbClr val="00C6BB"/>
      </a:accent1>
      <a:accent2>
        <a:srgbClr val="6FEBA0"/>
      </a:accent2>
      <a:accent3>
        <a:srgbClr val="B6DF5E"/>
      </a:accent3>
      <a:accent4>
        <a:srgbClr val="EFB251"/>
      </a:accent4>
      <a:accent5>
        <a:srgbClr val="EF755F"/>
      </a:accent5>
      <a:accent6>
        <a:srgbClr val="ED515C"/>
      </a:accent6>
      <a:hlink>
        <a:srgbClr val="8F8F8F"/>
      </a:hlink>
      <a:folHlink>
        <a:srgbClr val="A5A5A5"/>
      </a:folHlink>
    </a:clrScheme>
    <a:fontScheme name="Century Gothic-Palatino Linotype">
      <a:majorFont>
        <a:latin typeface="Century Gothic" panose="020B0502020202020204"/>
        <a:ea typeface=""/>
        <a:cs typeface=""/>
        <a:font script="Jpan" typeface="HGｺﾞｼｯｸM"/>
        <a:font script="Hang" typeface="HY중고딕"/>
        <a:font script="Hans" typeface="幼圆"/>
        <a:font script="Hant" typeface="微軟正黑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Palatino Linotype" panose="02040502050505030304"/>
        <a:ea typeface=""/>
        <a:cs typeface=""/>
        <a:font script="Grek" typeface="Cambria"/>
        <a:font script="Cyrl" typeface="Cambria"/>
        <a:font script="Jpan" typeface="HG創英ﾌﾟﾚｾﾞﾝｽEB"/>
        <a:font script="Hang" typeface="맑은 고딕"/>
        <a:font script="Hans" typeface="宋体"/>
        <a:font script="Hant" typeface="新細明體"/>
        <a:font script="Arab" typeface="Times New Roman"/>
        <a:font script="Hebr" typeface="Aharoni"/>
        <a:font script="Thai" typeface="EucrosiaUPC"/>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Quotable">
      <a:fillStyleLst>
        <a:solidFill>
          <a:schemeClr val="phClr"/>
        </a:solidFill>
        <a:gradFill rotWithShape="1">
          <a:gsLst>
            <a:gs pos="0">
              <a:schemeClr val="phClr">
                <a:tint val="80000"/>
                <a:lumMod val="105000"/>
              </a:schemeClr>
            </a:gs>
            <a:gs pos="100000">
              <a:schemeClr val="phClr">
                <a:tint val="90000"/>
              </a:schemeClr>
            </a:gs>
          </a:gsLst>
          <a:lin ang="5400000" scaled="0"/>
        </a:gradFill>
        <a:blipFill rotWithShape="1">
          <a:blip xmlns:r="http://schemas.openxmlformats.org/officeDocument/2006/relationships" r:embed="rId1">
            <a:duotone>
              <a:schemeClr val="phClr">
                <a:tint val="98000"/>
                <a:lumMod val="102000"/>
              </a:schemeClr>
              <a:schemeClr val="phClr">
                <a:shade val="98000"/>
                <a:lumMod val="98000"/>
              </a:schemeClr>
            </a:duotone>
          </a:blip>
          <a:tile tx="0" ty="0" sx="100000" sy="100000" flip="none" algn="tl"/>
        </a:blipFill>
      </a:fillStyleLst>
      <a:lnStyleLst>
        <a:ln w="9525" cap="rnd" cmpd="sng" algn="ctr">
          <a:solidFill>
            <a:schemeClr val="phClr"/>
          </a:solidFill>
          <a:prstDash val="solid"/>
        </a:ln>
        <a:ln w="15875" cap="rnd" cmpd="sng" algn="ctr">
          <a:solidFill>
            <a:schemeClr val="phClr"/>
          </a:solidFill>
          <a:prstDash val="solid"/>
        </a:ln>
        <a:ln w="25400" cap="rnd" cmpd="sng" algn="ctr">
          <a:solidFill>
            <a:schemeClr val="phClr"/>
          </a:solidFill>
          <a:prstDash val="solid"/>
        </a:ln>
      </a:lnStyleLst>
      <a:effectStyleLst>
        <a:effectStyle>
          <a:effectLst/>
        </a:effectStyle>
        <a:effectStyle>
          <a:effectLst/>
        </a:effectStyle>
        <a:effectStyle>
          <a:effectLst>
            <a:innerShdw blurRad="63500" dist="25400" dir="13500000">
              <a:srgbClr val="000000">
                <a:alpha val="75000"/>
              </a:srgbClr>
            </a:innerShdw>
          </a:effectLst>
        </a:effectStyle>
      </a:effectStyleLst>
      <a:bgFillStyleLst>
        <a:solidFill>
          <a:schemeClr val="phClr"/>
        </a:solidFill>
        <a:gradFill rotWithShape="1">
          <a:gsLst>
            <a:gs pos="0">
              <a:schemeClr val="phClr">
                <a:tint val="100000"/>
              </a:schemeClr>
            </a:gs>
            <a:gs pos="100000">
              <a:schemeClr val="phClr">
                <a:tint val="84000"/>
                <a:shade val="84000"/>
                <a:lumMod val="90000"/>
              </a:schemeClr>
            </a:gs>
          </a:gsLst>
          <a:lin ang="5400000" scaled="0"/>
        </a:gradFill>
        <a:gradFill rotWithShape="1">
          <a:gsLst>
            <a:gs pos="0">
              <a:schemeClr val="phClr">
                <a:tint val="84000"/>
                <a:shade val="90000"/>
                <a:satMod val="120000"/>
                <a:lumMod val="90000"/>
              </a:schemeClr>
            </a:gs>
            <a:gs pos="100000">
              <a:schemeClr val="phClr"/>
            </a:gs>
          </a:gsLst>
          <a:lin ang="5400000" scaled="0"/>
        </a:gradFill>
      </a:bgFillStyleLst>
    </a:fmtScheme>
  </a:themeElements>
  <a:objectDefaults/>
  <a:extraClrSchemeLst/>
  <a:extLst>
    <a:ext uri="{05A4C25C-085E-4340-85A3-A5531E510DB2}">
      <thm15:themeFamily xmlns:thm15="http://schemas.microsoft.com/office/thememl/2012/main" name="Quotable" id="{39EC5628-30ED-4578-ACD8-9820EDB8E15A}" vid="{6F3559E9-1A4C-49D8-94D4-F41003531C49}"/>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Yu Gothic Light"/>
        <a:font script="Hang" typeface="맑은 고딕"/>
        <a:font script="Hans" typeface="DengXian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Yu Gothic"/>
        <a:font script="Hang" typeface="맑은 고딕"/>
        <a:font script="Hans" typeface="DengXian"/>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Quotable</Template>
  <TotalTime>19762</TotalTime>
  <Words>1109</Words>
  <Application>Microsoft Macintosh PowerPoint</Application>
  <PresentationFormat>Widescreen</PresentationFormat>
  <Paragraphs>215</Paragraphs>
  <Slides>16</Slides>
  <Notes>16</Notes>
  <HiddenSlides>0</HiddenSlides>
  <MMClips>0</MMClips>
  <ScaleCrop>false</ScaleCrop>
  <HeadingPairs>
    <vt:vector size="6" baseType="variant">
      <vt:variant>
        <vt:lpstr>Fonts Used</vt:lpstr>
      </vt:variant>
      <vt:variant>
        <vt:i4>10</vt:i4>
      </vt:variant>
      <vt:variant>
        <vt:lpstr>Theme</vt:lpstr>
      </vt:variant>
      <vt:variant>
        <vt:i4>1</vt:i4>
      </vt:variant>
      <vt:variant>
        <vt:lpstr>Slide Titles</vt:lpstr>
      </vt:variant>
      <vt:variant>
        <vt:i4>16</vt:i4>
      </vt:variant>
    </vt:vector>
  </HeadingPairs>
  <TitlesOfParts>
    <vt:vector size="27" baseType="lpstr">
      <vt:lpstr>Arial</vt:lpstr>
      <vt:lpstr>Calibri</vt:lpstr>
      <vt:lpstr>Comfortaa</vt:lpstr>
      <vt:lpstr>Comfortaa Thin</vt:lpstr>
      <vt:lpstr>Mangal</vt:lpstr>
      <vt:lpstr>Palatino Linotype</vt:lpstr>
      <vt:lpstr>Raleway</vt:lpstr>
      <vt:lpstr>Raleway</vt:lpstr>
      <vt:lpstr>Raleway Light</vt:lpstr>
      <vt:lpstr>Wingdings 2</vt:lpstr>
      <vt:lpstr>Quotable</vt:lpstr>
      <vt:lpstr>NESTO Gas Digitalization of the bottled LPG value chain</vt:lpstr>
      <vt:lpstr>Can you tell the difference?</vt:lpstr>
      <vt:lpstr>Neither does she… Cold shower syndrome</vt:lpstr>
      <vt:lpstr>LPG companies want you to think they are like this …</vt:lpstr>
      <vt:lpstr>But it’s actually more like this…</vt:lpstr>
      <vt:lpstr>Never run out of gas ever again…</vt:lpstr>
      <vt:lpstr>App for End-Consumers   </vt:lpstr>
      <vt:lpstr>Business model - B2B</vt:lpstr>
      <vt:lpstr>World – 266 B€</vt:lpstr>
      <vt:lpstr>Some Figures for Portugal</vt:lpstr>
      <vt:lpstr>PowerPoint Presentation</vt:lpstr>
      <vt:lpstr>Go to Market Strategy</vt:lpstr>
      <vt:lpstr>SCTN / Industry Partner</vt:lpstr>
      <vt:lpstr>Team</vt:lpstr>
      <vt:lpstr>Traction</vt:lpstr>
      <vt:lpstr>Contact</vt:lpstr>
    </vt:vector>
  </TitlesOfParts>
  <Manager/>
  <Company/>
  <LinksUpToDate>false</LinksUpToDate>
  <SharedDoc>false</SharedDoc>
  <HyperlinkBase/>
  <HyperlinksChanged>false</HyperlinksChanged>
  <AppVersion>15.0027</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Smart Connected Keg</dc:title>
  <dc:subject/>
  <dc:creator>Michaël Memeteau</dc:creator>
  <cp:keywords/>
  <dc:description/>
  <cp:lastModifiedBy>Microsoft Office User</cp:lastModifiedBy>
  <cp:revision>378</cp:revision>
  <cp:lastPrinted>2016-11-04T17:10:21Z</cp:lastPrinted>
  <dcterms:created xsi:type="dcterms:W3CDTF">2016-04-21T22:09:15Z</dcterms:created>
  <dcterms:modified xsi:type="dcterms:W3CDTF">2016-11-15T18:12:14Z</dcterms:modified>
  <cp:category/>
</cp:coreProperties>
</file>