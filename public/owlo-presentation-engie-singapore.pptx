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Constantia"/>
      <p:regular r:id="rId27"/>
      <p:bold r:id="rId28"/>
      <p:italic r:id="rId29"/>
      <p:boldItalic r:id="rId30"/>
    </p:embeddedFont>
    <p:embeddedFont>
      <p:font typeface="Anaheim"/>
      <p:regular r:id="rId31"/>
      <p:bold r:id="rId32"/>
    </p:embeddedFont>
    <p:embeddedFont>
      <p:font typeface="Comfortaa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06D9FE-7FA5-4402-856B-6751618B91EB}">
  <a:tblStyle styleId="{4406D9FE-7FA5-4402-856B-6751618B91EB}" styleName="Table_0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onstantia-bold.fntdata"/><Relationship Id="rId27" Type="http://schemas.openxmlformats.org/officeDocument/2006/relationships/font" Target="fonts/Constanti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nstanti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naheim-regular.fntdata"/><Relationship Id="rId30" Type="http://schemas.openxmlformats.org/officeDocument/2006/relationships/font" Target="fonts/Constantia-boldItalic.fntdata"/><Relationship Id="rId11" Type="http://schemas.openxmlformats.org/officeDocument/2006/relationships/slide" Target="slides/slide6.xml"/><Relationship Id="rId33" Type="http://schemas.openxmlformats.org/officeDocument/2006/relationships/font" Target="fonts/Comfortaa-regular.fntdata"/><Relationship Id="rId10" Type="http://schemas.openxmlformats.org/officeDocument/2006/relationships/slide" Target="slides/slide5.xml"/><Relationship Id="rId32" Type="http://schemas.openxmlformats.org/officeDocument/2006/relationships/font" Target="fonts/Anahei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Comfortaa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db6e56c30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db6e56c30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Logo with 1 liner</a:t>
            </a:r>
            <a:endParaRPr/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 another object to give sense of scale</a:t>
            </a:r>
            <a:endParaRPr/>
          </a:p>
        </p:txBody>
      </p:sp>
      <p:sp>
        <p:nvSpPr>
          <p:cNvPr id="87" name="Google Shape;87;gdb6e56c30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Worth 450 000 M€ per year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20M sold every year / 16M built in EU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50% of the thefts are usually reported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1 and 3 % recovery only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Netherland, Germany and France are TOP 3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25 000 e-Bikes stolen in the Netherlands amounts to 45 M€ in 2013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than half is reported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Worth 450 000 M€ per year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20M sold every year / 16M built in EU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50% of the thefts are usually reported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1 and 3 % recovery only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Netherland, Germany and France are TOP 3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25 000 e-Bikes stolen in the Netherlands amounts to 45 M€ in 2013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than half is reported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Worth 450 000 M€ per year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20M sold every year / 16M built in EU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50% of the thefts are usually reported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1 and 3 % recovery only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Netherland, Germany and France are TOP 3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25 000 e-Bikes stolen in the Netherlands amounts to 45 M€ in 2013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than half is reported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The Solution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Battery will be user replaceable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The Solution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Battery will be user replaceable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The Solution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Battery will be user replaceable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Harmonize shadows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Differentiation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Matrix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France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Specialized holds 43% of market size and 50% in value | Sport chains are holding 52 % | Internet is 15% and rising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Netherlands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More than 1 million sold in 2014 | 1 in 5 new bicycles sold is an e-bike. Avg price of a bike 828€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UK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2 manufacturers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Brompton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Pashley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Specialist retailers are 40% of sales by value | Largest is Halfords with 1/3 of retail sales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Germany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Avg. price for a bike is 528€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Denmark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75% have their bike stolen once | Avg. Price 676€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Italy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Trekking and city bike models (32%), followed by mountain bikes (31%), children's bikes (18%), racing (6%), classic road (9%) and electric (4%) bikes.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Euro invested in cycling infrastructures gives back 4 or 5 Euros to the community in less than a year's time. 1 meter of bike lane may cost from 20 to 400 Euros”.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France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Specialized holds 43% of market size and 50% in value | Sport chains are holding 52 % | Internet is 15% and rising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Netherlands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More than 1 million sold in 2014 | 1 in 5 new bicycles sold is an e-bike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UK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2 manufacturers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Brompton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Pashley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Specialist retailers are 40% of sales by value | Largest is Halfords with 1/3 of retail sales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Germany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Avg. price for a bike is 528€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Denmark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75% have their bike stolen once | Avg. Price 676€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Italy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Trekking and city bike models (32%), followed by mountain bikes (31%), children's bikes (18%), racing (6%), classic road (9%) and electric (4%) bikes.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Euro invested in cycling infrastructures gives back 4 or 5 Euros to the community in less than a year's time. 1 meter of bike lane may cost from 20 to 400 Euros”.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France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Specialized holds 43% of market size and 50% in value | Sport chains are holding 52 % | Internet is 15% and rising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Netherlands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More than 1 million sold in 2014 | 1 in 5 new bicycles sold is an e-bike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UK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2 manufacturers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Brompton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Pashley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Specialist retailers are 40% of sales by value | Largest is Halfords with 1/3 of retail sales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Germany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Avg. price for a bike is 528€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Denmark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75% have their bike stolen once | Avg. Price 676€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Italy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Trekking and city bike models (32%), followed by mountain bikes (31%), children's bikes (18%), racing (6%), classic road (9%) and electric (4%) bikes.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Euro invested in cycling infrastructures gives back 4 or 5 Euros to the community in less than a year's time. 1 meter of bike lane may cost from 20 to 400 Euros”.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Full economic viability study is under way…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61c268f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361c268f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361c268f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Timeline | Milestones | Traction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it a real timelime…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Publish recipe in IFTTT could be an interesting channel.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Speak with new bike shop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Targeted action towards Police force specialized in combat against bicycle related crime (London, Berlin, Paris, etc…)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Contact Info</a:t>
            </a:r>
            <a:endParaRPr/>
          </a:p>
        </p:txBody>
      </p:sp>
      <p:sp>
        <p:nvSpPr>
          <p:cNvPr id="298" name="Google Shape;29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db6e56c30b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db6e56c30b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The Solution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Battery will be user replaceable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db6e56c30b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nstantia"/>
              <a:buNone/>
              <a:defRPr b="0" i="0" sz="6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fortaa"/>
              <a:buNone/>
              <a:defRPr b="1" i="0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nstantia"/>
              <a:buNone/>
              <a:defRPr b="0" i="0" sz="6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  <a:defRPr b="0" i="0" sz="4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  <a:defRPr b="0" i="0" sz="4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  <a:defRPr b="0" i="0" sz="4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tantia"/>
              <a:buNone/>
              <a:defRPr b="0" i="0" sz="3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nstantia"/>
              <a:buNone/>
              <a:defRPr b="0" i="0" sz="3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  <a:defRPr b="0" i="0" sz="4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  <a:defRPr b="0" i="0" sz="4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tantia"/>
              <a:buNone/>
              <a:defRPr b="0" i="0" sz="4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4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10" Type="http://schemas.openxmlformats.org/officeDocument/2006/relationships/image" Target="../media/image11.png"/><Relationship Id="rId9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18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jpg"/><Relationship Id="rId4" Type="http://schemas.openxmlformats.org/officeDocument/2006/relationships/image" Target="../media/image21.png"/><Relationship Id="rId5" Type="http://schemas.openxmlformats.org/officeDocument/2006/relationships/image" Target="../media/image26.jpg"/><Relationship Id="rId6" Type="http://schemas.openxmlformats.org/officeDocument/2006/relationships/image" Target="../media/image2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Relationship Id="rId4" Type="http://schemas.openxmlformats.org/officeDocument/2006/relationships/image" Target="../media/image31.png"/><Relationship Id="rId10" Type="http://schemas.openxmlformats.org/officeDocument/2006/relationships/image" Target="../media/image37.png"/><Relationship Id="rId9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jpg"/><Relationship Id="rId4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mailto:mmu@nesto.io" TargetMode="External"/><Relationship Id="rId4" Type="http://schemas.openxmlformats.org/officeDocument/2006/relationships/image" Target="../media/image34.gif"/><Relationship Id="rId5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3512854" y="1"/>
            <a:ext cx="865909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694006" y="4916439"/>
            <a:ext cx="10803900" cy="13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Ultimate Cover</a:t>
            </a:r>
            <a:r>
              <a:rPr b="1" lang="en-US" sz="4400">
                <a:latin typeface="Comfortaa"/>
                <a:ea typeface="Comfortaa"/>
                <a:cs typeface="Comfortaa"/>
                <a:sym typeface="Comfortaa"/>
              </a:rPr>
              <a:t>t </a:t>
            </a: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Security for your Bicycle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Michaël Memeteau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 b="0" i="0" sz="28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006" y="559152"/>
            <a:ext cx="1663432" cy="2448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838200" y="800100"/>
            <a:ext cx="10515600" cy="5376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1 of 3 </a:t>
            </a:r>
            <a:r>
              <a:rPr b="1" i="0" lang="en-US" sz="3600" u="none" cap="none" strike="noStrike">
                <a:solidFill>
                  <a:srgbClr val="FF9933"/>
                </a:solidFill>
                <a:latin typeface="Comfortaa"/>
                <a:ea typeface="Comfortaa"/>
                <a:cs typeface="Comfortaa"/>
                <a:sym typeface="Comfortaa"/>
              </a:rPr>
              <a:t>cyclists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have already been victim of theft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1 bicycle stolen every </a:t>
            </a:r>
            <a:r>
              <a:rPr b="1" i="0" lang="en-US" sz="3600" u="none" cap="none" strike="noStrike">
                <a:solidFill>
                  <a:srgbClr val="FF9933"/>
                </a:solidFill>
                <a:latin typeface="Comfortaa"/>
                <a:ea typeface="Comfortaa"/>
                <a:cs typeface="Comfortaa"/>
                <a:sym typeface="Comfortaa"/>
              </a:rPr>
              <a:t>10 seconds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in EU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0" y="6581001"/>
            <a:ext cx="10439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Source: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European Bicycle Market – CONEBI (2015)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>
            <a:alpha val="84705"/>
          </a:schemeClr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 amt="58999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1524000" y="5793001"/>
            <a:ext cx="78867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Sources: </a:t>
            </a:r>
            <a:r>
              <a:rPr lang="en-US" sz="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Free Wheels: An Assessment of Bicycle Theft in Denmark (2013)</a:t>
            </a:r>
            <a:endParaRPr/>
          </a:p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864973" y="637310"/>
            <a:ext cx="9174377" cy="4852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Recovery rate </a:t>
            </a:r>
            <a:r>
              <a:rPr b="1" i="0" lang="en-US" sz="3600" u="none" cap="none" strike="noStrike">
                <a:solidFill>
                  <a:srgbClr val="C4E0B2"/>
                </a:solidFill>
                <a:latin typeface="Comfortaa"/>
                <a:ea typeface="Comfortaa"/>
                <a:cs typeface="Comfortaa"/>
                <a:sym typeface="Comfortaa"/>
              </a:rPr>
              <a:t>2% </a:t>
            </a:r>
            <a:r>
              <a:rPr b="1" i="0" lang="en-US" sz="36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only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4E0B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4E0B2"/>
                </a:solidFill>
                <a:latin typeface="Comfortaa"/>
                <a:ea typeface="Comfortaa"/>
                <a:cs typeface="Comfortaa"/>
                <a:sym typeface="Comfortaa"/>
              </a:rPr>
              <a:t>Low priority</a:t>
            </a:r>
            <a:r>
              <a:rPr b="1" i="0" lang="en-US" sz="36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for law enforcement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581001"/>
            <a:ext cx="78295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Source: </a:t>
            </a:r>
            <a:r>
              <a:rPr lang="en-US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Free Wheels: An Assessment of Bicycle Theft in Denmark (2013)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/>
          <p:cNvPicPr preferRelativeResize="0"/>
          <p:nvPr/>
        </p:nvPicPr>
        <p:blipFill rotWithShape="1">
          <a:blip r:embed="rId3">
            <a:alphaModFix amt="60000"/>
          </a:blip>
          <a:srcRect b="4194" l="0" r="197" t="-9182"/>
          <a:stretch/>
        </p:blipFill>
        <p:spPr>
          <a:xfrm>
            <a:off x="0" y="-1692000"/>
            <a:ext cx="12167999" cy="85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838200" y="1825625"/>
            <a:ext cx="10515600" cy="38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Existing solutions are </a:t>
            </a:r>
            <a:r>
              <a:rPr b="1" i="0" lang="en-US" sz="3600" u="none" cap="none" strike="noStrike">
                <a:solidFill>
                  <a:srgbClr val="E8D89C"/>
                </a:solidFill>
                <a:latin typeface="Comfortaa"/>
                <a:ea typeface="Comfortaa"/>
                <a:cs typeface="Comfortaa"/>
                <a:sym typeface="Comfortaa"/>
              </a:rPr>
              <a:t>not working…</a:t>
            </a:r>
            <a:endParaRPr b="1" i="0" sz="3600" u="none" cap="none" strike="noStrike">
              <a:solidFill>
                <a:srgbClr val="E8D89C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71E01"/>
              </a:buClr>
              <a:buSzPts val="4400"/>
              <a:buFont typeface="Comfortaa"/>
              <a:buNone/>
            </a:pPr>
            <a:r>
              <a:rPr b="1" i="0" lang="en-US" sz="4400" u="none" cap="none" strike="noStrike">
                <a:solidFill>
                  <a:srgbClr val="D71E01"/>
                </a:solidFill>
                <a:latin typeface="Comfortaa"/>
                <a:ea typeface="Comfortaa"/>
                <a:cs typeface="Comfortaa"/>
                <a:sym typeface="Comfortaa"/>
              </a:rPr>
              <a:t>Our</a:t>
            </a:r>
            <a:r>
              <a:rPr b="1" i="0" lang="en-US" sz="4400" u="none" cap="none" strike="noStrike">
                <a:solidFill>
                  <a:srgbClr val="F29832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proposal</a:t>
            </a:r>
            <a:endParaRPr b="1" i="0" sz="4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3411197" y="5181323"/>
            <a:ext cx="1114425" cy="52863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798402"/>
            <a:ext cx="4830474" cy="22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1676" y="1868628"/>
            <a:ext cx="4602124" cy="3312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838200" y="3931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71E01"/>
              </a:buClr>
              <a:buSzPts val="4400"/>
              <a:buFont typeface="Comfortaa"/>
              <a:buNone/>
            </a:pPr>
            <a:r>
              <a:rPr b="1" i="0" lang="en-US" sz="4400" u="none" cap="none" strike="noStrike">
                <a:solidFill>
                  <a:srgbClr val="D71E01"/>
                </a:solidFill>
                <a:latin typeface="Comfortaa"/>
                <a:ea typeface="Comfortaa"/>
                <a:cs typeface="Comfortaa"/>
                <a:sym typeface="Comfortaa"/>
              </a:rPr>
              <a:t>Our</a:t>
            </a:r>
            <a:r>
              <a:rPr b="1" i="0" lang="en-US" sz="4400" u="none" cap="none" strike="noStrike">
                <a:solidFill>
                  <a:srgbClr val="F29832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proposal</a:t>
            </a:r>
            <a:endParaRPr b="1" i="0" sz="4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3411197" y="5181323"/>
            <a:ext cx="1114425" cy="52863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324755"/>
            <a:ext cx="4830474" cy="22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920409" y="155252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Long</a:t>
            </a:r>
            <a:r>
              <a:rPr b="1" lang="en-US" sz="3600">
                <a:solidFill>
                  <a:srgbClr val="D71E01"/>
                </a:solidFill>
                <a:latin typeface="Comfortaa"/>
                <a:ea typeface="Comfortaa"/>
                <a:cs typeface="Comfortaa"/>
                <a:sym typeface="Comfortaa"/>
              </a:rPr>
              <a:t> range</a:t>
            </a:r>
            <a:endParaRPr b="1" sz="3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Large </a:t>
            </a:r>
            <a:r>
              <a:rPr b="1" lang="en-US" sz="3600">
                <a:solidFill>
                  <a:srgbClr val="D71E01"/>
                </a:solidFill>
                <a:latin typeface="Comfortaa"/>
                <a:ea typeface="Comfortaa"/>
                <a:cs typeface="Comfortaa"/>
                <a:sym typeface="Comfortaa"/>
              </a:rPr>
              <a:t>autonomy</a:t>
            </a:r>
            <a: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(+1 year)</a:t>
            </a:r>
            <a:endParaRPr sz="3600">
              <a:solidFill>
                <a:srgbClr val="D71E0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Totally </a:t>
            </a:r>
            <a:r>
              <a:rPr b="1" lang="en-US" sz="3600">
                <a:solidFill>
                  <a:srgbClr val="D71E01"/>
                </a:solidFill>
                <a:latin typeface="Comfortaa"/>
                <a:ea typeface="Comfortaa"/>
                <a:cs typeface="Comfortaa"/>
                <a:sym typeface="Comfortaa"/>
              </a:rPr>
              <a:t>invisible</a:t>
            </a:r>
            <a:endParaRPr sz="3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838200" y="3237713"/>
            <a:ext cx="4178643" cy="2957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838200" y="3931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71E01"/>
              </a:buClr>
              <a:buSzPts val="4400"/>
              <a:buFont typeface="Comfortaa"/>
              <a:buNone/>
            </a:pPr>
            <a:r>
              <a:rPr b="1" i="0" lang="en-US" sz="4400" u="none" cap="none" strike="noStrike">
                <a:solidFill>
                  <a:srgbClr val="D71E01"/>
                </a:solidFill>
                <a:latin typeface="Comfortaa"/>
                <a:ea typeface="Comfortaa"/>
                <a:cs typeface="Comfortaa"/>
                <a:sym typeface="Comfortaa"/>
              </a:rPr>
              <a:t>Our</a:t>
            </a:r>
            <a:r>
              <a:rPr b="1" i="0" lang="en-US" sz="4400" u="none" cap="none" strike="noStrike">
                <a:solidFill>
                  <a:srgbClr val="F29832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proposal</a:t>
            </a:r>
            <a:endParaRPr b="1" i="0" sz="4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3565427" y="5138651"/>
            <a:ext cx="1114425" cy="52863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920409" y="155252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Mobile </a:t>
            </a:r>
            <a:r>
              <a:rPr b="1" lang="en-US" sz="3600">
                <a:solidFill>
                  <a:srgbClr val="C00000"/>
                </a:solidFill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="1" lang="en-US" sz="3600">
                <a:solidFill>
                  <a:srgbClr val="C00000"/>
                </a:solidFill>
                <a:latin typeface="Comfortaa"/>
                <a:ea typeface="Comfortaa"/>
                <a:cs typeface="Comfortaa"/>
                <a:sym typeface="Comfortaa"/>
              </a:rPr>
              <a:t>pp</a:t>
            </a:r>
            <a:br>
              <a:rPr b="1" lang="en-US" sz="3600">
                <a:solidFill>
                  <a:srgbClr val="C00000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00000"/>
                </a:solidFill>
                <a:latin typeface="Comfortaa"/>
                <a:ea typeface="Comfortaa"/>
                <a:cs typeface="Comfortaa"/>
                <a:sym typeface="Comfortaa"/>
              </a:rPr>
              <a:t>BLE</a:t>
            </a:r>
            <a: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connection</a:t>
            </a:r>
            <a:b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Alarm &amp; Battery </a:t>
            </a:r>
            <a:r>
              <a:rPr b="1" lang="en-US" sz="3600">
                <a:solidFill>
                  <a:srgbClr val="C00000"/>
                </a:solidFill>
                <a:latin typeface="Comfortaa"/>
                <a:ea typeface="Comfortaa"/>
                <a:cs typeface="Comfortaa"/>
                <a:sym typeface="Comfortaa"/>
              </a:rPr>
              <a:t>S</a:t>
            </a:r>
            <a:r>
              <a:rPr b="1" lang="en-US" sz="3600">
                <a:solidFill>
                  <a:srgbClr val="C00000"/>
                </a:solidFill>
                <a:latin typeface="Comfortaa"/>
                <a:ea typeface="Comfortaa"/>
                <a:cs typeface="Comfortaa"/>
                <a:sym typeface="Comfortaa"/>
              </a:rPr>
              <a:t>tatus</a:t>
            </a:r>
            <a:endParaRPr sz="3600">
              <a:solidFill>
                <a:srgbClr val="C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3674" y="3388024"/>
            <a:ext cx="1440000" cy="256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3674" y="3388027"/>
            <a:ext cx="1440000" cy="256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23675" y="3388026"/>
            <a:ext cx="1440000" cy="25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675" y="3388026"/>
            <a:ext cx="1440000" cy="25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83676" y="828029"/>
            <a:ext cx="1440000" cy="25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03677" y="828029"/>
            <a:ext cx="1440000" cy="25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3676" y="828029"/>
            <a:ext cx="1440000" cy="25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23675" y="828029"/>
            <a:ext cx="1440000" cy="2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/>
        </p:nvSpPr>
        <p:spPr>
          <a:xfrm>
            <a:off x="1676401" y="6423969"/>
            <a:ext cx="79747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(*) Plus annual fee for communications</a:t>
            </a:r>
            <a:endParaRPr/>
          </a:p>
        </p:txBody>
      </p:sp>
      <p:graphicFrame>
        <p:nvGraphicFramePr>
          <p:cNvPr id="157" name="Google Shape;157;p20"/>
          <p:cNvGraphicFramePr/>
          <p:nvPr/>
        </p:nvGraphicFramePr>
        <p:xfrm>
          <a:off x="980659" y="11011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{4406D9FE-7FA5-4402-856B-6751618B91EB}</a:tableStyleId>
              </a:tblPr>
              <a:tblGrid>
                <a:gridCol w="2928725"/>
                <a:gridCol w="1590250"/>
                <a:gridCol w="1471000"/>
                <a:gridCol w="1471000"/>
                <a:gridCol w="1654875"/>
              </a:tblGrid>
              <a:tr h="146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rgbClr val="F2F2F2"/>
                    </a:solidFill>
                  </a:tcPr>
                </a:tc>
              </a:tr>
              <a:tr h="62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Price</a:t>
                      </a:r>
                      <a:endParaRPr b="1"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95</a:t>
                      </a: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 €*</a:t>
                      </a:r>
                      <a:endParaRPr b="1"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20 €</a:t>
                      </a:r>
                      <a:endParaRPr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175 €*</a:t>
                      </a:r>
                      <a:endParaRPr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250 €</a:t>
                      </a:r>
                      <a:endParaRPr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/>
                </a:tc>
              </a:tr>
              <a:tr h="62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Long range</a:t>
                      </a:r>
                      <a:endParaRPr b="1"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√</a:t>
                      </a:r>
                      <a:endParaRPr b="1"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√</a:t>
                      </a:r>
                      <a:endParaRPr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chemeClr val="lt1"/>
                    </a:solidFill>
                  </a:tcPr>
                </a:tc>
              </a:tr>
              <a:tr h="62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Autonomy</a:t>
                      </a:r>
                      <a:endParaRPr b="1"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√</a:t>
                      </a:r>
                      <a:endParaRPr b="1"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√</a:t>
                      </a:r>
                      <a:endParaRPr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√</a:t>
                      </a:r>
                      <a:endParaRPr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chemeClr val="lt1"/>
                    </a:solidFill>
                  </a:tcPr>
                </a:tc>
              </a:tr>
              <a:tr h="62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Prevention</a:t>
                      </a:r>
                      <a:endParaRPr b="1"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√</a:t>
                      </a:r>
                      <a:endParaRPr b="1"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√</a:t>
                      </a:r>
                      <a:endParaRPr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√</a:t>
                      </a:r>
                      <a:endParaRPr/>
                    </a:p>
                  </a:txBody>
                  <a:tcPr marT="34300" marB="34300" marR="68575" marL="68575" anchor="ctr"/>
                </a:tc>
              </a:tr>
              <a:tr h="62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Recovery</a:t>
                      </a:r>
                      <a:endParaRPr b="1"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fortaa"/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√</a:t>
                      </a:r>
                      <a:endParaRPr/>
                    </a:p>
                  </a:txBody>
                  <a:tcPr marT="34300" marB="34300" marR="68575" marL="685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fortaa"/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√</a:t>
                      </a:r>
                      <a:endParaRPr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fortaa"/>
                        <a:buNone/>
                      </a:pPr>
                      <a:r>
                        <a:rPr b="1" lang="en-US" sz="2800" u="none" cap="none" strike="noStrik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√</a:t>
                      </a:r>
                      <a:endParaRPr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800" u="none" cap="none" strike="noStrik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T="34300" marB="34300" marR="68575" marL="68575" anchor="ctr"/>
                </a:tc>
              </a:tr>
            </a:tbl>
          </a:graphicData>
        </a:graphic>
      </p:graphicFrame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855433" y="1232156"/>
            <a:ext cx="795722" cy="115428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pic>
      <p:pic>
        <p:nvPicPr>
          <p:cNvPr id="159" name="Google Shape;1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9546" y="1101179"/>
            <a:ext cx="1467556" cy="1467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6045" y="1101179"/>
            <a:ext cx="1467556" cy="1467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13698" y="1000649"/>
            <a:ext cx="1568086" cy="1568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1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0" y="-2255368"/>
            <a:ext cx="12192000" cy="1199213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1689100" y="6437539"/>
            <a:ext cx="60325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Sources: </a:t>
            </a:r>
            <a:r>
              <a:rPr lang="en-US" sz="12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Strava Global Heatmap (2016) &amp; European Bicycle Market – CONEBI (2015) </a:t>
            </a:r>
            <a:endParaRPr/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874643" y="774701"/>
            <a:ext cx="9164707" cy="540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C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C00"/>
                </a:solidFill>
                <a:latin typeface="Comfortaa"/>
                <a:ea typeface="Comfortaa"/>
                <a:cs typeface="Comfortaa"/>
                <a:sym typeface="Comfortaa"/>
              </a:rPr>
              <a:t>20 M</a:t>
            </a:r>
            <a:r>
              <a:rPr b="1" i="0" lang="en-US" sz="3600" u="none" cap="none" strike="noStrike">
                <a:solidFill>
                  <a:srgbClr val="FFD966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i="0" lang="en-US" sz="36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bicycle sold per year in EU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C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C00"/>
                </a:solidFill>
                <a:latin typeface="Comfortaa"/>
                <a:ea typeface="Comfortaa"/>
                <a:cs typeface="Comfortaa"/>
                <a:sym typeface="Comfortaa"/>
              </a:rPr>
              <a:t>15 % </a:t>
            </a:r>
            <a:r>
              <a:rPr b="1" i="0" lang="en-US" sz="36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are owner of bicycle </a:t>
            </a:r>
            <a:r>
              <a:rPr b="1" i="0" lang="en-US" sz="3600" u="none" cap="none" strike="noStrike">
                <a:solidFill>
                  <a:srgbClr val="FFFC00"/>
                </a:solidFill>
                <a:latin typeface="Comfortaa"/>
                <a:ea typeface="Comfortaa"/>
                <a:cs typeface="Comfortaa"/>
                <a:sym typeface="Comfortaa"/>
              </a:rPr>
              <a:t>&gt; 1000 €</a:t>
            </a:r>
            <a:endParaRPr b="1" i="0" sz="3600" u="none" cap="none" strike="noStrike">
              <a:solidFill>
                <a:srgbClr val="FFFC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2"/>
          <p:cNvPicPr preferRelativeResize="0"/>
          <p:nvPr/>
        </p:nvPicPr>
        <p:blipFill rotWithShape="1">
          <a:blip r:embed="rId3">
            <a:alphaModFix/>
          </a:blip>
          <a:srcRect b="0" l="0" r="0" t="27575"/>
          <a:stretch/>
        </p:blipFill>
        <p:spPr>
          <a:xfrm>
            <a:off x="0" y="-1"/>
            <a:ext cx="12196088" cy="803081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/>
        </p:nvSpPr>
        <p:spPr>
          <a:xfrm>
            <a:off x="7513192" y="518690"/>
            <a:ext cx="4790171" cy="8533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Commuter</a:t>
            </a:r>
            <a:endParaRPr b="1" sz="4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3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-13251" y="-331305"/>
            <a:ext cx="12225132" cy="81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/>
        </p:nvSpPr>
        <p:spPr>
          <a:xfrm>
            <a:off x="-68477" y="5988992"/>
            <a:ext cx="5359408" cy="5735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Week-end Warrior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omfortaa"/>
              <a:buNone/>
            </a:pPr>
            <a:r>
              <a:rPr b="1" i="0" lang="en-US" sz="4400" u="none" cap="none" strike="noStrike">
                <a:solidFill>
                  <a:srgbClr val="C00000"/>
                </a:solidFill>
                <a:latin typeface="Comfortaa"/>
                <a:ea typeface="Comfortaa"/>
                <a:cs typeface="Comfortaa"/>
                <a:sym typeface="Comfortaa"/>
              </a:rPr>
              <a:t>Revenue</a:t>
            </a: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Stream</a:t>
            </a:r>
            <a:endParaRPr b="1" i="0" sz="4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2637068" y="4376388"/>
            <a:ext cx="2234816" cy="1257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COGS    </a:t>
            </a:r>
            <a:r>
              <a:rPr b="1" i="0" lang="en-US" sz="2800" u="none" cap="none" strike="noStrike">
                <a:solidFill>
                  <a:srgbClr val="D71E01"/>
                </a:solidFill>
                <a:latin typeface="Comfortaa"/>
                <a:ea typeface="Comfortaa"/>
                <a:cs typeface="Comfortaa"/>
                <a:sym typeface="Comfortaa"/>
              </a:rPr>
              <a:t>25 €</a:t>
            </a:r>
            <a:endParaRPr b="1" i="0" sz="2800" u="none" cap="none" strike="noStrike">
              <a:solidFill>
                <a:srgbClr val="FFC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PVP 	   </a:t>
            </a:r>
            <a:r>
              <a:rPr b="1" lang="en-US">
                <a:solidFill>
                  <a:srgbClr val="D71E01"/>
                </a:solidFill>
                <a:latin typeface="Comfortaa"/>
                <a:ea typeface="Comfortaa"/>
                <a:cs typeface="Comfortaa"/>
                <a:sym typeface="Comfortaa"/>
              </a:rPr>
              <a:t>95</a:t>
            </a:r>
            <a:r>
              <a:rPr b="1" i="0" lang="en-US" sz="2800" u="none" cap="none" strike="noStrike">
                <a:solidFill>
                  <a:srgbClr val="D71E01"/>
                </a:solidFill>
                <a:latin typeface="Comfortaa"/>
                <a:ea typeface="Comfortaa"/>
                <a:cs typeface="Comfortaa"/>
                <a:sym typeface="Comfortaa"/>
              </a:rPr>
              <a:t> €</a:t>
            </a:r>
            <a:endParaRPr b="1" i="0" sz="28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1" name="Google Shape;1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2650" y="2614346"/>
            <a:ext cx="2586378" cy="118999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4"/>
          <p:cNvSpPr txBox="1"/>
          <p:nvPr/>
        </p:nvSpPr>
        <p:spPr>
          <a:xfrm>
            <a:off x="6587757" y="4348894"/>
            <a:ext cx="3466272" cy="128498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Subscription Fee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71E01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D71E01"/>
                </a:solidFill>
                <a:latin typeface="Comfortaa"/>
                <a:ea typeface="Comfortaa"/>
                <a:cs typeface="Comfortaa"/>
                <a:sym typeface="Comfortaa"/>
              </a:rPr>
              <a:t>12 € </a:t>
            </a:r>
            <a:r>
              <a:rPr b="1" lang="en-US" sz="2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/ year</a:t>
            </a:r>
            <a:endParaRPr/>
          </a:p>
        </p:txBody>
      </p:sp>
      <p:pic>
        <p:nvPicPr>
          <p:cNvPr id="193" name="Google Shape;19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0240" y="1690690"/>
            <a:ext cx="3021306" cy="217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omfortaa"/>
              <a:buNone/>
            </a:pPr>
            <a:r>
              <a:rPr b="1" i="0" lang="en-US" sz="4400" u="none" cap="none" strike="noStrike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Busine$$ </a:t>
            </a: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Model</a:t>
            </a:r>
            <a:endParaRPr b="1" i="0" sz="4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0" name="Google Shape;200;p25"/>
          <p:cNvSpPr txBox="1"/>
          <p:nvPr>
            <p:ph idx="1" type="body"/>
          </p:nvPr>
        </p:nvSpPr>
        <p:spPr>
          <a:xfrm>
            <a:off x="1828800" y="3192066"/>
            <a:ext cx="2564133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Online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Retail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lang="en-US" sz="360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Speciality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lang="en-US" sz="3600"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Big box</a:t>
            </a:r>
            <a:endParaRPr/>
          </a:p>
        </p:txBody>
      </p:sp>
      <p:sp>
        <p:nvSpPr>
          <p:cNvPr id="201" name="Google Shape;201;p25"/>
          <p:cNvSpPr txBox="1"/>
          <p:nvPr/>
        </p:nvSpPr>
        <p:spPr>
          <a:xfrm>
            <a:off x="2165575" y="2027104"/>
            <a:ext cx="2227359" cy="8170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B2</a:t>
            </a:r>
            <a:r>
              <a:rPr b="1" lang="en-US" sz="440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C</a:t>
            </a:r>
            <a:endParaRPr/>
          </a:p>
        </p:txBody>
      </p:sp>
      <p:sp>
        <p:nvSpPr>
          <p:cNvPr id="202" name="Google Shape;202;p25"/>
          <p:cNvSpPr txBox="1"/>
          <p:nvPr/>
        </p:nvSpPr>
        <p:spPr>
          <a:xfrm>
            <a:off x="7563821" y="2027103"/>
            <a:ext cx="2227359" cy="8170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B2</a:t>
            </a:r>
            <a:r>
              <a:rPr b="1" lang="en-US" sz="440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B</a:t>
            </a:r>
            <a:endParaRPr b="1" sz="4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7563820" y="3180582"/>
            <a:ext cx="378998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 strike="sng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Insurance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Tour Operator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Bike Sharing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OEM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Licensing</a:t>
            </a:r>
            <a:endParaRPr/>
          </a:p>
        </p:txBody>
      </p:sp>
      <p:pic>
        <p:nvPicPr>
          <p:cNvPr id="204" name="Google Shape;2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5599" y="2291509"/>
            <a:ext cx="1545557" cy="2274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omfortaa"/>
              <a:buNone/>
            </a:pPr>
            <a:r>
              <a:rPr lang="en-US">
                <a:solidFill>
                  <a:srgbClr val="C00000"/>
                </a:solidFill>
              </a:rPr>
              <a:t>Prototype</a:t>
            </a:r>
            <a:endParaRPr b="1" i="0" sz="4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215" y="2080329"/>
            <a:ext cx="6302826" cy="232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4401" y="886300"/>
            <a:ext cx="3400807" cy="4862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944" y="4319517"/>
            <a:ext cx="1503410" cy="125476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omfortaa"/>
              <a:buNone/>
            </a:pPr>
            <a:r>
              <a:rPr b="1" i="0" lang="en-US" sz="4400" u="none" cap="none" strike="noStrike">
                <a:solidFill>
                  <a:srgbClr val="2E75B5"/>
                </a:solidFill>
                <a:latin typeface="Comfortaa"/>
                <a:ea typeface="Comfortaa"/>
                <a:cs typeface="Comfortaa"/>
                <a:sym typeface="Comfortaa"/>
              </a:rPr>
              <a:t>Timeline</a:t>
            </a:r>
            <a:endParaRPr b="1" i="0" sz="4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220" name="Google Shape;220;p27"/>
          <p:cNvCxnSpPr/>
          <p:nvPr/>
        </p:nvCxnSpPr>
        <p:spPr>
          <a:xfrm flipH="1" rot="10800000">
            <a:off x="2152650" y="3848101"/>
            <a:ext cx="7886700" cy="1012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27"/>
          <p:cNvSpPr/>
          <p:nvPr/>
        </p:nvSpPr>
        <p:spPr>
          <a:xfrm>
            <a:off x="2671649" y="378622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 rot="-2700000">
            <a:off x="5500647" y="2505912"/>
            <a:ext cx="24251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Finalist in </a:t>
            </a:r>
            <a:r>
              <a:rPr b="1" lang="en-US" sz="1600">
                <a:solidFill>
                  <a:srgbClr val="32BFF0"/>
                </a:solidFill>
                <a:latin typeface="Comfortaa"/>
                <a:ea typeface="Comfortaa"/>
                <a:cs typeface="Comfortaa"/>
                <a:sym typeface="Comfortaa"/>
              </a:rPr>
              <a:t>Singapore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OpenInnov ENGIE</a:t>
            </a:r>
            <a:endParaRPr b="1"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5561929" y="3992872"/>
            <a:ext cx="9473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July</a:t>
            </a:r>
            <a:endParaRPr/>
          </a:p>
        </p:txBody>
      </p:sp>
      <p:sp>
        <p:nvSpPr>
          <p:cNvPr id="224" name="Google Shape;224;p27"/>
          <p:cNvSpPr txBox="1"/>
          <p:nvPr/>
        </p:nvSpPr>
        <p:spPr>
          <a:xfrm rot="-2700000">
            <a:off x="7339217" y="2640050"/>
            <a:ext cx="25799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Pre-série / </a:t>
            </a:r>
            <a:r>
              <a:rPr b="1" lang="en-US" sz="1600">
                <a:solidFill>
                  <a:srgbClr val="32BFF0"/>
                </a:solidFill>
                <a:latin typeface="Comfortaa"/>
                <a:ea typeface="Comfortaa"/>
                <a:cs typeface="Comfortaa"/>
                <a:sym typeface="Comfortaa"/>
              </a:rPr>
              <a:t>Validation</a:t>
            </a:r>
            <a:endParaRPr/>
          </a:p>
        </p:txBody>
      </p:sp>
      <p:sp>
        <p:nvSpPr>
          <p:cNvPr id="225" name="Google Shape;225;p27"/>
          <p:cNvSpPr txBox="1"/>
          <p:nvPr/>
        </p:nvSpPr>
        <p:spPr>
          <a:xfrm>
            <a:off x="7332794" y="3992872"/>
            <a:ext cx="9473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Aug</a:t>
            </a:r>
            <a:endParaRPr/>
          </a:p>
        </p:txBody>
      </p:sp>
      <p:sp>
        <p:nvSpPr>
          <p:cNvPr id="226" name="Google Shape;226;p27"/>
          <p:cNvSpPr txBox="1"/>
          <p:nvPr/>
        </p:nvSpPr>
        <p:spPr>
          <a:xfrm rot="-2700000">
            <a:off x="9041001" y="2755296"/>
            <a:ext cx="16521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Production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r>
              <a:rPr b="1" baseline="30000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st</a:t>
            </a: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Batch of </a:t>
            </a:r>
            <a:r>
              <a:rPr b="1" lang="en-US" sz="1600">
                <a:solidFill>
                  <a:srgbClr val="32BFF0"/>
                </a:solidFill>
                <a:latin typeface="Comfortaa"/>
                <a:ea typeface="Comfortaa"/>
                <a:cs typeface="Comfortaa"/>
                <a:sym typeface="Comfortaa"/>
              </a:rPr>
              <a:t>500</a:t>
            </a:r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9024171" y="3992872"/>
            <a:ext cx="9473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Dec</a:t>
            </a:r>
            <a:endParaRPr/>
          </a:p>
        </p:txBody>
      </p:sp>
      <p:pic>
        <p:nvPicPr>
          <p:cNvPr id="228" name="Google Shape;22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6146" y="4673395"/>
            <a:ext cx="1402819" cy="59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0980" y="5592608"/>
            <a:ext cx="1491717" cy="42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/>
          <p:nvPr/>
        </p:nvSpPr>
        <p:spPr>
          <a:xfrm rot="-2700000">
            <a:off x="3911702" y="2645269"/>
            <a:ext cx="19768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Participation 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2BFF0"/>
                </a:solidFill>
                <a:latin typeface="Comfortaa"/>
                <a:ea typeface="Comfortaa"/>
                <a:cs typeface="Comfortaa"/>
                <a:sym typeface="Comfortaa"/>
              </a:rPr>
              <a:t>Portugal</a:t>
            </a: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Bike Value</a:t>
            </a:r>
            <a:endParaRPr/>
          </a:p>
        </p:txBody>
      </p:sp>
      <p:sp>
        <p:nvSpPr>
          <p:cNvPr id="231" name="Google Shape;231;p27"/>
          <p:cNvSpPr txBox="1"/>
          <p:nvPr/>
        </p:nvSpPr>
        <p:spPr>
          <a:xfrm rot="-2700000">
            <a:off x="2352151" y="2854506"/>
            <a:ext cx="19659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2BFF0"/>
                </a:solidFill>
                <a:latin typeface="Comfortaa"/>
                <a:ea typeface="Comfortaa"/>
                <a:cs typeface="Comfortaa"/>
                <a:sym typeface="Comfortaa"/>
              </a:rPr>
              <a:t>Patent</a:t>
            </a: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Filed (PPP)</a:t>
            </a:r>
            <a:endParaRPr/>
          </a:p>
        </p:txBody>
      </p:sp>
      <p:sp>
        <p:nvSpPr>
          <p:cNvPr id="232" name="Google Shape;232;p27"/>
          <p:cNvSpPr txBox="1"/>
          <p:nvPr/>
        </p:nvSpPr>
        <p:spPr>
          <a:xfrm>
            <a:off x="3915950" y="3992872"/>
            <a:ext cx="9473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July</a:t>
            </a:r>
            <a:endParaRPr/>
          </a:p>
        </p:txBody>
      </p:sp>
      <p:sp>
        <p:nvSpPr>
          <p:cNvPr id="233" name="Google Shape;233;p27"/>
          <p:cNvSpPr txBox="1"/>
          <p:nvPr/>
        </p:nvSpPr>
        <p:spPr>
          <a:xfrm>
            <a:off x="2269971" y="3992872"/>
            <a:ext cx="9473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June</a:t>
            </a:r>
            <a:endParaRPr/>
          </a:p>
        </p:txBody>
      </p:sp>
      <p:sp>
        <p:nvSpPr>
          <p:cNvPr id="234" name="Google Shape;234;p27"/>
          <p:cNvSpPr/>
          <p:nvPr/>
        </p:nvSpPr>
        <p:spPr>
          <a:xfrm>
            <a:off x="4314838" y="378622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5983815" y="3790292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7768761" y="3783582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9423063" y="3776100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38" name="Google Shape;23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6150" y="4500191"/>
            <a:ext cx="1537827" cy="946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94820" y="5780076"/>
            <a:ext cx="2329350" cy="456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>
            <a:alpha val="80000"/>
          </a:schemeClr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mfortaa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Marketing Effort</a:t>
            </a:r>
            <a:endParaRPr b="1" i="0" sz="4400" u="none" cap="none" strike="noStrik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246" name="Google Shape;246;p28"/>
          <p:cNvGrpSpPr/>
          <p:nvPr/>
        </p:nvGrpSpPr>
        <p:grpSpPr>
          <a:xfrm>
            <a:off x="2154469" y="1562253"/>
            <a:ext cx="7808350" cy="4735895"/>
            <a:chOff x="1818" y="0"/>
            <a:chExt cx="7808350" cy="4735895"/>
          </a:xfrm>
        </p:grpSpPr>
        <p:sp>
          <p:nvSpPr>
            <p:cNvPr id="247" name="Google Shape;247;p28"/>
            <p:cNvSpPr/>
            <p:nvPr/>
          </p:nvSpPr>
          <p:spPr>
            <a:xfrm>
              <a:off x="1818" y="0"/>
              <a:ext cx="1906018" cy="4735895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8"/>
            <p:cNvSpPr txBox="1"/>
            <p:nvPr/>
          </p:nvSpPr>
          <p:spPr>
            <a:xfrm>
              <a:off x="1818" y="1894358"/>
              <a:ext cx="1906018" cy="1894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9350" lIns="149350" spcFirstLastPara="1" rIns="149350" wrap="square" tIns="14935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chemeClr val="lt1"/>
                  </a:solidFill>
                  <a:latin typeface="Comfortaa"/>
                  <a:ea typeface="Comfortaa"/>
                  <a:cs typeface="Comfortaa"/>
                  <a:sym typeface="Comfortaa"/>
                </a:rPr>
                <a:t>Presence</a:t>
              </a:r>
              <a:r>
                <a:rPr b="0" lang="en-US" sz="2100">
                  <a:solidFill>
                    <a:schemeClr val="lt1"/>
                  </a:solidFill>
                  <a:latin typeface="Comfortaa"/>
                  <a:ea typeface="Comfortaa"/>
                  <a:cs typeface="Comfortaa"/>
                  <a:sym typeface="Comfortaa"/>
                </a:rPr>
                <a:t> in Sport Events</a:t>
              </a:r>
              <a:endParaRPr b="0" sz="2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249" name="Google Shape;249;p28"/>
            <p:cNvSpPr/>
            <p:nvPr/>
          </p:nvSpPr>
          <p:spPr>
            <a:xfrm>
              <a:off x="166301" y="416436"/>
              <a:ext cx="1577053" cy="1577053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b="0" l="-16997" r="-16998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8"/>
            <p:cNvSpPr/>
            <p:nvPr/>
          </p:nvSpPr>
          <p:spPr>
            <a:xfrm>
              <a:off x="1965017" y="0"/>
              <a:ext cx="1906018" cy="4735895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8"/>
            <p:cNvSpPr txBox="1"/>
            <p:nvPr/>
          </p:nvSpPr>
          <p:spPr>
            <a:xfrm>
              <a:off x="1965017" y="1894358"/>
              <a:ext cx="1906018" cy="1894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9350" lIns="149350" spcFirstLastPara="1" rIns="149350" wrap="square" tIns="14935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chemeClr val="lt1"/>
                  </a:solidFill>
                  <a:latin typeface="Comfortaa"/>
                  <a:ea typeface="Comfortaa"/>
                  <a:cs typeface="Comfortaa"/>
                  <a:sym typeface="Comfortaa"/>
                </a:rPr>
                <a:t>Indiegogo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chemeClr val="lt1"/>
                  </a:solidFill>
                  <a:latin typeface="Comfortaa"/>
                  <a:ea typeface="Comfortaa"/>
                  <a:cs typeface="Comfortaa"/>
                  <a:sym typeface="Comfortaa"/>
                </a:rPr>
                <a:t>Campaign</a:t>
              </a:r>
              <a:endParaRPr/>
            </a:p>
          </p:txBody>
        </p:sp>
        <p:sp>
          <p:nvSpPr>
            <p:cNvPr id="252" name="Google Shape;252;p28"/>
            <p:cNvSpPr/>
            <p:nvPr/>
          </p:nvSpPr>
          <p:spPr>
            <a:xfrm>
              <a:off x="2129500" y="416436"/>
              <a:ext cx="1577053" cy="1577053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8"/>
            <p:cNvSpPr/>
            <p:nvPr/>
          </p:nvSpPr>
          <p:spPr>
            <a:xfrm>
              <a:off x="3928216" y="0"/>
              <a:ext cx="1906018" cy="4735895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8"/>
            <p:cNvSpPr txBox="1"/>
            <p:nvPr/>
          </p:nvSpPr>
          <p:spPr>
            <a:xfrm>
              <a:off x="3928216" y="1894358"/>
              <a:ext cx="1906018" cy="1894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9350" lIns="149350" spcFirstLastPara="1" rIns="149350" wrap="square" tIns="14935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chemeClr val="lt1"/>
                  </a:solidFill>
                  <a:latin typeface="Comfortaa"/>
                  <a:ea typeface="Comfortaa"/>
                  <a:cs typeface="Comfortaa"/>
                  <a:sym typeface="Comfortaa"/>
                </a:rPr>
                <a:t>International</a:t>
              </a:r>
              <a:r>
                <a:rPr lang="en-US" sz="2100">
                  <a:solidFill>
                    <a:schemeClr val="lt1"/>
                  </a:solidFill>
                  <a:latin typeface="Comfortaa"/>
                  <a:ea typeface="Comfortaa"/>
                  <a:cs typeface="Comfortaa"/>
                  <a:sym typeface="Comfortaa"/>
                </a:rPr>
                <a:t> Cycling Fairs</a:t>
              </a:r>
              <a:endParaRPr sz="2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255" name="Google Shape;255;p28"/>
            <p:cNvSpPr/>
            <p:nvPr/>
          </p:nvSpPr>
          <p:spPr>
            <a:xfrm>
              <a:off x="4092699" y="416436"/>
              <a:ext cx="1577053" cy="1577053"/>
            </a:xfrm>
            <a:prstGeom prst="ellipse">
              <a:avLst/>
            </a:prstGeom>
            <a:blipFill rotWithShape="1">
              <a:blip r:embed="rId5">
                <a:alphaModFix/>
              </a:blip>
              <a:stretch>
                <a:fillRect b="0" l="-24998" r="-24998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8"/>
            <p:cNvSpPr/>
            <p:nvPr/>
          </p:nvSpPr>
          <p:spPr>
            <a:xfrm>
              <a:off x="5891415" y="0"/>
              <a:ext cx="1906018" cy="4735895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8"/>
            <p:cNvSpPr txBox="1"/>
            <p:nvPr/>
          </p:nvSpPr>
          <p:spPr>
            <a:xfrm>
              <a:off x="5891415" y="1894358"/>
              <a:ext cx="1906018" cy="1894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9350" lIns="149350" spcFirstLastPara="1" rIns="149350" wrap="square" tIns="14935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chemeClr val="lt1"/>
                  </a:solidFill>
                  <a:latin typeface="Comfortaa"/>
                  <a:ea typeface="Comfortaa"/>
                  <a:cs typeface="Comfortaa"/>
                  <a:sym typeface="Comfortaa"/>
                </a:rPr>
                <a:t>Specialized</a:t>
              </a:r>
              <a:r>
                <a:rPr lang="en-US" sz="2100">
                  <a:solidFill>
                    <a:schemeClr val="lt1"/>
                  </a:solidFill>
                  <a:latin typeface="Comfortaa"/>
                  <a:ea typeface="Comfortaa"/>
                  <a:cs typeface="Comfortaa"/>
                  <a:sym typeface="Comfortaa"/>
                </a:rPr>
                <a:t> Press</a:t>
              </a:r>
              <a:endParaRPr sz="2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 rot="900000">
              <a:off x="6055898" y="350248"/>
              <a:ext cx="1577053" cy="1577053"/>
            </a:xfrm>
            <a:prstGeom prst="ellipse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311970" y="3788716"/>
              <a:ext cx="7175312" cy="710384"/>
            </a:xfrm>
            <a:prstGeom prst="leftRightArrow">
              <a:avLst>
                <a:gd fmla="val 50000" name="adj1"/>
                <a:gd fmla="val 50000" name="adj2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omfortaa"/>
              <a:buNone/>
            </a:pPr>
            <a:r>
              <a:rPr b="1" i="0" lang="en-US" sz="4400" u="none" cap="none" strike="noStrike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Others</a:t>
            </a: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Markets</a:t>
            </a:r>
            <a:endParaRPr b="1" i="0" sz="4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6" name="Google Shape;266;p29"/>
          <p:cNvSpPr txBox="1"/>
          <p:nvPr>
            <p:ph idx="1" type="body"/>
          </p:nvPr>
        </p:nvSpPr>
        <p:spPr>
          <a:xfrm>
            <a:off x="1210977" y="3192075"/>
            <a:ext cx="4339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Scooters &amp; Motorcycle</a:t>
            </a:r>
            <a:endParaRPr sz="30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Children</a:t>
            </a:r>
            <a:endParaRPr sz="30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Pets</a:t>
            </a:r>
            <a:endParaRPr sz="30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Sport Equipment</a:t>
            </a:r>
            <a:endParaRPr sz="3000"/>
          </a:p>
        </p:txBody>
      </p:sp>
      <p:sp>
        <p:nvSpPr>
          <p:cNvPr id="267" name="Google Shape;267;p29"/>
          <p:cNvSpPr txBox="1"/>
          <p:nvPr/>
        </p:nvSpPr>
        <p:spPr>
          <a:xfrm>
            <a:off x="2165575" y="2027104"/>
            <a:ext cx="2227359" cy="8170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B2</a:t>
            </a:r>
            <a:r>
              <a:rPr b="1" lang="en-US" sz="440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C</a:t>
            </a:r>
            <a:endParaRPr/>
          </a:p>
        </p:txBody>
      </p:sp>
      <p:sp>
        <p:nvSpPr>
          <p:cNvPr id="268" name="Google Shape;268;p29"/>
          <p:cNvSpPr txBox="1"/>
          <p:nvPr/>
        </p:nvSpPr>
        <p:spPr>
          <a:xfrm>
            <a:off x="7563821" y="2027103"/>
            <a:ext cx="2227359" cy="8170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B2</a:t>
            </a:r>
            <a:r>
              <a:rPr b="1" lang="en-US" sz="4400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B</a:t>
            </a:r>
            <a:endParaRPr b="1" sz="4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9" name="Google Shape;269;p29"/>
          <p:cNvSpPr txBox="1"/>
          <p:nvPr/>
        </p:nvSpPr>
        <p:spPr>
          <a:xfrm>
            <a:off x="7265773" y="3180582"/>
            <a:ext cx="4744995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Tobacco vending machine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Fridge / Second Placement</a:t>
            </a:r>
            <a:endParaRPr sz="3000"/>
          </a:p>
        </p:txBody>
      </p:sp>
      <p:pic>
        <p:nvPicPr>
          <p:cNvPr id="270" name="Google Shape;270;p29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7676594" y="365126"/>
            <a:ext cx="7971183" cy="11733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forta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Next on the list...</a:t>
            </a:r>
            <a:endParaRPr b="1" i="0" sz="4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76" name="Google Shape;276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79506"/>
            <a:ext cx="1548740" cy="198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6507" y="1821026"/>
            <a:ext cx="1749493" cy="5134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30"/>
          <p:cNvGrpSpPr/>
          <p:nvPr/>
        </p:nvGrpSpPr>
        <p:grpSpPr>
          <a:xfrm>
            <a:off x="1620795" y="2906446"/>
            <a:ext cx="1565192" cy="475311"/>
            <a:chOff x="9063224" y="4037610"/>
            <a:chExt cx="2070100" cy="628640"/>
          </a:xfrm>
        </p:grpSpPr>
        <p:sp>
          <p:nvSpPr>
            <p:cNvPr id="279" name="Google Shape;279;p30"/>
            <p:cNvSpPr/>
            <p:nvPr/>
          </p:nvSpPr>
          <p:spPr>
            <a:xfrm>
              <a:off x="9063224" y="4037610"/>
              <a:ext cx="2070100" cy="62864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pic>
          <p:nvPicPr>
            <p:cNvPr id="280" name="Google Shape;280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58474" y="4136030"/>
              <a:ext cx="1879600" cy="431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1" name="Google Shape;28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07193" y="5485570"/>
            <a:ext cx="26289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5488" y="4377441"/>
            <a:ext cx="1841211" cy="65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15247" y="4260637"/>
            <a:ext cx="2206006" cy="673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01099" y="2657864"/>
            <a:ext cx="1168400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25143" y="2906446"/>
            <a:ext cx="2336800" cy="5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forta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 little </a:t>
            </a:r>
            <a:r>
              <a:rPr b="1" i="0" lang="en-US" sz="4400" u="none" cap="none" strike="noStrike">
                <a:solidFill>
                  <a:srgbClr val="92D050"/>
                </a:solidFill>
                <a:latin typeface="Comfortaa"/>
                <a:ea typeface="Comfortaa"/>
                <a:cs typeface="Comfortaa"/>
                <a:sym typeface="Comfortaa"/>
              </a:rPr>
              <a:t>help</a:t>
            </a: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can’t hurt…</a:t>
            </a:r>
            <a:endParaRPr b="1" i="0" sz="4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92" name="Google Shape;292;p31"/>
          <p:cNvSpPr txBox="1"/>
          <p:nvPr>
            <p:ph idx="1" type="body"/>
          </p:nvPr>
        </p:nvSpPr>
        <p:spPr>
          <a:xfrm>
            <a:off x="838199" y="1825625"/>
            <a:ext cx="675200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Since we’re using an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owl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-US">
                <a:latin typeface="Comfortaa"/>
                <a:ea typeface="Comfortaa"/>
                <a:cs typeface="Comfortaa"/>
                <a:sym typeface="Comfortaa"/>
              </a:rPr>
              <a:t>as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logo,</a:t>
            </a:r>
            <a:br>
              <a:rPr lang="en-US">
                <a:latin typeface="Comfortaa"/>
                <a:ea typeface="Comfortaa"/>
                <a:cs typeface="Comfortaa"/>
                <a:sym typeface="Comfortaa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we needed a way to return the favor…</a:t>
            </a:r>
            <a:endParaRPr/>
          </a:p>
        </p:txBody>
      </p:sp>
      <p:pic>
        <p:nvPicPr>
          <p:cNvPr id="293" name="Google Shape;29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0203" y="522515"/>
            <a:ext cx="4240837" cy="5654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1384" y="2803286"/>
            <a:ext cx="2530435" cy="3373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forta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Contact Info</a:t>
            </a:r>
            <a:endParaRPr b="1" i="0" sz="4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01" name="Google Shape;301;p32"/>
          <p:cNvSpPr txBox="1"/>
          <p:nvPr>
            <p:ph idx="1" type="body"/>
          </p:nvPr>
        </p:nvSpPr>
        <p:spPr>
          <a:xfrm>
            <a:off x="3392556" y="2729947"/>
            <a:ext cx="7961243" cy="3447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Michaël MEMETEAU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b="0" i="0" lang="en-US" sz="2800" u="sng" cap="none" strike="noStrike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mmu@nesto.io</a:t>
            </a:r>
            <a:endParaRPr b="0" i="0" sz="28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+351 91 225 87 14</a:t>
            </a:r>
            <a:endParaRPr/>
          </a:p>
        </p:txBody>
      </p:sp>
      <p:grpSp>
        <p:nvGrpSpPr>
          <p:cNvPr id="302" name="Google Shape;302;p32"/>
          <p:cNvGrpSpPr/>
          <p:nvPr/>
        </p:nvGrpSpPr>
        <p:grpSpPr>
          <a:xfrm>
            <a:off x="10045148" y="0"/>
            <a:ext cx="1942737" cy="2770030"/>
            <a:chOff x="6024475" y="-151456"/>
            <a:chExt cx="2773218" cy="3954162"/>
          </a:xfrm>
        </p:grpSpPr>
        <p:pic>
          <p:nvPicPr>
            <p:cNvPr id="303" name="Google Shape;303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24475" y="0"/>
              <a:ext cx="2773218" cy="35093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98976" y="-151456"/>
              <a:ext cx="2224216" cy="39541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71E01"/>
              </a:buClr>
              <a:buSzPts val="4400"/>
              <a:buFont typeface="Comfortaa"/>
              <a:buNone/>
            </a:pPr>
            <a:r>
              <a:rPr b="1" i="0" lang="en-US" sz="4400" u="none" cap="none" strike="noStrike">
                <a:solidFill>
                  <a:srgbClr val="D71E01"/>
                </a:solidFill>
                <a:latin typeface="Comfortaa"/>
                <a:ea typeface="Comfortaa"/>
                <a:cs typeface="Comfortaa"/>
                <a:sym typeface="Comfortaa"/>
              </a:rPr>
              <a:t>Our</a:t>
            </a:r>
            <a:r>
              <a:rPr b="1" i="0" lang="en-US" sz="4400" u="none" cap="none" strike="noStrike">
                <a:solidFill>
                  <a:srgbClr val="F29832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i="0" lang="en-US" sz="4400" u="none" cap="none" strike="noStrik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proposal</a:t>
            </a:r>
            <a:endParaRPr b="1" i="0" sz="4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11" name="Google Shape;311;p33"/>
          <p:cNvSpPr/>
          <p:nvPr/>
        </p:nvSpPr>
        <p:spPr>
          <a:xfrm>
            <a:off x="3411197" y="5181323"/>
            <a:ext cx="1114500" cy="528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12" name="Google Shape;31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798402"/>
            <a:ext cx="4830474" cy="22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1676" y="1868628"/>
            <a:ext cx="4602122" cy="3312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